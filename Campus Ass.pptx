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1" r:id="rId18"/>
    <p:sldId id="272" r:id="rId19"/>
    <p:sldId id="273" r:id="rId20"/>
    <p:sldId id="274" r:id="rId21"/>
    <p:sldId id="275" r:id="rId22"/>
  </p:sldIdLst>
  <p:sldSz cx="16256000" cy="9144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" Type="http://schemas.openxmlformats.org/officeDocument/2006/relationships/slide" Target="slides/slide5.xml"/><Relationship Id="rId6" Type="http://schemas.openxmlformats.org/officeDocument/2006/relationships/slide" Target="slides/slide4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5" Type="http://schemas.openxmlformats.org/officeDocument/2006/relationships/tableStyles" Target="tableStyles.xml"/><Relationship Id="rId24" Type="http://schemas.openxmlformats.org/officeDocument/2006/relationships/viewProps" Target="viewProps.xml"/><Relationship Id="rId23" Type="http://schemas.openxmlformats.org/officeDocument/2006/relationships/presProps" Target="presProps.xml"/><Relationship Id="rId22" Type="http://schemas.openxmlformats.org/officeDocument/2006/relationships/slide" Target="slides/slide20.xml"/><Relationship Id="rId21" Type="http://schemas.openxmlformats.org/officeDocument/2006/relationships/slide" Target="slides/slide19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7.xml"/><Relationship Id="rId4" Type="http://schemas.openxmlformats.org/officeDocument/2006/relationships/image" Target="../media/image7.png"/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2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1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image" Target="../media/image15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8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9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20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6256000" cy="9144000"/>
          </a:xfrm>
          <a:custGeom>
            <a:avLst/>
            <a:gdLst/>
            <a:ahLst/>
            <a:cxnLst/>
            <a:rect l="l" t="t" r="r" b="b"/>
            <a:pathLst>
              <a:path w="16256000" h="9144000">
                <a:moveTo>
                  <a:pt x="0" y="0"/>
                </a:moveTo>
                <a:lnTo>
                  <a:pt x="16256000" y="0"/>
                </a:lnTo>
                <a:lnTo>
                  <a:pt x="16256000" y="9144000"/>
                </a:lnTo>
                <a:lnTo>
                  <a:pt x="0" y="9144000"/>
                </a:lnTo>
                <a:lnTo>
                  <a:pt x="0" y="0"/>
                </a:lnTo>
                <a:close/>
              </a:path>
            </a:pathLst>
          </a:custGeom>
          <a:solidFill>
            <a:srgbClr val="F4F5F7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-1735304" y="3765514"/>
            <a:ext cx="8890000" cy="8890000"/>
          </a:xfrm>
          <a:custGeom>
            <a:avLst/>
            <a:gdLst/>
            <a:ahLst/>
            <a:cxnLst/>
            <a:rect l="l" t="t" r="r" b="b"/>
            <a:pathLst>
              <a:path w="8890000" h="8890000">
                <a:moveTo>
                  <a:pt x="8890000" y="4445000"/>
                </a:moveTo>
                <a:cubicBezTo>
                  <a:pt x="8890000" y="6899906"/>
                  <a:pt x="6899906" y="8890000"/>
                  <a:pt x="4445000" y="8890000"/>
                </a:cubicBezTo>
                <a:cubicBezTo>
                  <a:pt x="1990094" y="8890000"/>
                  <a:pt x="0" y="6899906"/>
                  <a:pt x="0" y="4445000"/>
                </a:cubicBezTo>
                <a:cubicBezTo>
                  <a:pt x="0" y="1990095"/>
                  <a:pt x="1990094" y="0"/>
                  <a:pt x="4445000" y="0"/>
                </a:cubicBezTo>
                <a:cubicBezTo>
                  <a:pt x="6899906" y="0"/>
                  <a:pt x="8890000" y="1990095"/>
                  <a:pt x="8890000" y="4445000"/>
                </a:cubicBezTo>
                <a:close/>
              </a:path>
            </a:pathLst>
          </a:custGeom>
          <a:solidFill>
            <a:srgbClr val="E5D9C5">
              <a:alpha val="12157"/>
            </a:srgbClr>
          </a:solidFill>
          <a:ln>
            <a:noFill/>
          </a:ln>
        </p:spPr>
      </p:sp>
      <p:sp>
        <p:nvSpPr>
          <p:cNvPr id="4" name="Freeform 4"/>
          <p:cNvSpPr/>
          <p:nvPr/>
        </p:nvSpPr>
        <p:spPr>
          <a:xfrm>
            <a:off x="9525000" y="-4064000"/>
            <a:ext cx="10160000" cy="10160000"/>
          </a:xfrm>
          <a:custGeom>
            <a:avLst/>
            <a:gdLst/>
            <a:ahLst/>
            <a:cxnLst/>
            <a:rect l="l" t="t" r="r" b="b"/>
            <a:pathLst>
              <a:path w="10160000" h="10160000">
                <a:moveTo>
                  <a:pt x="10160000" y="5080000"/>
                </a:moveTo>
                <a:cubicBezTo>
                  <a:pt x="10160000" y="7885607"/>
                  <a:pt x="7885607" y="10160000"/>
                  <a:pt x="5080000" y="10160000"/>
                </a:cubicBezTo>
                <a:cubicBezTo>
                  <a:pt x="2274393" y="10160000"/>
                  <a:pt x="0" y="7885607"/>
                  <a:pt x="0" y="5080000"/>
                </a:cubicBezTo>
                <a:cubicBezTo>
                  <a:pt x="0" y="2274393"/>
                  <a:pt x="2274393" y="0"/>
                  <a:pt x="5080000" y="0"/>
                </a:cubicBezTo>
                <a:cubicBezTo>
                  <a:pt x="7885607" y="0"/>
                  <a:pt x="10160000" y="2274393"/>
                  <a:pt x="10160000" y="5080000"/>
                </a:cubicBezTo>
                <a:close/>
              </a:path>
            </a:pathLst>
          </a:custGeom>
          <a:solidFill>
            <a:srgbClr val="FFFFFF">
              <a:alpha val="50196"/>
            </a:srgbClr>
          </a:solidFill>
          <a:ln>
            <a:noFill/>
          </a:ln>
        </p:spPr>
      </p:sp>
      <p:sp>
        <p:nvSpPr>
          <p:cNvPr id="5" name="Freeform 5"/>
          <p:cNvSpPr/>
          <p:nvPr/>
        </p:nvSpPr>
        <p:spPr>
          <a:xfrm>
            <a:off x="1524000" y="1155700"/>
            <a:ext cx="101600" cy="101600"/>
          </a:xfrm>
          <a:custGeom>
            <a:avLst/>
            <a:gdLst/>
            <a:ahLst/>
            <a:cxnLst/>
            <a:rect l="l" t="t" r="r" b="b"/>
            <a:pathLst>
              <a:path w="101600" h="101600">
                <a:moveTo>
                  <a:pt x="101600" y="50800"/>
                </a:moveTo>
                <a:cubicBezTo>
                  <a:pt x="101600" y="78856"/>
                  <a:pt x="78856" y="101600"/>
                  <a:pt x="50800" y="101600"/>
                </a:cubicBezTo>
                <a:cubicBezTo>
                  <a:pt x="22744" y="101600"/>
                  <a:pt x="0" y="78856"/>
                  <a:pt x="0" y="50800"/>
                </a:cubicBezTo>
                <a:cubicBezTo>
                  <a:pt x="0" y="22744"/>
                  <a:pt x="22744" y="0"/>
                  <a:pt x="50800" y="0"/>
                </a:cubicBezTo>
                <a:cubicBezTo>
                  <a:pt x="78856" y="0"/>
                  <a:pt x="101600" y="22744"/>
                  <a:pt x="101600" y="50800"/>
                </a:cubicBezTo>
                <a:close/>
              </a:path>
            </a:pathLst>
          </a:custGeom>
          <a:solidFill>
            <a:srgbClr val="E5D9C5">
              <a:alpha val="80000"/>
            </a:srgbClr>
          </a:solidFill>
          <a:ln>
            <a:noFill/>
          </a:ln>
        </p:spPr>
      </p:sp>
      <p:sp>
        <p:nvSpPr>
          <p:cNvPr id="6" name="Freeform 6"/>
          <p:cNvSpPr/>
          <p:nvPr/>
        </p:nvSpPr>
        <p:spPr>
          <a:xfrm>
            <a:off x="1524000" y="1524000"/>
            <a:ext cx="1778000" cy="0"/>
          </a:xfrm>
          <a:custGeom>
            <a:avLst/>
            <a:gdLst/>
            <a:ahLst/>
            <a:cxnLst/>
            <a:rect l="l" t="t" r="r" b="b"/>
            <a:pathLst>
              <a:path w="1778000">
                <a:moveTo>
                  <a:pt x="0" y="0"/>
                </a:moveTo>
                <a:lnTo>
                  <a:pt x="1778000" y="0"/>
                </a:lnTo>
              </a:path>
            </a:pathLst>
          </a:custGeom>
          <a:noFill/>
          <a:ln w="12700">
            <a:solidFill>
              <a:srgbClr val="3B5B78">
                <a:alpha val="20000"/>
              </a:srgbClr>
            </a:solidFill>
          </a:ln>
        </p:spPr>
      </p:sp>
      <p:sp>
        <p:nvSpPr>
          <p:cNvPr id="7" name="Freeform 7"/>
          <p:cNvSpPr/>
          <p:nvPr/>
        </p:nvSpPr>
        <p:spPr>
          <a:xfrm>
            <a:off x="1524000" y="5207000"/>
            <a:ext cx="50800" cy="406400"/>
          </a:xfrm>
          <a:custGeom>
            <a:avLst/>
            <a:gdLst/>
            <a:ahLst/>
            <a:cxnLst/>
            <a:rect l="l" t="t" r="r" b="b"/>
            <a:pathLst>
              <a:path w="50800" h="406400">
                <a:moveTo>
                  <a:pt x="0" y="25400"/>
                </a:moveTo>
                <a:lnTo>
                  <a:pt x="0" y="381000"/>
                </a:lnTo>
                <a:cubicBezTo>
                  <a:pt x="0" y="395028"/>
                  <a:pt x="11372" y="406400"/>
                  <a:pt x="25400" y="406400"/>
                </a:cubicBezTo>
                <a:lnTo>
                  <a:pt x="25400" y="406400"/>
                </a:lnTo>
                <a:cubicBezTo>
                  <a:pt x="39428" y="406400"/>
                  <a:pt x="50800" y="395028"/>
                  <a:pt x="50800" y="381000"/>
                </a:cubicBezTo>
                <a:lnTo>
                  <a:pt x="50800" y="25400"/>
                </a:lnTo>
                <a:cubicBezTo>
                  <a:pt x="50800" y="11372"/>
                  <a:pt x="39428" y="0"/>
                  <a:pt x="25400" y="0"/>
                </a:cubicBezTo>
                <a:lnTo>
                  <a:pt x="25400" y="0"/>
                </a:lnTo>
                <a:cubicBezTo>
                  <a:pt x="11372" y="0"/>
                  <a:pt x="0" y="11372"/>
                  <a:pt x="0" y="25400"/>
                </a:cubicBezTo>
                <a:close/>
              </a:path>
            </a:pathLst>
          </a:custGeom>
          <a:solidFill>
            <a:srgbClr val="E5D9C5"/>
          </a:solidFill>
          <a:ln>
            <a:noFill/>
          </a:ln>
        </p:spPr>
      </p:sp>
      <p:sp>
        <p:nvSpPr>
          <p:cNvPr id="8" name="Freeform 8"/>
          <p:cNvSpPr/>
          <p:nvPr/>
        </p:nvSpPr>
        <p:spPr>
          <a:xfrm>
            <a:off x="1524000" y="6477000"/>
            <a:ext cx="5842000" cy="1651000"/>
          </a:xfrm>
          <a:custGeom>
            <a:avLst/>
            <a:gdLst/>
            <a:ahLst/>
            <a:cxnLst/>
            <a:rect l="l" t="t" r="r" b="b"/>
            <a:pathLst>
              <a:path w="5842000" h="1651000">
                <a:moveTo>
                  <a:pt x="0" y="203200"/>
                </a:moveTo>
                <a:lnTo>
                  <a:pt x="0" y="1447800"/>
                </a:lnTo>
                <a:cubicBezTo>
                  <a:pt x="0" y="1560024"/>
                  <a:pt x="90976" y="1651000"/>
                  <a:pt x="203200" y="1651000"/>
                </a:cubicBezTo>
                <a:lnTo>
                  <a:pt x="5638800" y="1651000"/>
                </a:lnTo>
                <a:cubicBezTo>
                  <a:pt x="5751024" y="1651000"/>
                  <a:pt x="5842000" y="1560024"/>
                  <a:pt x="5842000" y="1447800"/>
                </a:cubicBezTo>
                <a:lnTo>
                  <a:pt x="5842000" y="203200"/>
                </a:lnTo>
                <a:cubicBezTo>
                  <a:pt x="5842000" y="90976"/>
                  <a:pt x="5751024" y="0"/>
                  <a:pt x="5638800" y="0"/>
                </a:cubicBezTo>
                <a:lnTo>
                  <a:pt x="203200" y="0"/>
                </a:lnTo>
                <a:cubicBezTo>
                  <a:pt x="90976" y="0"/>
                  <a:pt x="0" y="90976"/>
                  <a:pt x="0" y="203200"/>
                </a:cubicBezTo>
                <a:close/>
              </a:path>
            </a:pathLst>
          </a:custGeom>
          <a:gradFill>
            <a:gsLst>
              <a:gs pos="0">
                <a:srgbClr val="FFFFFF"/>
              </a:gs>
              <a:gs pos="100000">
                <a:srgbClr val="FAFAFA"/>
              </a:gs>
            </a:gsLst>
            <a:lin ang="2700000" scaled="1"/>
          </a:gradFill>
          <a:ln>
            <a:noFill/>
          </a:ln>
          <a:effectLst>
            <a:outerShdw blurRad="609600" dist="152400" dir="5400000" rotWithShape="0">
              <a:srgbClr val="3B5B78">
                <a:alpha val="5882"/>
              </a:srgbClr>
            </a:outerShdw>
          </a:effectLst>
        </p:spPr>
      </p:sp>
      <p:sp>
        <p:nvSpPr>
          <p:cNvPr id="9" name="Freeform 9"/>
          <p:cNvSpPr/>
          <p:nvPr/>
        </p:nvSpPr>
        <p:spPr>
          <a:xfrm>
            <a:off x="1828800" y="6870700"/>
            <a:ext cx="101600" cy="101600"/>
          </a:xfrm>
          <a:custGeom>
            <a:avLst/>
            <a:gdLst/>
            <a:ahLst/>
            <a:cxnLst/>
            <a:rect l="l" t="t" r="r" b="b"/>
            <a:pathLst>
              <a:path w="101600" h="101600">
                <a:moveTo>
                  <a:pt x="101600" y="50800"/>
                </a:moveTo>
                <a:cubicBezTo>
                  <a:pt x="101600" y="78856"/>
                  <a:pt x="78856" y="101600"/>
                  <a:pt x="50800" y="101600"/>
                </a:cubicBezTo>
                <a:cubicBezTo>
                  <a:pt x="22744" y="101600"/>
                  <a:pt x="0" y="78856"/>
                  <a:pt x="0" y="50800"/>
                </a:cubicBezTo>
                <a:cubicBezTo>
                  <a:pt x="0" y="22744"/>
                  <a:pt x="22744" y="0"/>
                  <a:pt x="50800" y="0"/>
                </a:cubicBezTo>
                <a:cubicBezTo>
                  <a:pt x="78856" y="0"/>
                  <a:pt x="101600" y="22744"/>
                  <a:pt x="101600" y="50800"/>
                </a:cubicBezTo>
                <a:close/>
              </a:path>
            </a:pathLst>
          </a:custGeom>
          <a:solidFill>
            <a:srgbClr val="E5D9C5"/>
          </a:solidFill>
          <a:ln>
            <a:noFill/>
          </a:ln>
        </p:spPr>
      </p:sp>
      <p:sp>
        <p:nvSpPr>
          <p:cNvPr id="10" name="Freeform 10"/>
          <p:cNvSpPr/>
          <p:nvPr/>
        </p:nvSpPr>
        <p:spPr>
          <a:xfrm>
            <a:off x="1828800" y="7315200"/>
            <a:ext cx="101600" cy="101600"/>
          </a:xfrm>
          <a:custGeom>
            <a:avLst/>
            <a:gdLst/>
            <a:ahLst/>
            <a:cxnLst/>
            <a:rect l="l" t="t" r="r" b="b"/>
            <a:pathLst>
              <a:path w="101600" h="101600">
                <a:moveTo>
                  <a:pt x="101600" y="50800"/>
                </a:moveTo>
                <a:cubicBezTo>
                  <a:pt x="101600" y="78856"/>
                  <a:pt x="78856" y="101600"/>
                  <a:pt x="50800" y="101600"/>
                </a:cubicBezTo>
                <a:cubicBezTo>
                  <a:pt x="22744" y="101600"/>
                  <a:pt x="0" y="78856"/>
                  <a:pt x="0" y="50800"/>
                </a:cubicBezTo>
                <a:cubicBezTo>
                  <a:pt x="0" y="22744"/>
                  <a:pt x="22744" y="0"/>
                  <a:pt x="50800" y="0"/>
                </a:cubicBezTo>
                <a:cubicBezTo>
                  <a:pt x="78856" y="0"/>
                  <a:pt x="101600" y="22744"/>
                  <a:pt x="101600" y="50800"/>
                </a:cubicBezTo>
                <a:close/>
              </a:path>
            </a:pathLst>
          </a:custGeom>
          <a:solidFill>
            <a:srgbClr val="E5D9C5"/>
          </a:solidFill>
          <a:ln>
            <a:noFill/>
          </a:ln>
        </p:spPr>
      </p:sp>
      <p:sp>
        <p:nvSpPr>
          <p:cNvPr id="11" name="Freeform 11"/>
          <p:cNvSpPr/>
          <p:nvPr/>
        </p:nvSpPr>
        <p:spPr>
          <a:xfrm>
            <a:off x="1828800" y="7759700"/>
            <a:ext cx="101600" cy="101600"/>
          </a:xfrm>
          <a:custGeom>
            <a:avLst/>
            <a:gdLst/>
            <a:ahLst/>
            <a:cxnLst/>
            <a:rect l="l" t="t" r="r" b="b"/>
            <a:pathLst>
              <a:path w="101600" h="101600">
                <a:moveTo>
                  <a:pt x="101600" y="50800"/>
                </a:moveTo>
                <a:cubicBezTo>
                  <a:pt x="101600" y="78856"/>
                  <a:pt x="78856" y="101600"/>
                  <a:pt x="50800" y="101600"/>
                </a:cubicBezTo>
                <a:cubicBezTo>
                  <a:pt x="22744" y="101600"/>
                  <a:pt x="0" y="78856"/>
                  <a:pt x="0" y="50800"/>
                </a:cubicBezTo>
                <a:cubicBezTo>
                  <a:pt x="0" y="22744"/>
                  <a:pt x="22744" y="0"/>
                  <a:pt x="50800" y="0"/>
                </a:cubicBezTo>
                <a:cubicBezTo>
                  <a:pt x="78856" y="0"/>
                  <a:pt x="101600" y="22744"/>
                  <a:pt x="101600" y="50800"/>
                </a:cubicBezTo>
                <a:close/>
              </a:path>
            </a:pathLst>
          </a:custGeom>
          <a:solidFill>
            <a:srgbClr val="E5D9C5"/>
          </a:solidFill>
          <a:ln>
            <a:noFill/>
          </a:ln>
        </p:spPr>
      </p:sp>
      <p:sp>
        <p:nvSpPr>
          <p:cNvPr id="12" name="Freeform 12"/>
          <p:cNvSpPr/>
          <p:nvPr/>
        </p:nvSpPr>
        <p:spPr>
          <a:xfrm>
            <a:off x="9398000" y="1778000"/>
            <a:ext cx="5334000" cy="5334000"/>
          </a:xfrm>
          <a:custGeom>
            <a:avLst/>
            <a:gdLst/>
            <a:ahLst/>
            <a:cxnLst/>
            <a:rect l="l" t="t" r="r" b="b"/>
            <a:pathLst>
              <a:path w="5334000" h="5334000">
                <a:moveTo>
                  <a:pt x="0" y="304800"/>
                </a:moveTo>
                <a:lnTo>
                  <a:pt x="0" y="5029200"/>
                </a:lnTo>
                <a:cubicBezTo>
                  <a:pt x="0" y="5197536"/>
                  <a:pt x="136464" y="5334000"/>
                  <a:pt x="304800" y="5334000"/>
                </a:cubicBezTo>
                <a:lnTo>
                  <a:pt x="5029200" y="5334000"/>
                </a:lnTo>
                <a:cubicBezTo>
                  <a:pt x="5197536" y="5334000"/>
                  <a:pt x="5334000" y="5197536"/>
                  <a:pt x="5334000" y="5029200"/>
                </a:cubicBezTo>
                <a:lnTo>
                  <a:pt x="5334000" y="304800"/>
                </a:lnTo>
                <a:cubicBezTo>
                  <a:pt x="5334000" y="136464"/>
                  <a:pt x="5197536" y="0"/>
                  <a:pt x="5029200" y="0"/>
                </a:cubicBezTo>
                <a:lnTo>
                  <a:pt x="304800" y="0"/>
                </a:lnTo>
                <a:cubicBezTo>
                  <a:pt x="136464" y="0"/>
                  <a:pt x="0" y="136464"/>
                  <a:pt x="0" y="304800"/>
                </a:cubicBezTo>
                <a:close/>
              </a:path>
            </a:pathLst>
          </a:custGeom>
          <a:gradFill>
            <a:gsLst>
              <a:gs pos="0">
                <a:srgbClr val="FFFFFF"/>
              </a:gs>
              <a:gs pos="100000">
                <a:srgbClr val="FAFAFA"/>
              </a:gs>
            </a:gsLst>
            <a:lin ang="2700000" scaled="1"/>
          </a:gradFill>
          <a:ln>
            <a:noFill/>
          </a:ln>
          <a:effectLst>
            <a:outerShdw blurRad="609600" dist="152400" dir="5400000" rotWithShape="0">
              <a:srgbClr val="3B5B78">
                <a:alpha val="5882"/>
              </a:srgbClr>
            </a:outerShdw>
          </a:effectLst>
        </p:spPr>
      </p:sp>
      <p:sp>
        <p:nvSpPr>
          <p:cNvPr id="13" name="Freeform 13"/>
          <p:cNvSpPr/>
          <p:nvPr/>
        </p:nvSpPr>
        <p:spPr>
          <a:xfrm>
            <a:off x="10287000" y="2667000"/>
            <a:ext cx="3556000" cy="3556000"/>
          </a:xfrm>
          <a:custGeom>
            <a:avLst/>
            <a:gdLst/>
            <a:ahLst/>
            <a:cxnLst/>
            <a:rect l="l" t="t" r="r" b="b"/>
            <a:pathLst>
              <a:path w="3556000" h="3556000">
                <a:moveTo>
                  <a:pt x="3556000" y="1778000"/>
                </a:moveTo>
                <a:cubicBezTo>
                  <a:pt x="3556000" y="2759962"/>
                  <a:pt x="2759962" y="3556000"/>
                  <a:pt x="1778000" y="3556000"/>
                </a:cubicBezTo>
                <a:cubicBezTo>
                  <a:pt x="796038" y="3556000"/>
                  <a:pt x="0" y="2759962"/>
                  <a:pt x="0" y="1778000"/>
                </a:cubicBezTo>
                <a:cubicBezTo>
                  <a:pt x="0" y="796038"/>
                  <a:pt x="796038" y="0"/>
                  <a:pt x="1778000" y="0"/>
                </a:cubicBezTo>
                <a:cubicBezTo>
                  <a:pt x="2759962" y="0"/>
                  <a:pt x="3556000" y="796038"/>
                  <a:pt x="3556000" y="1778000"/>
                </a:cubicBezTo>
                <a:close/>
              </a:path>
            </a:pathLst>
          </a:custGeom>
          <a:noFill/>
          <a:ln w="19050">
            <a:solidFill>
              <a:srgbClr val="E5D9C5">
                <a:alpha val="60000"/>
              </a:srgbClr>
            </a:solidFill>
            <a:prstDash val="dash"/>
          </a:ln>
        </p:spPr>
      </p:sp>
      <p:sp>
        <p:nvSpPr>
          <p:cNvPr id="14" name="Freeform 14"/>
          <p:cNvSpPr/>
          <p:nvPr/>
        </p:nvSpPr>
        <p:spPr>
          <a:xfrm>
            <a:off x="10922000" y="3302000"/>
            <a:ext cx="2286000" cy="2286000"/>
          </a:xfrm>
          <a:custGeom>
            <a:avLst/>
            <a:gdLst/>
            <a:ahLst/>
            <a:cxnLst/>
            <a:rect l="l" t="t" r="r" b="b"/>
            <a:pathLst>
              <a:path w="2286000" h="2286000">
                <a:moveTo>
                  <a:pt x="2286000" y="1143000"/>
                </a:moveTo>
                <a:cubicBezTo>
                  <a:pt x="2286000" y="1774261"/>
                  <a:pt x="1774261" y="2286000"/>
                  <a:pt x="1143000" y="2286000"/>
                </a:cubicBezTo>
                <a:cubicBezTo>
                  <a:pt x="511739" y="2286000"/>
                  <a:pt x="0" y="1774261"/>
                  <a:pt x="0" y="1143000"/>
                </a:cubicBezTo>
                <a:cubicBezTo>
                  <a:pt x="0" y="511739"/>
                  <a:pt x="511739" y="0"/>
                  <a:pt x="1143000" y="0"/>
                </a:cubicBezTo>
                <a:cubicBezTo>
                  <a:pt x="1774261" y="0"/>
                  <a:pt x="2286000" y="511739"/>
                  <a:pt x="2286000" y="1143000"/>
                </a:cubicBezTo>
                <a:close/>
              </a:path>
            </a:pathLst>
          </a:custGeom>
          <a:noFill/>
          <a:ln w="12700">
            <a:solidFill>
              <a:srgbClr val="3B5B78">
                <a:alpha val="14902"/>
              </a:srgbClr>
            </a:solidFill>
          </a:ln>
        </p:spPr>
      </p:sp>
      <p:sp>
        <p:nvSpPr>
          <p:cNvPr id="15" name="Freeform 15"/>
          <p:cNvSpPr/>
          <p:nvPr/>
        </p:nvSpPr>
        <p:spPr>
          <a:xfrm>
            <a:off x="10668000" y="3048000"/>
            <a:ext cx="2794000" cy="2794000"/>
          </a:xfrm>
          <a:custGeom>
            <a:avLst/>
            <a:gdLst/>
            <a:ahLst/>
            <a:cxnLst/>
            <a:rect l="l" t="t" r="r" b="b"/>
            <a:pathLst>
              <a:path w="2794000" h="2794000">
                <a:moveTo>
                  <a:pt x="2794000" y="1397000"/>
                </a:moveTo>
                <a:cubicBezTo>
                  <a:pt x="2794000" y="2168542"/>
                  <a:pt x="2168542" y="2794000"/>
                  <a:pt x="1397000" y="2794000"/>
                </a:cubicBezTo>
                <a:cubicBezTo>
                  <a:pt x="625458" y="2794000"/>
                  <a:pt x="0" y="2168542"/>
                  <a:pt x="0" y="1397000"/>
                </a:cubicBezTo>
                <a:cubicBezTo>
                  <a:pt x="0" y="625458"/>
                  <a:pt x="625458" y="0"/>
                  <a:pt x="1397000" y="0"/>
                </a:cubicBezTo>
                <a:cubicBezTo>
                  <a:pt x="2168542" y="0"/>
                  <a:pt x="2794000" y="625458"/>
                  <a:pt x="2794000" y="1397000"/>
                </a:cubicBezTo>
                <a:close/>
              </a:path>
            </a:pathLst>
          </a:custGeom>
          <a:gradFill>
            <a:gsLst>
              <a:gs pos="0">
                <a:srgbClr val="3B5B78">
                  <a:alpha val="5098"/>
                </a:srgbClr>
              </a:gs>
              <a:gs pos="100000">
                <a:srgbClr val="3B5B78">
                  <a:alpha val="4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16" name="Freeform 16"/>
          <p:cNvSpPr/>
          <p:nvPr/>
        </p:nvSpPr>
        <p:spPr>
          <a:xfrm>
            <a:off x="10795000" y="3175000"/>
            <a:ext cx="1524000" cy="1524000"/>
          </a:xfrm>
          <a:custGeom>
            <a:avLst/>
            <a:gdLst/>
            <a:ahLst/>
            <a:cxnLst/>
            <a:rect l="l" t="t" r="r" b="b"/>
            <a:pathLst>
              <a:path w="1524000" h="1524000">
                <a:moveTo>
                  <a:pt x="1524000" y="762000"/>
                </a:moveTo>
                <a:cubicBezTo>
                  <a:pt x="1524000" y="1182841"/>
                  <a:pt x="1182841" y="1524000"/>
                  <a:pt x="762000" y="1524000"/>
                </a:cubicBezTo>
                <a:cubicBezTo>
                  <a:pt x="341159" y="1524000"/>
                  <a:pt x="0" y="1182841"/>
                  <a:pt x="0" y="762000"/>
                </a:cubicBezTo>
                <a:cubicBezTo>
                  <a:pt x="0" y="341159"/>
                  <a:pt x="341159" y="0"/>
                  <a:pt x="762000" y="0"/>
                </a:cubicBezTo>
                <a:cubicBezTo>
                  <a:pt x="1182841" y="0"/>
                  <a:pt x="1524000" y="341159"/>
                  <a:pt x="1524000" y="762000"/>
                </a:cubicBezTo>
                <a:close/>
              </a:path>
            </a:pathLst>
          </a:custGeom>
          <a:gradFill>
            <a:gsLst>
              <a:gs pos="0">
                <a:srgbClr val="3B5B78">
                  <a:alpha val="5098"/>
                </a:srgbClr>
              </a:gs>
              <a:gs pos="100000">
                <a:srgbClr val="3B5B78">
                  <a:alpha val="40000"/>
                </a:srgbClr>
              </a:gs>
            </a:gsLst>
            <a:lin ang="2700000" scaled="1"/>
          </a:gradFill>
          <a:ln>
            <a:noFill/>
          </a:ln>
        </p:spPr>
      </p:sp>
      <p:sp>
        <p:nvSpPr>
          <p:cNvPr id="17" name="Freeform 17"/>
          <p:cNvSpPr/>
          <p:nvPr/>
        </p:nvSpPr>
        <p:spPr>
          <a:xfrm>
            <a:off x="11874500" y="3873500"/>
            <a:ext cx="1905000" cy="1905000"/>
          </a:xfrm>
          <a:custGeom>
            <a:avLst/>
            <a:gdLst/>
            <a:ahLst/>
            <a:cxnLst/>
            <a:rect l="l" t="t" r="r" b="b"/>
            <a:pathLst>
              <a:path w="1905000" h="1905000">
                <a:moveTo>
                  <a:pt x="1905000" y="952500"/>
                </a:moveTo>
                <a:cubicBezTo>
                  <a:pt x="1905000" y="1478551"/>
                  <a:pt x="1478551" y="1905000"/>
                  <a:pt x="952500" y="1905000"/>
                </a:cubicBezTo>
                <a:cubicBezTo>
                  <a:pt x="426449" y="1905000"/>
                  <a:pt x="0" y="1478551"/>
                  <a:pt x="0" y="952500"/>
                </a:cubicBezTo>
                <a:cubicBezTo>
                  <a:pt x="0" y="426449"/>
                  <a:pt x="426449" y="0"/>
                  <a:pt x="952500" y="0"/>
                </a:cubicBezTo>
                <a:cubicBezTo>
                  <a:pt x="1478551" y="0"/>
                  <a:pt x="1905000" y="426449"/>
                  <a:pt x="1905000" y="952500"/>
                </a:cubicBezTo>
                <a:close/>
              </a:path>
            </a:pathLst>
          </a:custGeom>
          <a:gradFill>
            <a:gsLst>
              <a:gs pos="0">
                <a:srgbClr val="3B5B78">
                  <a:alpha val="5098"/>
                </a:srgbClr>
              </a:gs>
              <a:gs pos="100000">
                <a:srgbClr val="3B5B78">
                  <a:alpha val="40000"/>
                </a:srgbClr>
              </a:gs>
            </a:gsLst>
            <a:lin ang="2700000" scaled="1"/>
          </a:gradFill>
          <a:ln>
            <a:noFill/>
          </a:ln>
        </p:spPr>
      </p:sp>
      <p:pic>
        <p:nvPicPr>
          <p:cNvPr id="18" name="Picture 18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72600" y="4076700"/>
            <a:ext cx="5384800" cy="749300"/>
          </a:xfrm>
          <a:prstGeom prst="rect">
            <a:avLst/>
          </a:prstGeom>
        </p:spPr>
      </p:pic>
      <p:sp>
        <p:nvSpPr>
          <p:cNvPr id="19" name="Freeform 19"/>
          <p:cNvSpPr/>
          <p:nvPr/>
        </p:nvSpPr>
        <p:spPr>
          <a:xfrm>
            <a:off x="10541000" y="3175000"/>
            <a:ext cx="2921000" cy="2413000"/>
          </a:xfrm>
          <a:custGeom>
            <a:avLst/>
            <a:gdLst/>
            <a:ahLst/>
            <a:cxnLst/>
            <a:rect l="l" t="t" r="r" b="b"/>
            <a:pathLst>
              <a:path w="2921000" h="2413000">
                <a:moveTo>
                  <a:pt x="0" y="254000"/>
                </a:moveTo>
                <a:lnTo>
                  <a:pt x="1016000" y="1270000"/>
                </a:lnTo>
                <a:lnTo>
                  <a:pt x="2159000" y="0"/>
                </a:lnTo>
                <a:lnTo>
                  <a:pt x="2921000" y="1016000"/>
                </a:lnTo>
                <a:lnTo>
                  <a:pt x="1524000" y="2413000"/>
                </a:lnTo>
                <a:close/>
              </a:path>
            </a:pathLst>
          </a:custGeom>
          <a:noFill/>
          <a:ln w="12700">
            <a:solidFill>
              <a:srgbClr val="3B5B78">
                <a:alpha val="30196"/>
              </a:srgbClr>
            </a:solidFill>
          </a:ln>
        </p:spPr>
      </p:sp>
      <p:sp>
        <p:nvSpPr>
          <p:cNvPr id="20" name="Freeform 20"/>
          <p:cNvSpPr/>
          <p:nvPr/>
        </p:nvSpPr>
        <p:spPr>
          <a:xfrm>
            <a:off x="11557000" y="4445000"/>
            <a:ext cx="508000" cy="1143000"/>
          </a:xfrm>
          <a:custGeom>
            <a:avLst/>
            <a:gdLst/>
            <a:ahLst/>
            <a:cxnLst/>
            <a:rect l="l" t="t" r="r" b="b"/>
            <a:pathLst>
              <a:path w="508000" h="1143000">
                <a:moveTo>
                  <a:pt x="0" y="0"/>
                </a:moveTo>
                <a:lnTo>
                  <a:pt x="508000" y="1143000"/>
                </a:lnTo>
              </a:path>
            </a:pathLst>
          </a:custGeom>
          <a:noFill/>
          <a:ln w="19050">
            <a:solidFill>
              <a:srgbClr val="3B5B78">
                <a:alpha val="40000"/>
              </a:srgbClr>
            </a:solidFill>
          </a:ln>
        </p:spPr>
      </p:sp>
      <p:sp>
        <p:nvSpPr>
          <p:cNvPr id="21" name="Freeform 21"/>
          <p:cNvSpPr/>
          <p:nvPr/>
        </p:nvSpPr>
        <p:spPr>
          <a:xfrm>
            <a:off x="12700000" y="3175000"/>
            <a:ext cx="762000" cy="1016000"/>
          </a:xfrm>
          <a:custGeom>
            <a:avLst/>
            <a:gdLst/>
            <a:ahLst/>
            <a:cxnLst/>
            <a:rect l="l" t="t" r="r" b="b"/>
            <a:pathLst>
              <a:path w="762000" h="1016000">
                <a:moveTo>
                  <a:pt x="0" y="0"/>
                </a:moveTo>
                <a:lnTo>
                  <a:pt x="762000" y="1016000"/>
                </a:lnTo>
              </a:path>
            </a:pathLst>
          </a:custGeom>
          <a:noFill/>
          <a:ln w="12700">
            <a:solidFill>
              <a:srgbClr val="3B5B78">
                <a:alpha val="50196"/>
              </a:srgbClr>
            </a:solidFill>
            <a:prstDash val="dash"/>
          </a:ln>
        </p:spPr>
      </p:sp>
      <p:sp>
        <p:nvSpPr>
          <p:cNvPr id="22" name="Freeform 22"/>
          <p:cNvSpPr/>
          <p:nvPr/>
        </p:nvSpPr>
        <p:spPr>
          <a:xfrm>
            <a:off x="10541000" y="3429000"/>
            <a:ext cx="1524000" cy="1016000"/>
          </a:xfrm>
          <a:custGeom>
            <a:avLst/>
            <a:gdLst/>
            <a:ahLst/>
            <a:cxnLst/>
            <a:rect l="l" t="t" r="r" b="b"/>
            <a:pathLst>
              <a:path w="1524000" h="1016000">
                <a:moveTo>
                  <a:pt x="0" y="0"/>
                </a:moveTo>
                <a:lnTo>
                  <a:pt x="1524000" y="1016000"/>
                </a:lnTo>
              </a:path>
            </a:pathLst>
          </a:custGeom>
          <a:noFill/>
          <a:ln w="19050">
            <a:solidFill>
              <a:srgbClr val="3B5B78">
                <a:alpha val="30196"/>
              </a:srgbClr>
            </a:solidFill>
          </a:ln>
        </p:spPr>
      </p:sp>
      <p:sp>
        <p:nvSpPr>
          <p:cNvPr id="23" name="Freeform 23"/>
          <p:cNvSpPr/>
          <p:nvPr/>
        </p:nvSpPr>
        <p:spPr>
          <a:xfrm>
            <a:off x="11252200" y="2489200"/>
            <a:ext cx="609600" cy="355600"/>
          </a:xfrm>
          <a:custGeom>
            <a:avLst/>
            <a:gdLst/>
            <a:ahLst/>
            <a:cxnLst/>
            <a:rect l="l" t="t" r="r" b="b"/>
            <a:pathLst>
              <a:path w="609600" h="355600">
                <a:moveTo>
                  <a:pt x="0" y="177800"/>
                </a:moveTo>
                <a:lnTo>
                  <a:pt x="0" y="177800"/>
                </a:lnTo>
                <a:cubicBezTo>
                  <a:pt x="0" y="275996"/>
                  <a:pt x="79604" y="355600"/>
                  <a:pt x="177800" y="355600"/>
                </a:cubicBezTo>
                <a:lnTo>
                  <a:pt x="431800" y="355600"/>
                </a:lnTo>
                <a:cubicBezTo>
                  <a:pt x="529996" y="355600"/>
                  <a:pt x="609600" y="275996"/>
                  <a:pt x="609600" y="177800"/>
                </a:cubicBezTo>
                <a:lnTo>
                  <a:pt x="609600" y="177800"/>
                </a:lnTo>
                <a:cubicBezTo>
                  <a:pt x="609600" y="79604"/>
                  <a:pt x="529996" y="0"/>
                  <a:pt x="431800" y="0"/>
                </a:cubicBezTo>
                <a:lnTo>
                  <a:pt x="177800" y="0"/>
                </a:lnTo>
                <a:cubicBezTo>
                  <a:pt x="79604" y="0"/>
                  <a:pt x="0" y="79604"/>
                  <a:pt x="0" y="177800"/>
                </a:cubicBezTo>
                <a:close/>
              </a:path>
            </a:pathLst>
          </a:custGeom>
          <a:solidFill>
            <a:srgbClr val="E5D9C5">
              <a:alpha val="80000"/>
            </a:srgbClr>
          </a:solidFill>
          <a:ln>
            <a:noFill/>
          </a:ln>
        </p:spPr>
      </p:sp>
      <p:sp>
        <p:nvSpPr>
          <p:cNvPr id="24" name="Freeform 24"/>
          <p:cNvSpPr/>
          <p:nvPr/>
        </p:nvSpPr>
        <p:spPr>
          <a:xfrm>
            <a:off x="11423650" y="2635250"/>
            <a:ext cx="63500" cy="63500"/>
          </a:xfrm>
          <a:custGeom>
            <a:avLst/>
            <a:gdLst/>
            <a:ahLst/>
            <a:cxnLst/>
            <a:rect l="l" t="t" r="r" b="b"/>
            <a:pathLst>
              <a:path w="63500" h="63500">
                <a:moveTo>
                  <a:pt x="63500" y="31750"/>
                </a:moveTo>
                <a:cubicBezTo>
                  <a:pt x="63500" y="49285"/>
                  <a:pt x="49285" y="63500"/>
                  <a:pt x="31750" y="63500"/>
                </a:cubicBezTo>
                <a:cubicBezTo>
                  <a:pt x="14215" y="63500"/>
                  <a:pt x="0" y="49285"/>
                  <a:pt x="0" y="31750"/>
                </a:cubicBezTo>
                <a:cubicBezTo>
                  <a:pt x="0" y="14215"/>
                  <a:pt x="14215" y="0"/>
                  <a:pt x="31750" y="0"/>
                </a:cubicBezTo>
                <a:cubicBezTo>
                  <a:pt x="49285" y="0"/>
                  <a:pt x="63500" y="14215"/>
                  <a:pt x="63500" y="31750"/>
                </a:cubicBezTo>
                <a:close/>
              </a:path>
            </a:pathLst>
          </a:custGeom>
          <a:solidFill>
            <a:srgbClr val="3B5B78"/>
          </a:solidFill>
          <a:ln>
            <a:noFill/>
          </a:ln>
        </p:spPr>
      </p:sp>
      <p:sp>
        <p:nvSpPr>
          <p:cNvPr id="25" name="Freeform 25"/>
          <p:cNvSpPr/>
          <p:nvPr/>
        </p:nvSpPr>
        <p:spPr>
          <a:xfrm>
            <a:off x="11525250" y="2635250"/>
            <a:ext cx="63500" cy="63500"/>
          </a:xfrm>
          <a:custGeom>
            <a:avLst/>
            <a:gdLst/>
            <a:ahLst/>
            <a:cxnLst/>
            <a:rect l="l" t="t" r="r" b="b"/>
            <a:pathLst>
              <a:path w="63500" h="63500">
                <a:moveTo>
                  <a:pt x="63500" y="31750"/>
                </a:moveTo>
                <a:cubicBezTo>
                  <a:pt x="63500" y="49285"/>
                  <a:pt x="49285" y="63500"/>
                  <a:pt x="31750" y="63500"/>
                </a:cubicBezTo>
                <a:cubicBezTo>
                  <a:pt x="14215" y="63500"/>
                  <a:pt x="0" y="49285"/>
                  <a:pt x="0" y="31750"/>
                </a:cubicBezTo>
                <a:cubicBezTo>
                  <a:pt x="0" y="14215"/>
                  <a:pt x="14215" y="0"/>
                  <a:pt x="31750" y="0"/>
                </a:cubicBezTo>
                <a:cubicBezTo>
                  <a:pt x="49285" y="0"/>
                  <a:pt x="63500" y="14215"/>
                  <a:pt x="63500" y="31750"/>
                </a:cubicBezTo>
                <a:close/>
              </a:path>
            </a:pathLst>
          </a:custGeom>
          <a:solidFill>
            <a:srgbClr val="3B5B78"/>
          </a:solidFill>
          <a:ln>
            <a:noFill/>
          </a:ln>
        </p:spPr>
      </p:sp>
      <p:sp>
        <p:nvSpPr>
          <p:cNvPr id="26" name="Freeform 26"/>
          <p:cNvSpPr/>
          <p:nvPr/>
        </p:nvSpPr>
        <p:spPr>
          <a:xfrm>
            <a:off x="11626850" y="2635250"/>
            <a:ext cx="63500" cy="63500"/>
          </a:xfrm>
          <a:custGeom>
            <a:avLst/>
            <a:gdLst/>
            <a:ahLst/>
            <a:cxnLst/>
            <a:rect l="l" t="t" r="r" b="b"/>
            <a:pathLst>
              <a:path w="63500" h="63500">
                <a:moveTo>
                  <a:pt x="63500" y="31750"/>
                </a:moveTo>
                <a:cubicBezTo>
                  <a:pt x="63500" y="49285"/>
                  <a:pt x="49285" y="63500"/>
                  <a:pt x="31750" y="63500"/>
                </a:cubicBezTo>
                <a:cubicBezTo>
                  <a:pt x="14215" y="63500"/>
                  <a:pt x="0" y="49285"/>
                  <a:pt x="0" y="31750"/>
                </a:cubicBezTo>
                <a:cubicBezTo>
                  <a:pt x="0" y="14215"/>
                  <a:pt x="14215" y="0"/>
                  <a:pt x="31750" y="0"/>
                </a:cubicBezTo>
                <a:cubicBezTo>
                  <a:pt x="49285" y="0"/>
                  <a:pt x="63500" y="14215"/>
                  <a:pt x="63500" y="31750"/>
                </a:cubicBezTo>
                <a:close/>
              </a:path>
            </a:pathLst>
          </a:custGeom>
          <a:solidFill>
            <a:srgbClr val="3B5B78"/>
          </a:solidFill>
          <a:ln>
            <a:noFill/>
          </a:ln>
        </p:spPr>
      </p:sp>
      <p:sp>
        <p:nvSpPr>
          <p:cNvPr id="27" name="Freeform 27"/>
          <p:cNvSpPr/>
          <p:nvPr/>
        </p:nvSpPr>
        <p:spPr>
          <a:xfrm>
            <a:off x="11328400" y="2844800"/>
            <a:ext cx="152400" cy="101600"/>
          </a:xfrm>
          <a:custGeom>
            <a:avLst/>
            <a:gdLst/>
            <a:ahLst/>
            <a:cxnLst/>
            <a:rect l="l" t="t" r="r" b="b"/>
            <a:pathLst>
              <a:path w="152400" h="101600">
                <a:moveTo>
                  <a:pt x="50800" y="0"/>
                </a:moveTo>
                <a:lnTo>
                  <a:pt x="152400" y="0"/>
                </a:lnTo>
                <a:lnTo>
                  <a:pt x="0" y="101600"/>
                </a:lnTo>
                <a:close/>
              </a:path>
            </a:pathLst>
          </a:custGeom>
          <a:solidFill>
            <a:srgbClr val="E5D9C5">
              <a:alpha val="80000"/>
            </a:srgbClr>
          </a:solidFill>
          <a:ln>
            <a:noFill/>
          </a:ln>
        </p:spPr>
      </p:sp>
      <p:sp>
        <p:nvSpPr>
          <p:cNvPr id="28" name="Freeform 28"/>
          <p:cNvSpPr/>
          <p:nvPr/>
        </p:nvSpPr>
        <p:spPr>
          <a:xfrm>
            <a:off x="10439400" y="3327400"/>
            <a:ext cx="203200" cy="203200"/>
          </a:xfrm>
          <a:custGeom>
            <a:avLst/>
            <a:gdLst/>
            <a:ahLst/>
            <a:cxnLst/>
            <a:rect l="l" t="t" r="r" b="b"/>
            <a:pathLst>
              <a:path w="203200" h="203200">
                <a:moveTo>
                  <a:pt x="203200" y="101600"/>
                </a:moveTo>
                <a:cubicBezTo>
                  <a:pt x="203200" y="157712"/>
                  <a:pt x="157712" y="203200"/>
                  <a:pt x="101600" y="203200"/>
                </a:cubicBezTo>
                <a:cubicBezTo>
                  <a:pt x="45488" y="203200"/>
                  <a:pt x="0" y="157712"/>
                  <a:pt x="0" y="101600"/>
                </a:cubicBezTo>
                <a:cubicBezTo>
                  <a:pt x="0" y="45488"/>
                  <a:pt x="45488" y="0"/>
                  <a:pt x="101600" y="0"/>
                </a:cubicBezTo>
                <a:cubicBezTo>
                  <a:pt x="157712" y="0"/>
                  <a:pt x="203200" y="45488"/>
                  <a:pt x="203200" y="101600"/>
                </a:cubicBezTo>
                <a:close/>
              </a:path>
            </a:pathLst>
          </a:custGeom>
          <a:solidFill>
            <a:srgbClr val="3B5B78"/>
          </a:solidFill>
          <a:ln>
            <a:noFill/>
          </a:ln>
        </p:spPr>
      </p:sp>
      <p:sp>
        <p:nvSpPr>
          <p:cNvPr id="29" name="Freeform 29"/>
          <p:cNvSpPr/>
          <p:nvPr/>
        </p:nvSpPr>
        <p:spPr>
          <a:xfrm>
            <a:off x="10502900" y="3390900"/>
            <a:ext cx="76200" cy="76200"/>
          </a:xfrm>
          <a:custGeom>
            <a:avLst/>
            <a:gdLst/>
            <a:ahLst/>
            <a:cxnLst/>
            <a:rect l="l" t="t" r="r" b="b"/>
            <a:pathLst>
              <a:path w="76200" h="76200">
                <a:moveTo>
                  <a:pt x="76200" y="38100"/>
                </a:moveTo>
                <a:cubicBezTo>
                  <a:pt x="76200" y="59142"/>
                  <a:pt x="59142" y="76200"/>
                  <a:pt x="38100" y="76200"/>
                </a:cubicBezTo>
                <a:cubicBezTo>
                  <a:pt x="17058" y="76200"/>
                  <a:pt x="0" y="59142"/>
                  <a:pt x="0" y="38100"/>
                </a:cubicBezTo>
                <a:cubicBezTo>
                  <a:pt x="0" y="17058"/>
                  <a:pt x="17058" y="0"/>
                  <a:pt x="38100" y="0"/>
                </a:cubicBezTo>
                <a:cubicBezTo>
                  <a:pt x="59142" y="0"/>
                  <a:pt x="76200" y="17058"/>
                  <a:pt x="76200" y="3810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</p:sp>
      <p:sp>
        <p:nvSpPr>
          <p:cNvPr id="30" name="Freeform 30"/>
          <p:cNvSpPr/>
          <p:nvPr/>
        </p:nvSpPr>
        <p:spPr>
          <a:xfrm>
            <a:off x="11404600" y="42926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304800" y="152400"/>
                </a:moveTo>
                <a:cubicBezTo>
                  <a:pt x="304800" y="236568"/>
                  <a:pt x="236568" y="304800"/>
                  <a:pt x="152400" y="304800"/>
                </a:cubicBezTo>
                <a:cubicBezTo>
                  <a:pt x="68232" y="304800"/>
                  <a:pt x="0" y="236568"/>
                  <a:pt x="0" y="152400"/>
                </a:cubicBezTo>
                <a:cubicBezTo>
                  <a:pt x="0" y="68232"/>
                  <a:pt x="68232" y="0"/>
                  <a:pt x="152400" y="0"/>
                </a:cubicBezTo>
                <a:cubicBezTo>
                  <a:pt x="236568" y="0"/>
                  <a:pt x="304800" y="68232"/>
                  <a:pt x="304800" y="152400"/>
                </a:cubicBezTo>
                <a:close/>
              </a:path>
            </a:pathLst>
          </a:custGeom>
          <a:solidFill>
            <a:srgbClr val="E5D9C5"/>
          </a:solidFill>
          <a:ln>
            <a:noFill/>
          </a:ln>
        </p:spPr>
      </p:sp>
      <p:sp>
        <p:nvSpPr>
          <p:cNvPr id="31" name="Freeform 31"/>
          <p:cNvSpPr/>
          <p:nvPr/>
        </p:nvSpPr>
        <p:spPr>
          <a:xfrm>
            <a:off x="11480800" y="436880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152400" y="76200"/>
                </a:moveTo>
                <a:cubicBezTo>
                  <a:pt x="152400" y="118284"/>
                  <a:pt x="118284" y="152400"/>
                  <a:pt x="76200" y="152400"/>
                </a:cubicBezTo>
                <a:cubicBezTo>
                  <a:pt x="34116" y="152400"/>
                  <a:pt x="0" y="118284"/>
                  <a:pt x="0" y="76200"/>
                </a:cubicBezTo>
                <a:cubicBezTo>
                  <a:pt x="0" y="34116"/>
                  <a:pt x="34116" y="0"/>
                  <a:pt x="76200" y="0"/>
                </a:cubicBezTo>
                <a:cubicBezTo>
                  <a:pt x="118284" y="0"/>
                  <a:pt x="152400" y="34116"/>
                  <a:pt x="152400" y="7620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</p:sp>
      <p:sp>
        <p:nvSpPr>
          <p:cNvPr id="32" name="Freeform 32"/>
          <p:cNvSpPr/>
          <p:nvPr/>
        </p:nvSpPr>
        <p:spPr>
          <a:xfrm>
            <a:off x="11531600" y="44196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50800" h="50800">
                <a:moveTo>
                  <a:pt x="50800" y="25400"/>
                </a:moveTo>
                <a:cubicBezTo>
                  <a:pt x="50800" y="39428"/>
                  <a:pt x="39428" y="50800"/>
                  <a:pt x="25400" y="50800"/>
                </a:cubicBezTo>
                <a:cubicBezTo>
                  <a:pt x="11372" y="50800"/>
                  <a:pt x="0" y="39428"/>
                  <a:pt x="0" y="25400"/>
                </a:cubicBezTo>
                <a:cubicBezTo>
                  <a:pt x="0" y="11372"/>
                  <a:pt x="11372" y="0"/>
                  <a:pt x="25400" y="0"/>
                </a:cubicBezTo>
                <a:cubicBezTo>
                  <a:pt x="39428" y="0"/>
                  <a:pt x="50800" y="11372"/>
                  <a:pt x="50800" y="25400"/>
                </a:cubicBezTo>
                <a:close/>
              </a:path>
            </a:pathLst>
          </a:custGeom>
          <a:solidFill>
            <a:srgbClr val="3B5B78"/>
          </a:solidFill>
          <a:ln>
            <a:noFill/>
          </a:ln>
        </p:spPr>
      </p:sp>
      <p:sp>
        <p:nvSpPr>
          <p:cNvPr id="33" name="Freeform 33"/>
          <p:cNvSpPr/>
          <p:nvPr/>
        </p:nvSpPr>
        <p:spPr>
          <a:xfrm>
            <a:off x="12611100" y="3086100"/>
            <a:ext cx="177800" cy="177800"/>
          </a:xfrm>
          <a:custGeom>
            <a:avLst/>
            <a:gdLst/>
            <a:ahLst/>
            <a:cxnLst/>
            <a:rect l="l" t="t" r="r" b="b"/>
            <a:pathLst>
              <a:path w="177800" h="177800">
                <a:moveTo>
                  <a:pt x="177800" y="88900"/>
                </a:moveTo>
                <a:cubicBezTo>
                  <a:pt x="177800" y="137998"/>
                  <a:pt x="137998" y="177800"/>
                  <a:pt x="88900" y="177800"/>
                </a:cubicBezTo>
                <a:cubicBezTo>
                  <a:pt x="39802" y="177800"/>
                  <a:pt x="0" y="137998"/>
                  <a:pt x="0" y="88900"/>
                </a:cubicBezTo>
                <a:cubicBezTo>
                  <a:pt x="0" y="39802"/>
                  <a:pt x="39802" y="0"/>
                  <a:pt x="88900" y="0"/>
                </a:cubicBezTo>
                <a:cubicBezTo>
                  <a:pt x="137998" y="0"/>
                  <a:pt x="177800" y="39802"/>
                  <a:pt x="177800" y="88900"/>
                </a:cubicBezTo>
                <a:close/>
              </a:path>
            </a:pathLst>
          </a:custGeom>
          <a:solidFill>
            <a:srgbClr val="3B5B78"/>
          </a:solidFill>
          <a:ln>
            <a:noFill/>
          </a:ln>
        </p:spPr>
      </p:sp>
      <p:sp>
        <p:nvSpPr>
          <p:cNvPr id="34" name="Freeform 34"/>
          <p:cNvSpPr/>
          <p:nvPr/>
        </p:nvSpPr>
        <p:spPr>
          <a:xfrm>
            <a:off x="13335000" y="4064000"/>
            <a:ext cx="254000" cy="254000"/>
          </a:xfrm>
          <a:custGeom>
            <a:avLst/>
            <a:gdLst/>
            <a:ahLst/>
            <a:cxnLst/>
            <a:rect l="l" t="t" r="r" b="b"/>
            <a:pathLst>
              <a:path w="254000" h="254000">
                <a:moveTo>
                  <a:pt x="254000" y="127000"/>
                </a:moveTo>
                <a:cubicBezTo>
                  <a:pt x="254000" y="197140"/>
                  <a:pt x="197140" y="254000"/>
                  <a:pt x="127000" y="254000"/>
                </a:cubicBezTo>
                <a:cubicBezTo>
                  <a:pt x="56860" y="254000"/>
                  <a:pt x="0" y="197140"/>
                  <a:pt x="0" y="127000"/>
                </a:cubicBezTo>
                <a:cubicBezTo>
                  <a:pt x="0" y="56860"/>
                  <a:pt x="56860" y="0"/>
                  <a:pt x="127000" y="0"/>
                </a:cubicBezTo>
                <a:cubicBezTo>
                  <a:pt x="197140" y="0"/>
                  <a:pt x="254000" y="56860"/>
                  <a:pt x="254000" y="127000"/>
                </a:cubicBezTo>
                <a:close/>
              </a:path>
            </a:pathLst>
          </a:custGeom>
          <a:solidFill>
            <a:srgbClr val="3B5B78"/>
          </a:solidFill>
          <a:ln>
            <a:noFill/>
          </a:ln>
        </p:spPr>
      </p:sp>
      <p:sp>
        <p:nvSpPr>
          <p:cNvPr id="35" name="Freeform 35"/>
          <p:cNvSpPr/>
          <p:nvPr/>
        </p:nvSpPr>
        <p:spPr>
          <a:xfrm>
            <a:off x="13411200" y="4140200"/>
            <a:ext cx="101600" cy="101600"/>
          </a:xfrm>
          <a:custGeom>
            <a:avLst/>
            <a:gdLst/>
            <a:ahLst/>
            <a:cxnLst/>
            <a:rect l="l" t="t" r="r" b="b"/>
            <a:pathLst>
              <a:path w="101600" h="101600">
                <a:moveTo>
                  <a:pt x="101600" y="50800"/>
                </a:moveTo>
                <a:cubicBezTo>
                  <a:pt x="101600" y="78856"/>
                  <a:pt x="78856" y="101600"/>
                  <a:pt x="50800" y="101600"/>
                </a:cubicBezTo>
                <a:cubicBezTo>
                  <a:pt x="22744" y="101600"/>
                  <a:pt x="0" y="78856"/>
                  <a:pt x="0" y="50800"/>
                </a:cubicBezTo>
                <a:cubicBezTo>
                  <a:pt x="0" y="22744"/>
                  <a:pt x="22744" y="0"/>
                  <a:pt x="50800" y="0"/>
                </a:cubicBezTo>
                <a:cubicBezTo>
                  <a:pt x="78856" y="0"/>
                  <a:pt x="101600" y="22744"/>
                  <a:pt x="101600" y="5080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</p:sp>
      <p:sp>
        <p:nvSpPr>
          <p:cNvPr id="36" name="Freeform 36"/>
          <p:cNvSpPr/>
          <p:nvPr/>
        </p:nvSpPr>
        <p:spPr>
          <a:xfrm>
            <a:off x="11963400" y="5486400"/>
            <a:ext cx="203200" cy="203200"/>
          </a:xfrm>
          <a:custGeom>
            <a:avLst/>
            <a:gdLst/>
            <a:ahLst/>
            <a:cxnLst/>
            <a:rect l="l" t="t" r="r" b="b"/>
            <a:pathLst>
              <a:path w="203200" h="203200">
                <a:moveTo>
                  <a:pt x="203200" y="101600"/>
                </a:moveTo>
                <a:cubicBezTo>
                  <a:pt x="203200" y="157712"/>
                  <a:pt x="157712" y="203200"/>
                  <a:pt x="101600" y="203200"/>
                </a:cubicBezTo>
                <a:cubicBezTo>
                  <a:pt x="45488" y="203200"/>
                  <a:pt x="0" y="157712"/>
                  <a:pt x="0" y="101600"/>
                </a:cubicBezTo>
                <a:cubicBezTo>
                  <a:pt x="0" y="45488"/>
                  <a:pt x="45488" y="0"/>
                  <a:pt x="101600" y="0"/>
                </a:cubicBezTo>
                <a:cubicBezTo>
                  <a:pt x="157712" y="0"/>
                  <a:pt x="203200" y="45488"/>
                  <a:pt x="203200" y="101600"/>
                </a:cubicBezTo>
                <a:close/>
              </a:path>
            </a:pathLst>
          </a:custGeom>
          <a:solidFill>
            <a:srgbClr val="E5D9C5"/>
          </a:solidFill>
          <a:ln>
            <a:noFill/>
          </a:ln>
        </p:spPr>
      </p:sp>
      <p:sp>
        <p:nvSpPr>
          <p:cNvPr id="37" name="Freeform 37"/>
          <p:cNvSpPr/>
          <p:nvPr/>
        </p:nvSpPr>
        <p:spPr>
          <a:xfrm>
            <a:off x="12026900" y="5549900"/>
            <a:ext cx="76200" cy="76200"/>
          </a:xfrm>
          <a:custGeom>
            <a:avLst/>
            <a:gdLst/>
            <a:ahLst/>
            <a:cxnLst/>
            <a:rect l="l" t="t" r="r" b="b"/>
            <a:pathLst>
              <a:path w="76200" h="76200">
                <a:moveTo>
                  <a:pt x="76200" y="38100"/>
                </a:moveTo>
                <a:cubicBezTo>
                  <a:pt x="76200" y="59142"/>
                  <a:pt x="59142" y="76200"/>
                  <a:pt x="38100" y="76200"/>
                </a:cubicBezTo>
                <a:cubicBezTo>
                  <a:pt x="17058" y="76200"/>
                  <a:pt x="0" y="59142"/>
                  <a:pt x="0" y="38100"/>
                </a:cubicBezTo>
                <a:cubicBezTo>
                  <a:pt x="0" y="17058"/>
                  <a:pt x="17058" y="0"/>
                  <a:pt x="38100" y="0"/>
                </a:cubicBezTo>
                <a:cubicBezTo>
                  <a:pt x="59142" y="0"/>
                  <a:pt x="76200" y="17058"/>
                  <a:pt x="76200" y="3810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</p:sp>
      <p:sp>
        <p:nvSpPr>
          <p:cNvPr id="38" name="Freeform 38"/>
          <p:cNvSpPr/>
          <p:nvPr/>
        </p:nvSpPr>
        <p:spPr>
          <a:xfrm>
            <a:off x="10248900" y="5041900"/>
            <a:ext cx="76200" cy="76200"/>
          </a:xfrm>
          <a:custGeom>
            <a:avLst/>
            <a:gdLst/>
            <a:ahLst/>
            <a:cxnLst/>
            <a:rect l="l" t="t" r="r" b="b"/>
            <a:pathLst>
              <a:path w="76200" h="76200">
                <a:moveTo>
                  <a:pt x="76200" y="38100"/>
                </a:moveTo>
                <a:cubicBezTo>
                  <a:pt x="76200" y="59142"/>
                  <a:pt x="59142" y="76200"/>
                  <a:pt x="38100" y="76200"/>
                </a:cubicBezTo>
                <a:cubicBezTo>
                  <a:pt x="17058" y="76200"/>
                  <a:pt x="0" y="59142"/>
                  <a:pt x="0" y="38100"/>
                </a:cubicBezTo>
                <a:cubicBezTo>
                  <a:pt x="0" y="17058"/>
                  <a:pt x="17058" y="0"/>
                  <a:pt x="38100" y="0"/>
                </a:cubicBezTo>
                <a:cubicBezTo>
                  <a:pt x="59142" y="0"/>
                  <a:pt x="76200" y="17058"/>
                  <a:pt x="76200" y="38100"/>
                </a:cubicBezTo>
                <a:close/>
              </a:path>
            </a:pathLst>
          </a:custGeom>
          <a:solidFill>
            <a:srgbClr val="3B5B78">
              <a:alpha val="30196"/>
            </a:srgbClr>
          </a:solidFill>
          <a:ln>
            <a:noFill/>
          </a:ln>
        </p:spPr>
      </p:sp>
      <p:sp>
        <p:nvSpPr>
          <p:cNvPr id="39" name="Freeform 39"/>
          <p:cNvSpPr/>
          <p:nvPr/>
        </p:nvSpPr>
        <p:spPr>
          <a:xfrm>
            <a:off x="13652500" y="29845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27000" h="127000">
                <a:moveTo>
                  <a:pt x="127000" y="63500"/>
                </a:moveTo>
                <a:cubicBezTo>
                  <a:pt x="127000" y="98570"/>
                  <a:pt x="98570" y="127000"/>
                  <a:pt x="63500" y="127000"/>
                </a:cubicBezTo>
                <a:cubicBezTo>
                  <a:pt x="28430" y="127000"/>
                  <a:pt x="0" y="98570"/>
                  <a:pt x="0" y="63500"/>
                </a:cubicBezTo>
                <a:cubicBezTo>
                  <a:pt x="0" y="28430"/>
                  <a:pt x="28430" y="0"/>
                  <a:pt x="63500" y="0"/>
                </a:cubicBezTo>
                <a:cubicBezTo>
                  <a:pt x="98570" y="0"/>
                  <a:pt x="127000" y="28430"/>
                  <a:pt x="127000" y="63500"/>
                </a:cubicBezTo>
                <a:close/>
              </a:path>
            </a:pathLst>
          </a:custGeom>
          <a:solidFill>
            <a:srgbClr val="E5D9C5">
              <a:alpha val="60000"/>
            </a:srgbClr>
          </a:solidFill>
          <a:ln>
            <a:noFill/>
          </a:ln>
        </p:spPr>
      </p:sp>
      <p:sp>
        <p:nvSpPr>
          <p:cNvPr id="40" name="Freeform 40"/>
          <p:cNvSpPr/>
          <p:nvPr/>
        </p:nvSpPr>
        <p:spPr>
          <a:xfrm>
            <a:off x="11150600" y="58166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50800" h="50800">
                <a:moveTo>
                  <a:pt x="50800" y="25400"/>
                </a:moveTo>
                <a:cubicBezTo>
                  <a:pt x="50800" y="39428"/>
                  <a:pt x="39428" y="50800"/>
                  <a:pt x="25400" y="50800"/>
                </a:cubicBezTo>
                <a:cubicBezTo>
                  <a:pt x="11372" y="50800"/>
                  <a:pt x="0" y="39428"/>
                  <a:pt x="0" y="25400"/>
                </a:cubicBezTo>
                <a:cubicBezTo>
                  <a:pt x="0" y="11372"/>
                  <a:pt x="11372" y="0"/>
                  <a:pt x="25400" y="0"/>
                </a:cubicBezTo>
                <a:cubicBezTo>
                  <a:pt x="39428" y="0"/>
                  <a:pt x="50800" y="11372"/>
                  <a:pt x="50800" y="25400"/>
                </a:cubicBezTo>
                <a:close/>
              </a:path>
            </a:pathLst>
          </a:custGeom>
          <a:solidFill>
            <a:srgbClr val="3B5B78">
              <a:alpha val="40000"/>
            </a:srgbClr>
          </a:solidFill>
          <a:ln>
            <a:noFill/>
          </a:ln>
        </p:spPr>
      </p:sp>
      <p:sp>
        <p:nvSpPr>
          <p:cNvPr id="41" name="Freeform 41"/>
          <p:cNvSpPr/>
          <p:nvPr/>
        </p:nvSpPr>
        <p:spPr>
          <a:xfrm>
            <a:off x="12903200" y="5283200"/>
            <a:ext cx="101600" cy="101600"/>
          </a:xfrm>
          <a:custGeom>
            <a:avLst/>
            <a:gdLst/>
            <a:ahLst/>
            <a:cxnLst/>
            <a:rect l="l" t="t" r="r" b="b"/>
            <a:pathLst>
              <a:path w="101600" h="101600">
                <a:moveTo>
                  <a:pt x="101600" y="50800"/>
                </a:moveTo>
                <a:cubicBezTo>
                  <a:pt x="101600" y="78856"/>
                  <a:pt x="78856" y="101600"/>
                  <a:pt x="50800" y="101600"/>
                </a:cubicBezTo>
                <a:cubicBezTo>
                  <a:pt x="22744" y="101600"/>
                  <a:pt x="0" y="78856"/>
                  <a:pt x="0" y="50800"/>
                </a:cubicBezTo>
                <a:cubicBezTo>
                  <a:pt x="0" y="22744"/>
                  <a:pt x="22744" y="0"/>
                  <a:pt x="50800" y="0"/>
                </a:cubicBezTo>
                <a:cubicBezTo>
                  <a:pt x="78856" y="0"/>
                  <a:pt x="101600" y="22744"/>
                  <a:pt x="101600" y="50800"/>
                </a:cubicBezTo>
                <a:close/>
              </a:path>
            </a:pathLst>
          </a:custGeom>
          <a:solidFill>
            <a:srgbClr val="E5D9C5">
              <a:alpha val="50196"/>
            </a:srgbClr>
          </a:solidFill>
          <a:ln>
            <a:noFill/>
          </a:ln>
        </p:spPr>
      </p:sp>
      <p:sp>
        <p:nvSpPr>
          <p:cNvPr id="42" name="TextBox 42"/>
          <p:cNvSpPr txBox="1"/>
          <p:nvPr/>
        </p:nvSpPr>
        <p:spPr>
          <a:xfrm>
            <a:off x="1778000" y="1104900"/>
            <a:ext cx="1004570" cy="24257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1400" b="1" i="0">
                <a:solidFill>
                  <a:srgbClr val="3B5B78">
                    <a:alpha val="80000"/>
                  </a:srgbClr>
                </a:solidFill>
                <a:latin typeface="Arial" panose="020B0604020202020204"/>
              </a:rPr>
              <a:t>COVER / 01</a:t>
            </a:r>
            <a:endParaRPr lang="en-US" sz="1400" b="1" i="0">
              <a:solidFill>
                <a:srgbClr val="3B5B78">
                  <a:alpha val="80000"/>
                </a:srgbClr>
              </a:solidFill>
              <a:latin typeface="Arial" panose="020B0604020202020204"/>
            </a:endParaRPr>
          </a:p>
        </p:txBody>
      </p:sp>
      <p:sp>
        <p:nvSpPr>
          <p:cNvPr id="43" name="TextBox 43"/>
          <p:cNvSpPr txBox="1"/>
          <p:nvPr/>
        </p:nvSpPr>
        <p:spPr>
          <a:xfrm>
            <a:off x="1524000" y="2819400"/>
            <a:ext cx="7221220" cy="106172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6400" b="1" i="0">
                <a:solidFill>
                  <a:srgbClr val="2C4459"/>
                </a:solidFill>
                <a:latin typeface="Arial" panose="020B0604020202020204"/>
              </a:rPr>
              <a:t>Campus Assistant</a:t>
            </a:r>
            <a:endParaRPr lang="en-US" sz="6400" b="1" i="0">
              <a:solidFill>
                <a:srgbClr val="2C4459"/>
              </a:solidFill>
              <a:latin typeface="Arial" panose="020B0604020202020204"/>
            </a:endParaRPr>
          </a:p>
        </p:txBody>
      </p:sp>
      <p:sp>
        <p:nvSpPr>
          <p:cNvPr id="44" name="TextBox 44"/>
          <p:cNvSpPr txBox="1"/>
          <p:nvPr/>
        </p:nvSpPr>
        <p:spPr>
          <a:xfrm>
            <a:off x="1524000" y="3835400"/>
            <a:ext cx="5341620" cy="106172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6400" b="1" i="0">
                <a:solidFill>
                  <a:srgbClr val="3B5B78"/>
                </a:solidFill>
                <a:latin typeface="Arial" panose="020B0604020202020204"/>
              </a:rPr>
              <a:t>Telegram Bot</a:t>
            </a:r>
            <a:endParaRPr lang="en-US" sz="6400" b="1" i="0">
              <a:solidFill>
                <a:srgbClr val="3B5B78"/>
              </a:solidFill>
              <a:latin typeface="Arial" panose="020B0604020202020204"/>
            </a:endParaRPr>
          </a:p>
        </p:txBody>
      </p:sp>
      <p:sp>
        <p:nvSpPr>
          <p:cNvPr id="45" name="TextBox 45"/>
          <p:cNvSpPr txBox="1"/>
          <p:nvPr/>
        </p:nvSpPr>
        <p:spPr>
          <a:xfrm>
            <a:off x="1828800" y="5232400"/>
            <a:ext cx="7983220" cy="40132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2400" b="0" i="0">
                <a:solidFill>
                  <a:srgbClr val="5C7C99"/>
                </a:solidFill>
                <a:latin typeface="Arial" panose="020B0604020202020204"/>
              </a:rPr>
              <a:t>Empowering Campus Life: A Cloud-Native Smart Assistant</a:t>
            </a:r>
            <a:endParaRPr lang="en-US" sz="2400" b="0" i="0">
              <a:solidFill>
                <a:srgbClr val="5C7C99"/>
              </a:solidFill>
              <a:latin typeface="Arial" panose="020B0604020202020204"/>
            </a:endParaRPr>
          </a:p>
        </p:txBody>
      </p:sp>
      <p:sp>
        <p:nvSpPr>
          <p:cNvPr id="46" name="TextBox 46"/>
          <p:cNvSpPr txBox="1"/>
          <p:nvPr/>
        </p:nvSpPr>
        <p:spPr>
          <a:xfrm>
            <a:off x="2082800" y="6807200"/>
            <a:ext cx="1160780" cy="27178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1600" b="1" i="0">
                <a:solidFill>
                  <a:srgbClr val="2C4459"/>
                </a:solidFill>
                <a:latin typeface="Arial" panose="020B0604020202020204"/>
              </a:rPr>
              <a:t>Presenters:</a:t>
            </a:r>
            <a:endParaRPr lang="en-US" sz="1600" b="1" i="0">
              <a:solidFill>
                <a:srgbClr val="2C4459"/>
              </a:solidFill>
              <a:latin typeface="Arial" panose="020B0604020202020204"/>
            </a:endParaRPr>
          </a:p>
        </p:txBody>
      </p:sp>
      <p:sp>
        <p:nvSpPr>
          <p:cNvPr id="47" name="TextBox 47"/>
          <p:cNvSpPr txBox="1"/>
          <p:nvPr/>
        </p:nvSpPr>
        <p:spPr>
          <a:xfrm>
            <a:off x="3429000" y="6807200"/>
            <a:ext cx="2989580" cy="27178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1600" b="0" i="0">
                <a:solidFill>
                  <a:srgbClr val="5C7C99"/>
                </a:solidFill>
                <a:latin typeface="Arial" panose="020B0604020202020204"/>
              </a:rPr>
              <a:t>Pang Wei, Zhou Xinyu, Zhao Sibo</a:t>
            </a:r>
            <a:endParaRPr lang="en-US" sz="1600" b="0" i="0">
              <a:solidFill>
                <a:srgbClr val="5C7C99"/>
              </a:solidFill>
              <a:latin typeface="Arial" panose="020B0604020202020204"/>
            </a:endParaRPr>
          </a:p>
        </p:txBody>
      </p:sp>
      <p:sp>
        <p:nvSpPr>
          <p:cNvPr id="48" name="TextBox 48"/>
          <p:cNvSpPr txBox="1"/>
          <p:nvPr/>
        </p:nvSpPr>
        <p:spPr>
          <a:xfrm>
            <a:off x="2082800" y="7251700"/>
            <a:ext cx="1071880" cy="27178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1600" b="1" i="0">
                <a:solidFill>
                  <a:srgbClr val="2C4459"/>
                </a:solidFill>
                <a:latin typeface="Arial" panose="020B0604020202020204"/>
              </a:rPr>
              <a:t>Institution:</a:t>
            </a:r>
            <a:endParaRPr lang="en-US" sz="1600" b="1" i="0">
              <a:solidFill>
                <a:srgbClr val="2C4459"/>
              </a:solidFill>
              <a:latin typeface="Arial" panose="020B0604020202020204"/>
            </a:endParaRPr>
          </a:p>
        </p:txBody>
      </p:sp>
      <p:sp>
        <p:nvSpPr>
          <p:cNvPr id="49" name="TextBox 49"/>
          <p:cNvSpPr txBox="1"/>
          <p:nvPr/>
        </p:nvSpPr>
        <p:spPr>
          <a:xfrm>
            <a:off x="3429000" y="7251700"/>
            <a:ext cx="3332480" cy="27178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1600" b="0" i="0">
                <a:solidFill>
                  <a:srgbClr val="5C7C99"/>
                </a:solidFill>
                <a:latin typeface="Arial" panose="020B0604020202020204"/>
              </a:rPr>
              <a:t>Hong Kong Baptist University (HKBU)</a:t>
            </a:r>
            <a:endParaRPr lang="en-US" sz="1600" b="0" i="0">
              <a:solidFill>
                <a:srgbClr val="5C7C99"/>
              </a:solidFill>
              <a:latin typeface="Arial" panose="020B0604020202020204"/>
            </a:endParaRPr>
          </a:p>
        </p:txBody>
      </p:sp>
      <p:sp>
        <p:nvSpPr>
          <p:cNvPr id="50" name="TextBox 50"/>
          <p:cNvSpPr txBox="1"/>
          <p:nvPr/>
        </p:nvSpPr>
        <p:spPr>
          <a:xfrm>
            <a:off x="2082800" y="7696200"/>
            <a:ext cx="551180" cy="27178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1600" b="1" i="0">
                <a:solidFill>
                  <a:srgbClr val="2C4459"/>
                </a:solidFill>
                <a:latin typeface="Arial" panose="020B0604020202020204"/>
              </a:rPr>
              <a:t>Date:</a:t>
            </a:r>
            <a:endParaRPr lang="en-US" sz="1600" b="1" i="0">
              <a:solidFill>
                <a:srgbClr val="2C4459"/>
              </a:solidFill>
              <a:latin typeface="Arial" panose="020B0604020202020204"/>
            </a:endParaRPr>
          </a:p>
        </p:txBody>
      </p:sp>
      <p:sp>
        <p:nvSpPr>
          <p:cNvPr id="51" name="TextBox 51"/>
          <p:cNvSpPr txBox="1"/>
          <p:nvPr/>
        </p:nvSpPr>
        <p:spPr>
          <a:xfrm>
            <a:off x="3429000" y="7696200"/>
            <a:ext cx="944880" cy="27178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1600" b="0" i="0">
                <a:solidFill>
                  <a:srgbClr val="5C7C99"/>
                </a:solidFill>
                <a:latin typeface="Arial" panose="020B0604020202020204"/>
              </a:rPr>
              <a:t>April 2026</a:t>
            </a:r>
            <a:endParaRPr lang="en-US" sz="1600" b="0" i="0">
              <a:solidFill>
                <a:srgbClr val="5C7C99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6256000" cy="9144000"/>
          </a:xfrm>
          <a:custGeom>
            <a:avLst/>
            <a:gdLst/>
            <a:ahLst/>
            <a:cxnLst/>
            <a:rect l="l" t="t" r="r" b="b"/>
            <a:pathLst>
              <a:path w="16256000" h="9144000">
                <a:moveTo>
                  <a:pt x="0" y="0"/>
                </a:moveTo>
                <a:lnTo>
                  <a:pt x="16256000" y="0"/>
                </a:lnTo>
                <a:lnTo>
                  <a:pt x="16256000" y="9144000"/>
                </a:lnTo>
                <a:lnTo>
                  <a:pt x="0" y="9144000"/>
                </a:lnTo>
                <a:lnTo>
                  <a:pt x="0" y="0"/>
                </a:lnTo>
                <a:close/>
              </a:path>
            </a:pathLst>
          </a:custGeom>
          <a:solidFill>
            <a:srgbClr val="F4F5F7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10160000" y="-3429000"/>
            <a:ext cx="8890000" cy="8890000"/>
          </a:xfrm>
          <a:custGeom>
            <a:avLst/>
            <a:gdLst/>
            <a:ahLst/>
            <a:cxnLst/>
            <a:rect l="l" t="t" r="r" b="b"/>
            <a:pathLst>
              <a:path w="8890000" h="8890000">
                <a:moveTo>
                  <a:pt x="8890000" y="4445000"/>
                </a:moveTo>
                <a:cubicBezTo>
                  <a:pt x="8890000" y="6899906"/>
                  <a:pt x="6899906" y="8890000"/>
                  <a:pt x="4445000" y="8890000"/>
                </a:cubicBezTo>
                <a:cubicBezTo>
                  <a:pt x="1990094" y="8890000"/>
                  <a:pt x="0" y="6899906"/>
                  <a:pt x="0" y="4445000"/>
                </a:cubicBezTo>
                <a:cubicBezTo>
                  <a:pt x="0" y="1990094"/>
                  <a:pt x="1990094" y="0"/>
                  <a:pt x="4445000" y="0"/>
                </a:cubicBezTo>
                <a:cubicBezTo>
                  <a:pt x="6899906" y="0"/>
                  <a:pt x="8890000" y="1990094"/>
                  <a:pt x="8890000" y="4445000"/>
                </a:cubicBezTo>
                <a:close/>
              </a:path>
            </a:pathLst>
          </a:custGeom>
          <a:solidFill>
            <a:srgbClr val="E5D9C5">
              <a:alpha val="12157"/>
            </a:srgbClr>
          </a:solidFill>
          <a:ln>
            <a:noFill/>
          </a:ln>
        </p:spPr>
      </p:sp>
      <p:sp>
        <p:nvSpPr>
          <p:cNvPr id="4" name="Freeform 4"/>
          <p:cNvSpPr/>
          <p:nvPr/>
        </p:nvSpPr>
        <p:spPr>
          <a:xfrm>
            <a:off x="-1270000" y="5461000"/>
            <a:ext cx="6350000" cy="6350000"/>
          </a:xfrm>
          <a:custGeom>
            <a:avLst/>
            <a:gdLst/>
            <a:ahLst/>
            <a:cxnLst/>
            <a:rect l="l" t="t" r="r" b="b"/>
            <a:pathLst>
              <a:path w="6350000" h="6350000">
                <a:moveTo>
                  <a:pt x="6350000" y="3175000"/>
                </a:moveTo>
                <a:cubicBezTo>
                  <a:pt x="6350000" y="4928504"/>
                  <a:pt x="4928504" y="6350000"/>
                  <a:pt x="3175000" y="6350000"/>
                </a:cubicBezTo>
                <a:cubicBezTo>
                  <a:pt x="1421496" y="6350000"/>
                  <a:pt x="0" y="4928504"/>
                  <a:pt x="0" y="3175000"/>
                </a:cubicBezTo>
                <a:cubicBezTo>
                  <a:pt x="0" y="1421496"/>
                  <a:pt x="1421496" y="0"/>
                  <a:pt x="3175000" y="0"/>
                </a:cubicBezTo>
                <a:cubicBezTo>
                  <a:pt x="4928504" y="0"/>
                  <a:pt x="6350000" y="1421496"/>
                  <a:pt x="6350000" y="3175000"/>
                </a:cubicBezTo>
                <a:close/>
              </a:path>
            </a:pathLst>
          </a:custGeom>
          <a:solidFill>
            <a:srgbClr val="2E5C55">
              <a:alpha val="3137"/>
            </a:srgbClr>
          </a:solidFill>
          <a:ln>
            <a:noFill/>
          </a:ln>
        </p:spPr>
      </p:sp>
      <p:sp>
        <p:nvSpPr>
          <p:cNvPr id="5" name="Freeform 5"/>
          <p:cNvSpPr/>
          <p:nvPr/>
        </p:nvSpPr>
        <p:spPr>
          <a:xfrm>
            <a:off x="1270000" y="1206500"/>
            <a:ext cx="381000" cy="0"/>
          </a:xfrm>
          <a:custGeom>
            <a:avLst/>
            <a:gdLst/>
            <a:ahLst/>
            <a:cxnLst/>
            <a:rect l="l" t="t" r="r" b="b"/>
            <a:pathLst>
              <a:path w="381000">
                <a:moveTo>
                  <a:pt x="0" y="0"/>
                </a:moveTo>
                <a:lnTo>
                  <a:pt x="381000" y="0"/>
                </a:lnTo>
              </a:path>
            </a:pathLst>
          </a:custGeom>
          <a:noFill/>
          <a:ln w="25400">
            <a:solidFill>
              <a:srgbClr val="8899A6"/>
            </a:solidFill>
          </a:ln>
        </p:spPr>
      </p:sp>
      <p:pic>
        <p:nvPicPr>
          <p:cNvPr id="6" name="Picture 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sp>
        <p:nvSpPr>
          <p:cNvPr id="7" name="Freeform 7"/>
          <p:cNvSpPr/>
          <p:nvPr/>
        </p:nvSpPr>
        <p:spPr>
          <a:xfrm>
            <a:off x="5715000" y="1270000"/>
            <a:ext cx="8890000" cy="1117600"/>
          </a:xfrm>
          <a:custGeom>
            <a:avLst/>
            <a:gdLst/>
            <a:ahLst/>
            <a:cxnLst/>
            <a:rect l="l" t="t" r="r" b="b"/>
            <a:pathLst>
              <a:path w="8890000" h="1117600">
                <a:moveTo>
                  <a:pt x="0" y="101600"/>
                </a:moveTo>
                <a:lnTo>
                  <a:pt x="0" y="1016000"/>
                </a:lnTo>
                <a:cubicBezTo>
                  <a:pt x="0" y="1072112"/>
                  <a:pt x="45488" y="1117600"/>
                  <a:pt x="101600" y="1117600"/>
                </a:cubicBezTo>
                <a:lnTo>
                  <a:pt x="8788400" y="1117600"/>
                </a:lnTo>
                <a:cubicBezTo>
                  <a:pt x="8844512" y="1117600"/>
                  <a:pt x="8890000" y="1072112"/>
                  <a:pt x="8890000" y="1016000"/>
                </a:cubicBezTo>
                <a:lnTo>
                  <a:pt x="8890000" y="101600"/>
                </a:lnTo>
                <a:cubicBezTo>
                  <a:pt x="8890000" y="45488"/>
                  <a:pt x="8844512" y="0"/>
                  <a:pt x="8788400" y="0"/>
                </a:cubicBezTo>
                <a:lnTo>
                  <a:pt x="101600" y="0"/>
                </a:lnTo>
                <a:cubicBezTo>
                  <a:pt x="45488" y="0"/>
                  <a:pt x="0" y="45488"/>
                  <a:pt x="0" y="10160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  <a:effectLst>
            <a:outerShdw blurRad="304800" dist="101600" dir="5400000" rotWithShape="0">
              <a:srgbClr val="2E5C55">
                <a:alpha val="5098"/>
              </a:srgbClr>
            </a:outerShdw>
          </a:effectLst>
        </p:spPr>
      </p:sp>
      <p:sp>
        <p:nvSpPr>
          <p:cNvPr id="8" name="Freeform 8"/>
          <p:cNvSpPr/>
          <p:nvPr/>
        </p:nvSpPr>
        <p:spPr>
          <a:xfrm>
            <a:off x="5753100" y="1574800"/>
            <a:ext cx="0" cy="508000"/>
          </a:xfrm>
          <a:custGeom>
            <a:avLst/>
            <a:gdLst/>
            <a:ahLst/>
            <a:cxnLst/>
            <a:rect l="l" t="t" r="r" b="b"/>
            <a:pathLst>
              <a:path h="508000">
                <a:moveTo>
                  <a:pt x="0" y="0"/>
                </a:moveTo>
                <a:lnTo>
                  <a:pt x="0" y="508000"/>
                </a:lnTo>
              </a:path>
            </a:pathLst>
          </a:custGeom>
          <a:noFill/>
          <a:ln w="76200">
            <a:solidFill>
              <a:srgbClr val="2E5C55"/>
            </a:solidFill>
          </a:ln>
        </p:spPr>
      </p:sp>
      <p:sp>
        <p:nvSpPr>
          <p:cNvPr id="9" name="Freeform 9"/>
          <p:cNvSpPr/>
          <p:nvPr/>
        </p:nvSpPr>
        <p:spPr>
          <a:xfrm>
            <a:off x="10375900" y="1841500"/>
            <a:ext cx="76200" cy="76200"/>
          </a:xfrm>
          <a:custGeom>
            <a:avLst/>
            <a:gdLst/>
            <a:ahLst/>
            <a:cxnLst/>
            <a:rect l="l" t="t" r="r" b="b"/>
            <a:pathLst>
              <a:path w="76200" h="76200">
                <a:moveTo>
                  <a:pt x="76200" y="38100"/>
                </a:moveTo>
                <a:cubicBezTo>
                  <a:pt x="76200" y="59142"/>
                  <a:pt x="59142" y="76200"/>
                  <a:pt x="38100" y="76200"/>
                </a:cubicBezTo>
                <a:cubicBezTo>
                  <a:pt x="17058" y="76200"/>
                  <a:pt x="0" y="59142"/>
                  <a:pt x="0" y="38100"/>
                </a:cubicBezTo>
                <a:cubicBezTo>
                  <a:pt x="0" y="17058"/>
                  <a:pt x="17058" y="0"/>
                  <a:pt x="38100" y="0"/>
                </a:cubicBezTo>
                <a:cubicBezTo>
                  <a:pt x="59142" y="0"/>
                  <a:pt x="76200" y="17058"/>
                  <a:pt x="76200" y="38100"/>
                </a:cubicBezTo>
                <a:close/>
              </a:path>
            </a:pathLst>
          </a:custGeom>
          <a:solidFill>
            <a:srgbClr val="D8E2E9"/>
          </a:solidFill>
          <a:ln>
            <a:noFill/>
          </a:ln>
        </p:spPr>
      </p:sp>
      <p:sp>
        <p:nvSpPr>
          <p:cNvPr id="10" name="Freeform 10"/>
          <p:cNvSpPr/>
          <p:nvPr/>
        </p:nvSpPr>
        <p:spPr>
          <a:xfrm>
            <a:off x="13906500" y="1651000"/>
            <a:ext cx="431800" cy="355600"/>
          </a:xfrm>
          <a:custGeom>
            <a:avLst/>
            <a:gdLst/>
            <a:ahLst/>
            <a:cxnLst/>
            <a:rect l="l" t="t" r="r" b="b"/>
            <a:pathLst>
              <a:path w="431800" h="355600">
                <a:moveTo>
                  <a:pt x="0" y="177800"/>
                </a:moveTo>
                <a:quadBezTo>
                  <a:pt x="215900" y="0"/>
                  <a:pt x="431800" y="177800"/>
                </a:quadBezTo>
                <a:quadBezTo>
                  <a:pt x="215900" y="355600"/>
                  <a:pt x="0" y="177800"/>
                </a:quadBezTo>
                <a:close/>
              </a:path>
            </a:pathLst>
          </a:custGeom>
          <a:noFill/>
          <a:ln w="25400">
            <a:solidFill>
              <a:srgbClr val="2E5C55"/>
            </a:solidFill>
          </a:ln>
        </p:spPr>
      </p:sp>
      <p:sp>
        <p:nvSpPr>
          <p:cNvPr id="11" name="Freeform 11"/>
          <p:cNvSpPr/>
          <p:nvPr/>
        </p:nvSpPr>
        <p:spPr>
          <a:xfrm>
            <a:off x="14071600" y="1778000"/>
            <a:ext cx="101600" cy="101600"/>
          </a:xfrm>
          <a:custGeom>
            <a:avLst/>
            <a:gdLst/>
            <a:ahLst/>
            <a:cxnLst/>
            <a:rect l="l" t="t" r="r" b="b"/>
            <a:pathLst>
              <a:path w="101600" h="101600">
                <a:moveTo>
                  <a:pt x="101600" y="50800"/>
                </a:moveTo>
                <a:cubicBezTo>
                  <a:pt x="101600" y="78856"/>
                  <a:pt x="78856" y="101600"/>
                  <a:pt x="50800" y="101600"/>
                </a:cubicBezTo>
                <a:cubicBezTo>
                  <a:pt x="22744" y="101600"/>
                  <a:pt x="0" y="78856"/>
                  <a:pt x="0" y="50800"/>
                </a:cubicBezTo>
                <a:cubicBezTo>
                  <a:pt x="0" y="22744"/>
                  <a:pt x="22744" y="0"/>
                  <a:pt x="50800" y="0"/>
                </a:cubicBezTo>
                <a:cubicBezTo>
                  <a:pt x="78856" y="0"/>
                  <a:pt x="101600" y="22744"/>
                  <a:pt x="101600" y="50800"/>
                </a:cubicBezTo>
                <a:close/>
              </a:path>
            </a:pathLst>
          </a:custGeom>
          <a:noFill/>
          <a:ln w="25400">
            <a:solidFill>
              <a:srgbClr val="2E5C55"/>
            </a:solidFill>
          </a:ln>
        </p:spPr>
      </p:sp>
      <p:sp>
        <p:nvSpPr>
          <p:cNvPr id="12" name="Freeform 12"/>
          <p:cNvSpPr/>
          <p:nvPr/>
        </p:nvSpPr>
        <p:spPr>
          <a:xfrm>
            <a:off x="5715000" y="2667000"/>
            <a:ext cx="8890000" cy="1117600"/>
          </a:xfrm>
          <a:custGeom>
            <a:avLst/>
            <a:gdLst/>
            <a:ahLst/>
            <a:cxnLst/>
            <a:rect l="l" t="t" r="r" b="b"/>
            <a:pathLst>
              <a:path w="8890000" h="1117600">
                <a:moveTo>
                  <a:pt x="0" y="101600"/>
                </a:moveTo>
                <a:lnTo>
                  <a:pt x="0" y="1016000"/>
                </a:lnTo>
                <a:cubicBezTo>
                  <a:pt x="0" y="1072112"/>
                  <a:pt x="45488" y="1117600"/>
                  <a:pt x="101600" y="1117600"/>
                </a:cubicBezTo>
                <a:lnTo>
                  <a:pt x="8788400" y="1117600"/>
                </a:lnTo>
                <a:cubicBezTo>
                  <a:pt x="8844512" y="1117600"/>
                  <a:pt x="8890000" y="1072112"/>
                  <a:pt x="8890000" y="1016000"/>
                </a:cubicBezTo>
                <a:lnTo>
                  <a:pt x="8890000" y="101600"/>
                </a:lnTo>
                <a:cubicBezTo>
                  <a:pt x="8890000" y="45488"/>
                  <a:pt x="8844512" y="0"/>
                  <a:pt x="8788400" y="0"/>
                </a:cubicBezTo>
                <a:lnTo>
                  <a:pt x="101600" y="0"/>
                </a:lnTo>
                <a:cubicBezTo>
                  <a:pt x="45488" y="0"/>
                  <a:pt x="0" y="45488"/>
                  <a:pt x="0" y="10160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  <a:effectLst>
            <a:outerShdw blurRad="304800" dist="101600" dir="5400000" rotWithShape="0">
              <a:srgbClr val="2E5C55">
                <a:alpha val="5098"/>
              </a:srgbClr>
            </a:outerShdw>
          </a:effectLst>
        </p:spPr>
      </p:sp>
      <p:sp>
        <p:nvSpPr>
          <p:cNvPr id="13" name="Freeform 13"/>
          <p:cNvSpPr/>
          <p:nvPr/>
        </p:nvSpPr>
        <p:spPr>
          <a:xfrm>
            <a:off x="5753100" y="2971800"/>
            <a:ext cx="0" cy="508000"/>
          </a:xfrm>
          <a:custGeom>
            <a:avLst/>
            <a:gdLst/>
            <a:ahLst/>
            <a:cxnLst/>
            <a:rect l="l" t="t" r="r" b="b"/>
            <a:pathLst>
              <a:path h="508000">
                <a:moveTo>
                  <a:pt x="0" y="0"/>
                </a:moveTo>
                <a:lnTo>
                  <a:pt x="0" y="508000"/>
                </a:lnTo>
              </a:path>
            </a:pathLst>
          </a:custGeom>
          <a:noFill/>
          <a:ln w="76200">
            <a:solidFill>
              <a:srgbClr val="2E5C55"/>
            </a:solidFill>
          </a:ln>
        </p:spPr>
      </p:sp>
      <p:sp>
        <p:nvSpPr>
          <p:cNvPr id="14" name="Freeform 14"/>
          <p:cNvSpPr/>
          <p:nvPr/>
        </p:nvSpPr>
        <p:spPr>
          <a:xfrm>
            <a:off x="10375900" y="3238500"/>
            <a:ext cx="76200" cy="76200"/>
          </a:xfrm>
          <a:custGeom>
            <a:avLst/>
            <a:gdLst/>
            <a:ahLst/>
            <a:cxnLst/>
            <a:rect l="l" t="t" r="r" b="b"/>
            <a:pathLst>
              <a:path w="76200" h="76200">
                <a:moveTo>
                  <a:pt x="76200" y="38100"/>
                </a:moveTo>
                <a:cubicBezTo>
                  <a:pt x="76200" y="59142"/>
                  <a:pt x="59142" y="76200"/>
                  <a:pt x="38100" y="76200"/>
                </a:cubicBezTo>
                <a:cubicBezTo>
                  <a:pt x="17058" y="76200"/>
                  <a:pt x="0" y="59142"/>
                  <a:pt x="0" y="38100"/>
                </a:cubicBezTo>
                <a:cubicBezTo>
                  <a:pt x="0" y="17058"/>
                  <a:pt x="17058" y="0"/>
                  <a:pt x="38100" y="0"/>
                </a:cubicBezTo>
                <a:cubicBezTo>
                  <a:pt x="59142" y="0"/>
                  <a:pt x="76200" y="17058"/>
                  <a:pt x="76200" y="38100"/>
                </a:cubicBezTo>
                <a:close/>
              </a:path>
            </a:pathLst>
          </a:custGeom>
          <a:solidFill>
            <a:srgbClr val="D8E2E9"/>
          </a:solidFill>
          <a:ln>
            <a:noFill/>
          </a:ln>
        </p:spPr>
      </p:sp>
      <p:sp>
        <p:nvSpPr>
          <p:cNvPr id="15" name="Freeform 15"/>
          <p:cNvSpPr/>
          <p:nvPr/>
        </p:nvSpPr>
        <p:spPr>
          <a:xfrm>
            <a:off x="14020800" y="3048000"/>
            <a:ext cx="203200" cy="127000"/>
          </a:xfrm>
          <a:custGeom>
            <a:avLst/>
            <a:gdLst/>
            <a:ahLst/>
            <a:cxnLst/>
            <a:rect l="l" t="t" r="r" b="b"/>
            <a:pathLst>
              <a:path w="203200" h="127000">
                <a:moveTo>
                  <a:pt x="0" y="25400"/>
                </a:moveTo>
                <a:lnTo>
                  <a:pt x="0" y="101600"/>
                </a:lnTo>
                <a:cubicBezTo>
                  <a:pt x="0" y="115628"/>
                  <a:pt x="11372" y="127000"/>
                  <a:pt x="25400" y="127000"/>
                </a:cubicBezTo>
                <a:lnTo>
                  <a:pt x="177800" y="127000"/>
                </a:lnTo>
                <a:cubicBezTo>
                  <a:pt x="191828" y="127000"/>
                  <a:pt x="203200" y="115628"/>
                  <a:pt x="203200" y="101600"/>
                </a:cubicBezTo>
                <a:lnTo>
                  <a:pt x="203200" y="25400"/>
                </a:lnTo>
                <a:cubicBezTo>
                  <a:pt x="203200" y="11372"/>
                  <a:pt x="191828" y="0"/>
                  <a:pt x="177800" y="0"/>
                </a:cubicBezTo>
                <a:lnTo>
                  <a:pt x="25400" y="0"/>
                </a:lnTo>
                <a:cubicBezTo>
                  <a:pt x="11372" y="0"/>
                  <a:pt x="0" y="11372"/>
                  <a:pt x="0" y="25400"/>
                </a:cubicBezTo>
                <a:close/>
              </a:path>
            </a:pathLst>
          </a:custGeom>
          <a:noFill/>
          <a:ln w="25400">
            <a:solidFill>
              <a:srgbClr val="2E5C55"/>
            </a:solidFill>
          </a:ln>
        </p:spPr>
      </p:sp>
      <p:sp>
        <p:nvSpPr>
          <p:cNvPr id="16" name="Freeform 16"/>
          <p:cNvSpPr/>
          <p:nvPr/>
        </p:nvSpPr>
        <p:spPr>
          <a:xfrm>
            <a:off x="13893800" y="3276600"/>
            <a:ext cx="152400" cy="101600"/>
          </a:xfrm>
          <a:custGeom>
            <a:avLst/>
            <a:gdLst/>
            <a:ahLst/>
            <a:cxnLst/>
            <a:rect l="l" t="t" r="r" b="b"/>
            <a:pathLst>
              <a:path w="152400" h="101600">
                <a:moveTo>
                  <a:pt x="0" y="25400"/>
                </a:moveTo>
                <a:lnTo>
                  <a:pt x="0" y="76200"/>
                </a:lnTo>
                <a:cubicBezTo>
                  <a:pt x="0" y="90228"/>
                  <a:pt x="11372" y="101600"/>
                  <a:pt x="25400" y="101600"/>
                </a:cubicBezTo>
                <a:lnTo>
                  <a:pt x="127000" y="101600"/>
                </a:lnTo>
                <a:cubicBezTo>
                  <a:pt x="141028" y="101600"/>
                  <a:pt x="152400" y="90228"/>
                  <a:pt x="152400" y="76200"/>
                </a:cubicBezTo>
                <a:lnTo>
                  <a:pt x="152400" y="25400"/>
                </a:lnTo>
                <a:cubicBezTo>
                  <a:pt x="152400" y="11372"/>
                  <a:pt x="141028" y="0"/>
                  <a:pt x="127000" y="0"/>
                </a:cubicBezTo>
                <a:lnTo>
                  <a:pt x="25400" y="0"/>
                </a:lnTo>
                <a:cubicBezTo>
                  <a:pt x="11372" y="0"/>
                  <a:pt x="0" y="11372"/>
                  <a:pt x="0" y="25400"/>
                </a:cubicBezTo>
                <a:close/>
              </a:path>
            </a:pathLst>
          </a:custGeom>
          <a:noFill/>
          <a:ln w="25400">
            <a:solidFill>
              <a:srgbClr val="2E5C55"/>
            </a:solidFill>
          </a:ln>
        </p:spPr>
      </p:sp>
      <p:sp>
        <p:nvSpPr>
          <p:cNvPr id="17" name="Freeform 17"/>
          <p:cNvSpPr/>
          <p:nvPr/>
        </p:nvSpPr>
        <p:spPr>
          <a:xfrm>
            <a:off x="14198600" y="3276600"/>
            <a:ext cx="152400" cy="101600"/>
          </a:xfrm>
          <a:custGeom>
            <a:avLst/>
            <a:gdLst/>
            <a:ahLst/>
            <a:cxnLst/>
            <a:rect l="l" t="t" r="r" b="b"/>
            <a:pathLst>
              <a:path w="152400" h="101600">
                <a:moveTo>
                  <a:pt x="0" y="25400"/>
                </a:moveTo>
                <a:lnTo>
                  <a:pt x="0" y="76200"/>
                </a:lnTo>
                <a:cubicBezTo>
                  <a:pt x="0" y="90228"/>
                  <a:pt x="11372" y="101600"/>
                  <a:pt x="25400" y="101600"/>
                </a:cubicBezTo>
                <a:lnTo>
                  <a:pt x="127000" y="101600"/>
                </a:lnTo>
                <a:cubicBezTo>
                  <a:pt x="141028" y="101600"/>
                  <a:pt x="152400" y="90228"/>
                  <a:pt x="152400" y="76200"/>
                </a:cubicBezTo>
                <a:lnTo>
                  <a:pt x="152400" y="25400"/>
                </a:lnTo>
                <a:cubicBezTo>
                  <a:pt x="152400" y="11372"/>
                  <a:pt x="141028" y="0"/>
                  <a:pt x="127000" y="0"/>
                </a:cubicBezTo>
                <a:lnTo>
                  <a:pt x="25400" y="0"/>
                </a:lnTo>
                <a:cubicBezTo>
                  <a:pt x="11372" y="0"/>
                  <a:pt x="0" y="11372"/>
                  <a:pt x="0" y="25400"/>
                </a:cubicBezTo>
                <a:close/>
              </a:path>
            </a:pathLst>
          </a:custGeom>
          <a:noFill/>
          <a:ln w="25400">
            <a:solidFill>
              <a:srgbClr val="2E5C55"/>
            </a:solidFill>
          </a:ln>
        </p:spPr>
      </p:sp>
      <p:sp>
        <p:nvSpPr>
          <p:cNvPr id="18" name="Freeform 18"/>
          <p:cNvSpPr/>
          <p:nvPr/>
        </p:nvSpPr>
        <p:spPr>
          <a:xfrm>
            <a:off x="13970000" y="3175000"/>
            <a:ext cx="304800" cy="101600"/>
          </a:xfrm>
          <a:custGeom>
            <a:avLst/>
            <a:gdLst/>
            <a:ahLst/>
            <a:cxnLst/>
            <a:rect l="l" t="t" r="r" b="b"/>
            <a:pathLst>
              <a:path w="304800" h="101600">
                <a:moveTo>
                  <a:pt x="152400" y="0"/>
                </a:moveTo>
                <a:lnTo>
                  <a:pt x="152400" y="50800"/>
                </a:lnTo>
                <a:lnTo>
                  <a:pt x="0" y="50800"/>
                </a:lnTo>
                <a:lnTo>
                  <a:pt x="0" y="101600"/>
                </a:lnTo>
                <a:moveTo>
                  <a:pt x="152400" y="50800"/>
                </a:moveTo>
                <a:lnTo>
                  <a:pt x="304800" y="50800"/>
                </a:lnTo>
                <a:lnTo>
                  <a:pt x="304800" y="101600"/>
                </a:lnTo>
              </a:path>
            </a:pathLst>
          </a:custGeom>
          <a:noFill/>
          <a:ln w="25400">
            <a:solidFill>
              <a:srgbClr val="2E5C55"/>
            </a:solidFill>
          </a:ln>
        </p:spPr>
      </p:sp>
      <p:sp>
        <p:nvSpPr>
          <p:cNvPr id="19" name="Freeform 19"/>
          <p:cNvSpPr/>
          <p:nvPr/>
        </p:nvSpPr>
        <p:spPr>
          <a:xfrm>
            <a:off x="5715000" y="4064000"/>
            <a:ext cx="8890000" cy="1117600"/>
          </a:xfrm>
          <a:custGeom>
            <a:avLst/>
            <a:gdLst/>
            <a:ahLst/>
            <a:cxnLst/>
            <a:rect l="l" t="t" r="r" b="b"/>
            <a:pathLst>
              <a:path w="8890000" h="1117600">
                <a:moveTo>
                  <a:pt x="0" y="101600"/>
                </a:moveTo>
                <a:lnTo>
                  <a:pt x="0" y="1016000"/>
                </a:lnTo>
                <a:cubicBezTo>
                  <a:pt x="0" y="1072112"/>
                  <a:pt x="45488" y="1117600"/>
                  <a:pt x="101600" y="1117600"/>
                </a:cubicBezTo>
                <a:lnTo>
                  <a:pt x="8788400" y="1117600"/>
                </a:lnTo>
                <a:cubicBezTo>
                  <a:pt x="8844512" y="1117600"/>
                  <a:pt x="8890000" y="1072112"/>
                  <a:pt x="8890000" y="1016000"/>
                </a:cubicBezTo>
                <a:lnTo>
                  <a:pt x="8890000" y="101600"/>
                </a:lnTo>
                <a:cubicBezTo>
                  <a:pt x="8890000" y="45488"/>
                  <a:pt x="8844512" y="0"/>
                  <a:pt x="8788400" y="0"/>
                </a:cubicBezTo>
                <a:lnTo>
                  <a:pt x="101600" y="0"/>
                </a:lnTo>
                <a:cubicBezTo>
                  <a:pt x="45488" y="0"/>
                  <a:pt x="0" y="45488"/>
                  <a:pt x="0" y="10160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  <a:effectLst>
            <a:outerShdw blurRad="304800" dist="101600" dir="5400000" rotWithShape="0">
              <a:srgbClr val="2E5C55">
                <a:alpha val="5098"/>
              </a:srgbClr>
            </a:outerShdw>
          </a:effectLst>
        </p:spPr>
      </p:sp>
      <p:sp>
        <p:nvSpPr>
          <p:cNvPr id="20" name="Freeform 20"/>
          <p:cNvSpPr/>
          <p:nvPr/>
        </p:nvSpPr>
        <p:spPr>
          <a:xfrm>
            <a:off x="5753100" y="4368800"/>
            <a:ext cx="0" cy="508000"/>
          </a:xfrm>
          <a:custGeom>
            <a:avLst/>
            <a:gdLst/>
            <a:ahLst/>
            <a:cxnLst/>
            <a:rect l="l" t="t" r="r" b="b"/>
            <a:pathLst>
              <a:path h="508000">
                <a:moveTo>
                  <a:pt x="0" y="0"/>
                </a:moveTo>
                <a:lnTo>
                  <a:pt x="0" y="508000"/>
                </a:lnTo>
              </a:path>
            </a:pathLst>
          </a:custGeom>
          <a:noFill/>
          <a:ln w="76200">
            <a:solidFill>
              <a:srgbClr val="2E5C55"/>
            </a:solidFill>
          </a:ln>
        </p:spPr>
      </p:sp>
      <p:sp>
        <p:nvSpPr>
          <p:cNvPr id="21" name="Freeform 21"/>
          <p:cNvSpPr/>
          <p:nvPr/>
        </p:nvSpPr>
        <p:spPr>
          <a:xfrm>
            <a:off x="10375900" y="4635500"/>
            <a:ext cx="76200" cy="76200"/>
          </a:xfrm>
          <a:custGeom>
            <a:avLst/>
            <a:gdLst/>
            <a:ahLst/>
            <a:cxnLst/>
            <a:rect l="l" t="t" r="r" b="b"/>
            <a:pathLst>
              <a:path w="76200" h="76200">
                <a:moveTo>
                  <a:pt x="76200" y="38100"/>
                </a:moveTo>
                <a:cubicBezTo>
                  <a:pt x="76200" y="59142"/>
                  <a:pt x="59142" y="76200"/>
                  <a:pt x="38100" y="76200"/>
                </a:cubicBezTo>
                <a:cubicBezTo>
                  <a:pt x="17058" y="76200"/>
                  <a:pt x="0" y="59142"/>
                  <a:pt x="0" y="38100"/>
                </a:cubicBezTo>
                <a:cubicBezTo>
                  <a:pt x="0" y="17058"/>
                  <a:pt x="17058" y="0"/>
                  <a:pt x="38100" y="0"/>
                </a:cubicBezTo>
                <a:cubicBezTo>
                  <a:pt x="59142" y="0"/>
                  <a:pt x="76200" y="17058"/>
                  <a:pt x="76200" y="38100"/>
                </a:cubicBezTo>
                <a:close/>
              </a:path>
            </a:pathLst>
          </a:custGeom>
          <a:solidFill>
            <a:srgbClr val="D8E2E9"/>
          </a:solidFill>
          <a:ln>
            <a:noFill/>
          </a:ln>
        </p:spPr>
      </p:sp>
      <p:sp>
        <p:nvSpPr>
          <p:cNvPr id="22" name="Freeform 22"/>
          <p:cNvSpPr/>
          <p:nvPr/>
        </p:nvSpPr>
        <p:spPr>
          <a:xfrm>
            <a:off x="13931900" y="4445000"/>
            <a:ext cx="381000" cy="101600"/>
          </a:xfrm>
          <a:custGeom>
            <a:avLst/>
            <a:gdLst/>
            <a:ahLst/>
            <a:cxnLst/>
            <a:rect l="l" t="t" r="r" b="b"/>
            <a:pathLst>
              <a:path w="381000" h="101600">
                <a:moveTo>
                  <a:pt x="0" y="25400"/>
                </a:moveTo>
                <a:lnTo>
                  <a:pt x="0" y="76200"/>
                </a:lnTo>
                <a:cubicBezTo>
                  <a:pt x="0" y="90228"/>
                  <a:pt x="11372" y="101600"/>
                  <a:pt x="25400" y="101600"/>
                </a:cubicBezTo>
                <a:lnTo>
                  <a:pt x="355600" y="101600"/>
                </a:lnTo>
                <a:cubicBezTo>
                  <a:pt x="369628" y="101600"/>
                  <a:pt x="381000" y="90228"/>
                  <a:pt x="381000" y="76200"/>
                </a:cubicBezTo>
                <a:lnTo>
                  <a:pt x="381000" y="25400"/>
                </a:lnTo>
                <a:cubicBezTo>
                  <a:pt x="381000" y="11372"/>
                  <a:pt x="369628" y="0"/>
                  <a:pt x="355600" y="0"/>
                </a:cubicBezTo>
                <a:lnTo>
                  <a:pt x="25400" y="0"/>
                </a:lnTo>
                <a:cubicBezTo>
                  <a:pt x="11372" y="0"/>
                  <a:pt x="0" y="11372"/>
                  <a:pt x="0" y="25400"/>
                </a:cubicBezTo>
                <a:close/>
              </a:path>
            </a:pathLst>
          </a:custGeom>
          <a:noFill/>
          <a:ln w="25400">
            <a:solidFill>
              <a:srgbClr val="2E5C55"/>
            </a:solidFill>
          </a:ln>
        </p:spPr>
      </p:sp>
      <p:sp>
        <p:nvSpPr>
          <p:cNvPr id="23" name="Freeform 23"/>
          <p:cNvSpPr/>
          <p:nvPr/>
        </p:nvSpPr>
        <p:spPr>
          <a:xfrm>
            <a:off x="13931900" y="4597400"/>
            <a:ext cx="381000" cy="101600"/>
          </a:xfrm>
          <a:custGeom>
            <a:avLst/>
            <a:gdLst/>
            <a:ahLst/>
            <a:cxnLst/>
            <a:rect l="l" t="t" r="r" b="b"/>
            <a:pathLst>
              <a:path w="381000" h="101600">
                <a:moveTo>
                  <a:pt x="0" y="25400"/>
                </a:moveTo>
                <a:lnTo>
                  <a:pt x="0" y="76200"/>
                </a:lnTo>
                <a:cubicBezTo>
                  <a:pt x="0" y="90228"/>
                  <a:pt x="11372" y="101600"/>
                  <a:pt x="25400" y="101600"/>
                </a:cubicBezTo>
                <a:lnTo>
                  <a:pt x="355600" y="101600"/>
                </a:lnTo>
                <a:cubicBezTo>
                  <a:pt x="369628" y="101600"/>
                  <a:pt x="381000" y="90228"/>
                  <a:pt x="381000" y="76200"/>
                </a:cubicBezTo>
                <a:lnTo>
                  <a:pt x="381000" y="25400"/>
                </a:lnTo>
                <a:cubicBezTo>
                  <a:pt x="381000" y="11372"/>
                  <a:pt x="369628" y="0"/>
                  <a:pt x="355600" y="0"/>
                </a:cubicBezTo>
                <a:lnTo>
                  <a:pt x="25400" y="0"/>
                </a:lnTo>
                <a:cubicBezTo>
                  <a:pt x="11372" y="0"/>
                  <a:pt x="0" y="11372"/>
                  <a:pt x="0" y="25400"/>
                </a:cubicBezTo>
                <a:close/>
              </a:path>
            </a:pathLst>
          </a:custGeom>
          <a:noFill/>
          <a:ln w="25400">
            <a:solidFill>
              <a:srgbClr val="2E5C55"/>
            </a:solidFill>
          </a:ln>
        </p:spPr>
      </p:sp>
      <p:sp>
        <p:nvSpPr>
          <p:cNvPr id="24" name="Freeform 24"/>
          <p:cNvSpPr/>
          <p:nvPr/>
        </p:nvSpPr>
        <p:spPr>
          <a:xfrm>
            <a:off x="13931900" y="4749800"/>
            <a:ext cx="381000" cy="101600"/>
          </a:xfrm>
          <a:custGeom>
            <a:avLst/>
            <a:gdLst/>
            <a:ahLst/>
            <a:cxnLst/>
            <a:rect l="l" t="t" r="r" b="b"/>
            <a:pathLst>
              <a:path w="381000" h="101600">
                <a:moveTo>
                  <a:pt x="0" y="25400"/>
                </a:moveTo>
                <a:lnTo>
                  <a:pt x="0" y="76200"/>
                </a:lnTo>
                <a:cubicBezTo>
                  <a:pt x="0" y="90228"/>
                  <a:pt x="11372" y="101600"/>
                  <a:pt x="25400" y="101600"/>
                </a:cubicBezTo>
                <a:lnTo>
                  <a:pt x="355600" y="101600"/>
                </a:lnTo>
                <a:cubicBezTo>
                  <a:pt x="369628" y="101600"/>
                  <a:pt x="381000" y="90228"/>
                  <a:pt x="381000" y="76200"/>
                </a:cubicBezTo>
                <a:lnTo>
                  <a:pt x="381000" y="25400"/>
                </a:lnTo>
                <a:cubicBezTo>
                  <a:pt x="381000" y="11372"/>
                  <a:pt x="369628" y="0"/>
                  <a:pt x="355600" y="0"/>
                </a:cubicBezTo>
                <a:lnTo>
                  <a:pt x="25400" y="0"/>
                </a:lnTo>
                <a:cubicBezTo>
                  <a:pt x="11372" y="0"/>
                  <a:pt x="0" y="11372"/>
                  <a:pt x="0" y="25400"/>
                </a:cubicBezTo>
                <a:close/>
              </a:path>
            </a:pathLst>
          </a:custGeom>
          <a:noFill/>
          <a:ln w="25400">
            <a:solidFill>
              <a:srgbClr val="2E5C55"/>
            </a:solidFill>
          </a:ln>
        </p:spPr>
      </p:sp>
      <p:sp>
        <p:nvSpPr>
          <p:cNvPr id="25" name="Freeform 25"/>
          <p:cNvSpPr/>
          <p:nvPr/>
        </p:nvSpPr>
        <p:spPr>
          <a:xfrm>
            <a:off x="13989050" y="447675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8100" h="38100">
                <a:moveTo>
                  <a:pt x="38100" y="19050"/>
                </a:moveTo>
                <a:cubicBezTo>
                  <a:pt x="38100" y="29571"/>
                  <a:pt x="29571" y="38100"/>
                  <a:pt x="19050" y="38100"/>
                </a:cubicBezTo>
                <a:cubicBezTo>
                  <a:pt x="8529" y="38100"/>
                  <a:pt x="0" y="29571"/>
                  <a:pt x="0" y="19050"/>
                </a:cubicBezTo>
                <a:cubicBezTo>
                  <a:pt x="0" y="8529"/>
                  <a:pt x="8529" y="0"/>
                  <a:pt x="19050" y="0"/>
                </a:cubicBezTo>
                <a:cubicBezTo>
                  <a:pt x="29571" y="0"/>
                  <a:pt x="38100" y="8529"/>
                  <a:pt x="38100" y="19050"/>
                </a:cubicBezTo>
                <a:close/>
              </a:path>
            </a:pathLst>
          </a:custGeom>
          <a:solidFill>
            <a:srgbClr val="2E5C55"/>
          </a:solidFill>
          <a:ln>
            <a:noFill/>
          </a:ln>
        </p:spPr>
      </p:sp>
      <p:sp>
        <p:nvSpPr>
          <p:cNvPr id="26" name="Freeform 26"/>
          <p:cNvSpPr/>
          <p:nvPr/>
        </p:nvSpPr>
        <p:spPr>
          <a:xfrm>
            <a:off x="13989050" y="462915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8100" h="38100">
                <a:moveTo>
                  <a:pt x="38100" y="19050"/>
                </a:moveTo>
                <a:cubicBezTo>
                  <a:pt x="38100" y="29571"/>
                  <a:pt x="29571" y="38100"/>
                  <a:pt x="19050" y="38100"/>
                </a:cubicBezTo>
                <a:cubicBezTo>
                  <a:pt x="8529" y="38100"/>
                  <a:pt x="0" y="29571"/>
                  <a:pt x="0" y="19050"/>
                </a:cubicBezTo>
                <a:cubicBezTo>
                  <a:pt x="0" y="8529"/>
                  <a:pt x="8529" y="0"/>
                  <a:pt x="19050" y="0"/>
                </a:cubicBezTo>
                <a:cubicBezTo>
                  <a:pt x="29571" y="0"/>
                  <a:pt x="38100" y="8529"/>
                  <a:pt x="38100" y="19050"/>
                </a:cubicBezTo>
                <a:close/>
              </a:path>
            </a:pathLst>
          </a:custGeom>
          <a:solidFill>
            <a:srgbClr val="2E5C55"/>
          </a:solidFill>
          <a:ln>
            <a:noFill/>
          </a:ln>
        </p:spPr>
      </p:sp>
      <p:sp>
        <p:nvSpPr>
          <p:cNvPr id="27" name="Freeform 27"/>
          <p:cNvSpPr/>
          <p:nvPr/>
        </p:nvSpPr>
        <p:spPr>
          <a:xfrm>
            <a:off x="13989050" y="478155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8100" h="38100">
                <a:moveTo>
                  <a:pt x="38100" y="19050"/>
                </a:moveTo>
                <a:cubicBezTo>
                  <a:pt x="38100" y="29571"/>
                  <a:pt x="29571" y="38100"/>
                  <a:pt x="19050" y="38100"/>
                </a:cubicBezTo>
                <a:cubicBezTo>
                  <a:pt x="8529" y="38100"/>
                  <a:pt x="0" y="29571"/>
                  <a:pt x="0" y="19050"/>
                </a:cubicBezTo>
                <a:cubicBezTo>
                  <a:pt x="0" y="8529"/>
                  <a:pt x="8529" y="0"/>
                  <a:pt x="19050" y="0"/>
                </a:cubicBezTo>
                <a:cubicBezTo>
                  <a:pt x="29571" y="0"/>
                  <a:pt x="38100" y="8529"/>
                  <a:pt x="38100" y="19050"/>
                </a:cubicBezTo>
                <a:close/>
              </a:path>
            </a:pathLst>
          </a:custGeom>
          <a:solidFill>
            <a:srgbClr val="2E5C55"/>
          </a:solidFill>
          <a:ln>
            <a:noFill/>
          </a:ln>
        </p:spPr>
      </p:sp>
      <p:sp>
        <p:nvSpPr>
          <p:cNvPr id="28" name="Freeform 28"/>
          <p:cNvSpPr/>
          <p:nvPr/>
        </p:nvSpPr>
        <p:spPr>
          <a:xfrm>
            <a:off x="5715000" y="5461000"/>
            <a:ext cx="8890000" cy="1117600"/>
          </a:xfrm>
          <a:custGeom>
            <a:avLst/>
            <a:gdLst/>
            <a:ahLst/>
            <a:cxnLst/>
            <a:rect l="l" t="t" r="r" b="b"/>
            <a:pathLst>
              <a:path w="8890000" h="1117600">
                <a:moveTo>
                  <a:pt x="0" y="101600"/>
                </a:moveTo>
                <a:lnTo>
                  <a:pt x="0" y="1016000"/>
                </a:lnTo>
                <a:cubicBezTo>
                  <a:pt x="0" y="1072112"/>
                  <a:pt x="45488" y="1117600"/>
                  <a:pt x="101600" y="1117600"/>
                </a:cubicBezTo>
                <a:lnTo>
                  <a:pt x="8788400" y="1117600"/>
                </a:lnTo>
                <a:cubicBezTo>
                  <a:pt x="8844512" y="1117600"/>
                  <a:pt x="8890000" y="1072112"/>
                  <a:pt x="8890000" y="1016000"/>
                </a:cubicBezTo>
                <a:lnTo>
                  <a:pt x="8890000" y="101600"/>
                </a:lnTo>
                <a:cubicBezTo>
                  <a:pt x="8890000" y="45488"/>
                  <a:pt x="8844512" y="0"/>
                  <a:pt x="8788400" y="0"/>
                </a:cubicBezTo>
                <a:lnTo>
                  <a:pt x="101600" y="0"/>
                </a:lnTo>
                <a:cubicBezTo>
                  <a:pt x="45488" y="0"/>
                  <a:pt x="0" y="45488"/>
                  <a:pt x="0" y="10160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  <a:effectLst>
            <a:outerShdw blurRad="304800" dist="101600" dir="5400000" rotWithShape="0">
              <a:srgbClr val="2E5C55">
                <a:alpha val="5098"/>
              </a:srgbClr>
            </a:outerShdw>
          </a:effectLst>
        </p:spPr>
      </p:sp>
      <p:sp>
        <p:nvSpPr>
          <p:cNvPr id="29" name="Freeform 29"/>
          <p:cNvSpPr/>
          <p:nvPr/>
        </p:nvSpPr>
        <p:spPr>
          <a:xfrm>
            <a:off x="5753100" y="5765800"/>
            <a:ext cx="0" cy="508000"/>
          </a:xfrm>
          <a:custGeom>
            <a:avLst/>
            <a:gdLst/>
            <a:ahLst/>
            <a:cxnLst/>
            <a:rect l="l" t="t" r="r" b="b"/>
            <a:pathLst>
              <a:path h="508000">
                <a:moveTo>
                  <a:pt x="0" y="0"/>
                </a:moveTo>
                <a:lnTo>
                  <a:pt x="0" y="508000"/>
                </a:lnTo>
              </a:path>
            </a:pathLst>
          </a:custGeom>
          <a:noFill/>
          <a:ln w="76200">
            <a:solidFill>
              <a:srgbClr val="2E5C55"/>
            </a:solidFill>
          </a:ln>
        </p:spPr>
      </p:sp>
      <p:sp>
        <p:nvSpPr>
          <p:cNvPr id="30" name="Freeform 30"/>
          <p:cNvSpPr/>
          <p:nvPr/>
        </p:nvSpPr>
        <p:spPr>
          <a:xfrm>
            <a:off x="10375900" y="6032500"/>
            <a:ext cx="76200" cy="76200"/>
          </a:xfrm>
          <a:custGeom>
            <a:avLst/>
            <a:gdLst/>
            <a:ahLst/>
            <a:cxnLst/>
            <a:rect l="l" t="t" r="r" b="b"/>
            <a:pathLst>
              <a:path w="76200" h="76200">
                <a:moveTo>
                  <a:pt x="76200" y="38100"/>
                </a:moveTo>
                <a:cubicBezTo>
                  <a:pt x="76200" y="59142"/>
                  <a:pt x="59142" y="76200"/>
                  <a:pt x="38100" y="76200"/>
                </a:cubicBezTo>
                <a:cubicBezTo>
                  <a:pt x="17058" y="76200"/>
                  <a:pt x="0" y="59142"/>
                  <a:pt x="0" y="38100"/>
                </a:cubicBezTo>
                <a:cubicBezTo>
                  <a:pt x="0" y="17058"/>
                  <a:pt x="17058" y="0"/>
                  <a:pt x="38100" y="0"/>
                </a:cubicBezTo>
                <a:cubicBezTo>
                  <a:pt x="59142" y="0"/>
                  <a:pt x="76200" y="17058"/>
                  <a:pt x="76200" y="38100"/>
                </a:cubicBezTo>
                <a:close/>
              </a:path>
            </a:pathLst>
          </a:custGeom>
          <a:solidFill>
            <a:srgbClr val="D8E2E9"/>
          </a:solidFill>
          <a:ln>
            <a:noFill/>
          </a:ln>
        </p:spPr>
      </p:sp>
      <p:sp>
        <p:nvSpPr>
          <p:cNvPr id="31" name="Freeform 31"/>
          <p:cNvSpPr/>
          <p:nvPr/>
        </p:nvSpPr>
        <p:spPr>
          <a:xfrm>
            <a:off x="13970000" y="5842000"/>
            <a:ext cx="304800" cy="355600"/>
          </a:xfrm>
          <a:custGeom>
            <a:avLst/>
            <a:gdLst/>
            <a:ahLst/>
            <a:cxnLst/>
            <a:rect l="l" t="t" r="r" b="b"/>
            <a:pathLst>
              <a:path w="304800" h="355600">
                <a:moveTo>
                  <a:pt x="152400" y="0"/>
                </a:moveTo>
                <a:lnTo>
                  <a:pt x="304800" y="50800"/>
                </a:lnTo>
                <a:lnTo>
                  <a:pt x="304800" y="177800"/>
                </a:lnTo>
                <a:cubicBezTo>
                  <a:pt x="304800" y="279400"/>
                  <a:pt x="152400" y="355600"/>
                  <a:pt x="152400" y="355600"/>
                </a:cubicBezTo>
                <a:cubicBezTo>
                  <a:pt x="152400" y="355600"/>
                  <a:pt x="0" y="279400"/>
                  <a:pt x="0" y="177800"/>
                </a:cubicBezTo>
                <a:lnTo>
                  <a:pt x="0" y="50800"/>
                </a:lnTo>
                <a:close/>
              </a:path>
            </a:pathLst>
          </a:custGeom>
          <a:noFill/>
          <a:ln w="25400">
            <a:solidFill>
              <a:srgbClr val="2E5C55"/>
            </a:solidFill>
          </a:ln>
        </p:spPr>
      </p:sp>
      <p:sp>
        <p:nvSpPr>
          <p:cNvPr id="32" name="Freeform 32"/>
          <p:cNvSpPr/>
          <p:nvPr/>
        </p:nvSpPr>
        <p:spPr>
          <a:xfrm>
            <a:off x="14046200" y="5943600"/>
            <a:ext cx="152400" cy="127000"/>
          </a:xfrm>
          <a:custGeom>
            <a:avLst/>
            <a:gdLst/>
            <a:ahLst/>
            <a:cxnLst/>
            <a:rect l="l" t="t" r="r" b="b"/>
            <a:pathLst>
              <a:path w="152400" h="127000">
                <a:moveTo>
                  <a:pt x="0" y="76200"/>
                </a:moveTo>
                <a:lnTo>
                  <a:pt x="50800" y="127000"/>
                </a:lnTo>
                <a:lnTo>
                  <a:pt x="152400" y="0"/>
                </a:lnTo>
              </a:path>
            </a:pathLst>
          </a:custGeom>
          <a:noFill/>
          <a:ln w="25400">
            <a:solidFill>
              <a:srgbClr val="2E5C55"/>
            </a:solidFill>
          </a:ln>
        </p:spPr>
      </p:sp>
      <p:sp>
        <p:nvSpPr>
          <p:cNvPr id="33" name="Freeform 33"/>
          <p:cNvSpPr/>
          <p:nvPr/>
        </p:nvSpPr>
        <p:spPr>
          <a:xfrm>
            <a:off x="5715000" y="6858000"/>
            <a:ext cx="8890000" cy="1117600"/>
          </a:xfrm>
          <a:custGeom>
            <a:avLst/>
            <a:gdLst/>
            <a:ahLst/>
            <a:cxnLst/>
            <a:rect l="l" t="t" r="r" b="b"/>
            <a:pathLst>
              <a:path w="8890000" h="1117600">
                <a:moveTo>
                  <a:pt x="0" y="101600"/>
                </a:moveTo>
                <a:lnTo>
                  <a:pt x="0" y="1016000"/>
                </a:lnTo>
                <a:cubicBezTo>
                  <a:pt x="0" y="1072112"/>
                  <a:pt x="45488" y="1117600"/>
                  <a:pt x="101600" y="1117600"/>
                </a:cubicBezTo>
                <a:lnTo>
                  <a:pt x="8788400" y="1117600"/>
                </a:lnTo>
                <a:cubicBezTo>
                  <a:pt x="8844512" y="1117600"/>
                  <a:pt x="8890000" y="1072112"/>
                  <a:pt x="8890000" y="1016000"/>
                </a:cubicBezTo>
                <a:lnTo>
                  <a:pt x="8890000" y="101600"/>
                </a:lnTo>
                <a:cubicBezTo>
                  <a:pt x="8890000" y="45488"/>
                  <a:pt x="8844512" y="0"/>
                  <a:pt x="8788400" y="0"/>
                </a:cubicBezTo>
                <a:lnTo>
                  <a:pt x="101600" y="0"/>
                </a:lnTo>
                <a:cubicBezTo>
                  <a:pt x="45488" y="0"/>
                  <a:pt x="0" y="45488"/>
                  <a:pt x="0" y="10160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  <a:effectLst>
            <a:outerShdw blurRad="304800" dist="101600" dir="5400000" rotWithShape="0">
              <a:srgbClr val="2E5C55">
                <a:alpha val="5098"/>
              </a:srgbClr>
            </a:outerShdw>
          </a:effectLst>
        </p:spPr>
      </p:sp>
      <p:sp>
        <p:nvSpPr>
          <p:cNvPr id="34" name="Freeform 34"/>
          <p:cNvSpPr/>
          <p:nvPr/>
        </p:nvSpPr>
        <p:spPr>
          <a:xfrm>
            <a:off x="5753100" y="7162800"/>
            <a:ext cx="0" cy="508000"/>
          </a:xfrm>
          <a:custGeom>
            <a:avLst/>
            <a:gdLst/>
            <a:ahLst/>
            <a:cxnLst/>
            <a:rect l="l" t="t" r="r" b="b"/>
            <a:pathLst>
              <a:path h="508000">
                <a:moveTo>
                  <a:pt x="0" y="0"/>
                </a:moveTo>
                <a:lnTo>
                  <a:pt x="0" y="508000"/>
                </a:lnTo>
              </a:path>
            </a:pathLst>
          </a:custGeom>
          <a:noFill/>
          <a:ln w="76200">
            <a:solidFill>
              <a:srgbClr val="2E5C55"/>
            </a:solidFill>
          </a:ln>
        </p:spPr>
      </p:sp>
      <p:sp>
        <p:nvSpPr>
          <p:cNvPr id="35" name="Freeform 35"/>
          <p:cNvSpPr/>
          <p:nvPr/>
        </p:nvSpPr>
        <p:spPr>
          <a:xfrm>
            <a:off x="10375900" y="7429500"/>
            <a:ext cx="76200" cy="76200"/>
          </a:xfrm>
          <a:custGeom>
            <a:avLst/>
            <a:gdLst/>
            <a:ahLst/>
            <a:cxnLst/>
            <a:rect l="l" t="t" r="r" b="b"/>
            <a:pathLst>
              <a:path w="76200" h="76200">
                <a:moveTo>
                  <a:pt x="76200" y="38100"/>
                </a:moveTo>
                <a:cubicBezTo>
                  <a:pt x="76200" y="59142"/>
                  <a:pt x="59142" y="76200"/>
                  <a:pt x="38100" y="76200"/>
                </a:cubicBezTo>
                <a:cubicBezTo>
                  <a:pt x="17058" y="76200"/>
                  <a:pt x="0" y="59142"/>
                  <a:pt x="0" y="38100"/>
                </a:cubicBezTo>
                <a:cubicBezTo>
                  <a:pt x="0" y="17058"/>
                  <a:pt x="17058" y="0"/>
                  <a:pt x="38100" y="0"/>
                </a:cubicBezTo>
                <a:cubicBezTo>
                  <a:pt x="59142" y="0"/>
                  <a:pt x="76200" y="17058"/>
                  <a:pt x="76200" y="38100"/>
                </a:cubicBezTo>
                <a:close/>
              </a:path>
            </a:pathLst>
          </a:custGeom>
          <a:solidFill>
            <a:srgbClr val="D8E2E9"/>
          </a:solidFill>
          <a:ln>
            <a:noFill/>
          </a:ln>
        </p:spPr>
      </p:sp>
      <p:sp>
        <p:nvSpPr>
          <p:cNvPr id="36" name="Freeform 36"/>
          <p:cNvSpPr/>
          <p:nvPr/>
        </p:nvSpPr>
        <p:spPr>
          <a:xfrm>
            <a:off x="13995400" y="7289800"/>
            <a:ext cx="254000" cy="254000"/>
          </a:xfrm>
          <a:custGeom>
            <a:avLst/>
            <a:gdLst/>
            <a:ahLst/>
            <a:cxnLst/>
            <a:rect l="l" t="t" r="r" b="b"/>
            <a:pathLst>
              <a:path w="254000" h="254000">
                <a:moveTo>
                  <a:pt x="254000" y="127000"/>
                </a:moveTo>
                <a:cubicBezTo>
                  <a:pt x="254000" y="197140"/>
                  <a:pt x="197140" y="254000"/>
                  <a:pt x="127000" y="254000"/>
                </a:cubicBezTo>
                <a:cubicBezTo>
                  <a:pt x="56860" y="254000"/>
                  <a:pt x="0" y="197140"/>
                  <a:pt x="0" y="127000"/>
                </a:cubicBezTo>
                <a:cubicBezTo>
                  <a:pt x="0" y="56860"/>
                  <a:pt x="56860" y="0"/>
                  <a:pt x="127000" y="0"/>
                </a:cubicBezTo>
                <a:cubicBezTo>
                  <a:pt x="197140" y="0"/>
                  <a:pt x="254000" y="56860"/>
                  <a:pt x="254000" y="127000"/>
                </a:cubicBezTo>
                <a:close/>
              </a:path>
            </a:pathLst>
          </a:custGeom>
          <a:noFill/>
          <a:ln w="25400">
            <a:solidFill>
              <a:srgbClr val="2E5C55"/>
            </a:solidFill>
          </a:ln>
        </p:spPr>
      </p:sp>
      <p:sp>
        <p:nvSpPr>
          <p:cNvPr id="37" name="Freeform 37"/>
          <p:cNvSpPr/>
          <p:nvPr/>
        </p:nvSpPr>
        <p:spPr>
          <a:xfrm>
            <a:off x="14084300" y="7378700"/>
            <a:ext cx="76200" cy="76200"/>
          </a:xfrm>
          <a:custGeom>
            <a:avLst/>
            <a:gdLst/>
            <a:ahLst/>
            <a:cxnLst/>
            <a:rect l="l" t="t" r="r" b="b"/>
            <a:pathLst>
              <a:path w="76200" h="76200">
                <a:moveTo>
                  <a:pt x="76200" y="38100"/>
                </a:moveTo>
                <a:cubicBezTo>
                  <a:pt x="76200" y="59142"/>
                  <a:pt x="59142" y="76200"/>
                  <a:pt x="38100" y="76200"/>
                </a:cubicBezTo>
                <a:cubicBezTo>
                  <a:pt x="17058" y="76200"/>
                  <a:pt x="0" y="59142"/>
                  <a:pt x="0" y="38100"/>
                </a:cubicBezTo>
                <a:cubicBezTo>
                  <a:pt x="0" y="17058"/>
                  <a:pt x="17058" y="0"/>
                  <a:pt x="38100" y="0"/>
                </a:cubicBezTo>
                <a:cubicBezTo>
                  <a:pt x="59142" y="0"/>
                  <a:pt x="76200" y="17058"/>
                  <a:pt x="76200" y="38100"/>
                </a:cubicBezTo>
                <a:close/>
              </a:path>
            </a:pathLst>
          </a:custGeom>
          <a:solidFill>
            <a:srgbClr val="2E5C55"/>
          </a:solidFill>
          <a:ln>
            <a:noFill/>
          </a:ln>
        </p:spPr>
      </p:sp>
      <p:sp>
        <p:nvSpPr>
          <p:cNvPr id="38" name="Freeform 38"/>
          <p:cNvSpPr/>
          <p:nvPr/>
        </p:nvSpPr>
        <p:spPr>
          <a:xfrm>
            <a:off x="13919200" y="7213600"/>
            <a:ext cx="406400" cy="406400"/>
          </a:xfrm>
          <a:custGeom>
            <a:avLst/>
            <a:gdLst/>
            <a:ahLst/>
            <a:cxnLst/>
            <a:rect l="l" t="t" r="r" b="b"/>
            <a:pathLst>
              <a:path w="406400" h="406400">
                <a:moveTo>
                  <a:pt x="203200" y="76200"/>
                </a:moveTo>
                <a:lnTo>
                  <a:pt x="203200" y="0"/>
                </a:lnTo>
                <a:moveTo>
                  <a:pt x="203200" y="330200"/>
                </a:moveTo>
                <a:lnTo>
                  <a:pt x="203200" y="406400"/>
                </a:lnTo>
                <a:moveTo>
                  <a:pt x="76200" y="203200"/>
                </a:moveTo>
                <a:lnTo>
                  <a:pt x="0" y="203200"/>
                </a:lnTo>
                <a:moveTo>
                  <a:pt x="330200" y="203200"/>
                </a:moveTo>
                <a:lnTo>
                  <a:pt x="406400" y="203200"/>
                </a:lnTo>
              </a:path>
            </a:pathLst>
          </a:custGeom>
          <a:noFill/>
          <a:ln w="25400">
            <a:solidFill>
              <a:srgbClr val="2E5C55"/>
            </a:solidFill>
          </a:ln>
        </p:spPr>
      </p:sp>
      <p:sp>
        <p:nvSpPr>
          <p:cNvPr id="39" name="TextBox 39"/>
          <p:cNvSpPr txBox="1"/>
          <p:nvPr/>
        </p:nvSpPr>
        <p:spPr>
          <a:xfrm>
            <a:off x="1270000" y="850900"/>
            <a:ext cx="763270" cy="24257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1400" b="1" i="0">
                <a:solidFill>
                  <a:srgbClr val="8899A6"/>
                </a:solidFill>
                <a:latin typeface="Arial" panose="020B0604020202020204"/>
              </a:rPr>
              <a:t>PAGE 02</a:t>
            </a:r>
            <a:endParaRPr lang="en-US" sz="1400" b="1" i="0">
              <a:solidFill>
                <a:srgbClr val="8899A6"/>
              </a:solidFill>
              <a:latin typeface="Arial" panose="020B0604020202020204"/>
            </a:endParaRPr>
          </a:p>
        </p:txBody>
      </p:sp>
      <p:sp>
        <p:nvSpPr>
          <p:cNvPr id="40" name="TextBox 40"/>
          <p:cNvSpPr txBox="1"/>
          <p:nvPr/>
        </p:nvSpPr>
        <p:spPr>
          <a:xfrm>
            <a:off x="1016000" y="1943100"/>
            <a:ext cx="4025900" cy="232410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14000" b="1" i="0">
                <a:solidFill>
                  <a:srgbClr val="E5D9C5">
                    <a:alpha val="30196"/>
                  </a:srgbClr>
                </a:solidFill>
                <a:latin typeface="Arial" panose="020B0604020202020204"/>
              </a:rPr>
              <a:t>TOC</a:t>
            </a:r>
            <a:endParaRPr lang="en-US" sz="14000" b="1" i="0">
              <a:solidFill>
                <a:srgbClr val="E5D9C5">
                  <a:alpha val="30196"/>
                </a:srgbClr>
              </a:solidFill>
              <a:latin typeface="Arial" panose="020B0604020202020204"/>
            </a:endParaRPr>
          </a:p>
        </p:txBody>
      </p:sp>
      <p:sp>
        <p:nvSpPr>
          <p:cNvPr id="41" name="TextBox 41"/>
          <p:cNvSpPr txBox="1"/>
          <p:nvPr/>
        </p:nvSpPr>
        <p:spPr>
          <a:xfrm>
            <a:off x="355600" y="3733800"/>
            <a:ext cx="5234940" cy="80264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4800" b="1" i="0">
                <a:solidFill>
                  <a:srgbClr val="2E5C55"/>
                </a:solidFill>
                <a:latin typeface="Arial" panose="020B0604020202020204"/>
              </a:rPr>
              <a:t>Table of Contents</a:t>
            </a:r>
            <a:endParaRPr lang="en-US" sz="4800" b="1" i="0">
              <a:solidFill>
                <a:srgbClr val="2E5C55"/>
              </a:solidFill>
              <a:latin typeface="Arial" panose="020B0604020202020204"/>
            </a:endParaRPr>
          </a:p>
        </p:txBody>
      </p:sp>
      <p:sp>
        <p:nvSpPr>
          <p:cNvPr id="42" name="TextBox 42"/>
          <p:cNvSpPr txBox="1"/>
          <p:nvPr/>
        </p:nvSpPr>
        <p:spPr>
          <a:xfrm>
            <a:off x="1270000" y="4800600"/>
            <a:ext cx="2866390" cy="31369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1800" b="0" i="0">
                <a:solidFill>
                  <a:srgbClr val="8899A6"/>
                </a:solidFill>
                <a:latin typeface="Arial" panose="020B0604020202020204"/>
              </a:rPr>
              <a:t>PRESENTATION OUTLINE</a:t>
            </a:r>
            <a:endParaRPr lang="en-US" sz="1800" b="0" i="0">
              <a:solidFill>
                <a:srgbClr val="8899A6"/>
              </a:solidFill>
              <a:latin typeface="Arial" panose="020B0604020202020204"/>
            </a:endParaRPr>
          </a:p>
        </p:txBody>
      </p:sp>
      <p:sp>
        <p:nvSpPr>
          <p:cNvPr id="43" name="TextBox 43"/>
          <p:cNvSpPr txBox="1"/>
          <p:nvPr/>
        </p:nvSpPr>
        <p:spPr>
          <a:xfrm>
            <a:off x="1270000" y="6032500"/>
            <a:ext cx="3865880" cy="27178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1600" b="0" i="0">
                <a:solidFill>
                  <a:srgbClr val="666666">
                    <a:alpha val="80000"/>
                  </a:srgbClr>
                </a:solidFill>
                <a:latin typeface="Arial" panose="020B0604020202020204"/>
              </a:rPr>
              <a:t>Comprehensive analysis of the project core,</a:t>
            </a:r>
            <a:endParaRPr lang="en-US" sz="1600" b="0" i="0">
              <a:solidFill>
                <a:srgbClr val="666666">
                  <a:alpha val="80000"/>
                </a:srgbClr>
              </a:solidFill>
              <a:latin typeface="Arial" panose="020B0604020202020204"/>
            </a:endParaRPr>
          </a:p>
        </p:txBody>
      </p:sp>
      <p:sp>
        <p:nvSpPr>
          <p:cNvPr id="44" name="TextBox 44"/>
          <p:cNvSpPr txBox="1"/>
          <p:nvPr/>
        </p:nvSpPr>
        <p:spPr>
          <a:xfrm>
            <a:off x="1270000" y="6413500"/>
            <a:ext cx="4107180" cy="27178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1600" b="0" i="0">
                <a:solidFill>
                  <a:srgbClr val="666666">
                    <a:alpha val="80000"/>
                  </a:srgbClr>
                </a:solidFill>
                <a:latin typeface="Arial" panose="020B0604020202020204"/>
              </a:rPr>
              <a:t>From system architecture to cloud deployment,</a:t>
            </a:r>
            <a:endParaRPr lang="en-US" sz="1600" b="0" i="0">
              <a:solidFill>
                <a:srgbClr val="666666">
                  <a:alpha val="80000"/>
                </a:srgbClr>
              </a:solidFill>
              <a:latin typeface="Arial" panose="020B0604020202020204"/>
            </a:endParaRPr>
          </a:p>
        </p:txBody>
      </p:sp>
      <p:sp>
        <p:nvSpPr>
          <p:cNvPr id="45" name="TextBox 45"/>
          <p:cNvSpPr txBox="1"/>
          <p:nvPr/>
        </p:nvSpPr>
        <p:spPr>
          <a:xfrm>
            <a:off x="1270000" y="6794500"/>
            <a:ext cx="4018280" cy="27178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1600" b="0" i="0">
                <a:solidFill>
                  <a:srgbClr val="666666">
                    <a:alpha val="80000"/>
                  </a:srgbClr>
                </a:solidFill>
                <a:latin typeface="Arial" panose="020B0604020202020204"/>
              </a:rPr>
              <a:t>Exploring technical implementation and value.</a:t>
            </a:r>
            <a:endParaRPr lang="en-US" sz="1600" b="0" i="0">
              <a:solidFill>
                <a:srgbClr val="666666">
                  <a:alpha val="80000"/>
                </a:srgbClr>
              </a:solidFill>
              <a:latin typeface="Arial" panose="020B0604020202020204"/>
            </a:endParaRPr>
          </a:p>
        </p:txBody>
      </p:sp>
      <p:sp>
        <p:nvSpPr>
          <p:cNvPr id="46" name="TextBox 46"/>
          <p:cNvSpPr txBox="1"/>
          <p:nvPr/>
        </p:nvSpPr>
        <p:spPr>
          <a:xfrm>
            <a:off x="6096000" y="1562100"/>
            <a:ext cx="576580" cy="60198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3600" b="1" i="0">
                <a:solidFill>
                  <a:srgbClr val="D4C4AB"/>
                </a:solidFill>
                <a:latin typeface="Arial" panose="020B0604020202020204"/>
              </a:rPr>
              <a:t>01</a:t>
            </a:r>
            <a:endParaRPr lang="en-US" sz="3600" b="1" i="0">
              <a:solidFill>
                <a:srgbClr val="D4C4AB"/>
              </a:solidFill>
              <a:latin typeface="Arial" panose="020B0604020202020204"/>
            </a:endParaRPr>
          </a:p>
        </p:txBody>
      </p:sp>
      <p:sp>
        <p:nvSpPr>
          <p:cNvPr id="47" name="TextBox 47"/>
          <p:cNvSpPr txBox="1"/>
          <p:nvPr/>
        </p:nvSpPr>
        <p:spPr>
          <a:xfrm>
            <a:off x="6985000" y="1701800"/>
            <a:ext cx="3420110" cy="37211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2200" b="1" i="0">
                <a:solidFill>
                  <a:srgbClr val="2E5C55"/>
                </a:solidFill>
                <a:latin typeface="Arial" panose="020B0604020202020204"/>
              </a:rPr>
              <a:t>Project Overview &amp; Demo</a:t>
            </a:r>
            <a:endParaRPr lang="en-US" sz="2200" b="1" i="0">
              <a:solidFill>
                <a:srgbClr val="2E5C55"/>
              </a:solidFill>
              <a:latin typeface="Arial" panose="020B0604020202020204"/>
            </a:endParaRPr>
          </a:p>
        </p:txBody>
      </p:sp>
      <p:sp>
        <p:nvSpPr>
          <p:cNvPr id="48" name="TextBox 48"/>
          <p:cNvSpPr txBox="1"/>
          <p:nvPr/>
        </p:nvSpPr>
        <p:spPr>
          <a:xfrm>
            <a:off x="10668000" y="1727200"/>
            <a:ext cx="3818890" cy="31369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1800" b="0" i="0">
                <a:solidFill>
                  <a:srgbClr val="666666"/>
                </a:solidFill>
                <a:latin typeface="Arial" panose="020B0604020202020204"/>
              </a:rPr>
              <a:t>Vision, Core Features &amp; AI Interaction</a:t>
            </a:r>
            <a:endParaRPr lang="en-US" sz="1800" b="0" i="0">
              <a:solidFill>
                <a:srgbClr val="666666"/>
              </a:solidFill>
              <a:latin typeface="Arial" panose="020B0604020202020204"/>
            </a:endParaRPr>
          </a:p>
        </p:txBody>
      </p:sp>
      <p:sp>
        <p:nvSpPr>
          <p:cNvPr id="49" name="TextBox 49"/>
          <p:cNvSpPr txBox="1"/>
          <p:nvPr/>
        </p:nvSpPr>
        <p:spPr>
          <a:xfrm>
            <a:off x="6096000" y="2959100"/>
            <a:ext cx="576580" cy="60198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3600" b="1" i="0">
                <a:solidFill>
                  <a:srgbClr val="D4C4AB"/>
                </a:solidFill>
                <a:latin typeface="Arial" panose="020B0604020202020204"/>
              </a:rPr>
              <a:t>02</a:t>
            </a:r>
            <a:endParaRPr lang="en-US" sz="3600" b="1" i="0">
              <a:solidFill>
                <a:srgbClr val="D4C4AB"/>
              </a:solidFill>
              <a:latin typeface="Arial" panose="020B0604020202020204"/>
            </a:endParaRPr>
          </a:p>
        </p:txBody>
      </p:sp>
      <p:sp>
        <p:nvSpPr>
          <p:cNvPr id="50" name="TextBox 50"/>
          <p:cNvSpPr txBox="1"/>
          <p:nvPr/>
        </p:nvSpPr>
        <p:spPr>
          <a:xfrm>
            <a:off x="6985000" y="3098800"/>
            <a:ext cx="2658110" cy="37211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2200" b="1" i="0">
                <a:solidFill>
                  <a:srgbClr val="2E5C55"/>
                </a:solidFill>
                <a:latin typeface="Arial" panose="020B0604020202020204"/>
              </a:rPr>
              <a:t>System Architecture</a:t>
            </a:r>
            <a:endParaRPr lang="en-US" sz="2200" b="1" i="0">
              <a:solidFill>
                <a:srgbClr val="2E5C55"/>
              </a:solidFill>
              <a:latin typeface="Arial" panose="020B0604020202020204"/>
            </a:endParaRPr>
          </a:p>
        </p:txBody>
      </p:sp>
      <p:sp>
        <p:nvSpPr>
          <p:cNvPr id="51" name="TextBox 51"/>
          <p:cNvSpPr txBox="1"/>
          <p:nvPr/>
        </p:nvSpPr>
        <p:spPr>
          <a:xfrm>
            <a:off x="10668000" y="3124200"/>
            <a:ext cx="3133090" cy="31369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1800" b="0" i="0">
                <a:solidFill>
                  <a:srgbClr val="666666"/>
                </a:solidFill>
                <a:latin typeface="Arial" panose="020B0604020202020204"/>
              </a:rPr>
              <a:t>Tech Stack &amp; Interaction Logic</a:t>
            </a:r>
            <a:endParaRPr lang="en-US" sz="1800" b="0" i="0">
              <a:solidFill>
                <a:srgbClr val="666666"/>
              </a:solidFill>
              <a:latin typeface="Arial" panose="020B0604020202020204"/>
            </a:endParaRPr>
          </a:p>
        </p:txBody>
      </p:sp>
      <p:sp>
        <p:nvSpPr>
          <p:cNvPr id="52" name="TextBox 52"/>
          <p:cNvSpPr txBox="1"/>
          <p:nvPr/>
        </p:nvSpPr>
        <p:spPr>
          <a:xfrm>
            <a:off x="6096000" y="4356100"/>
            <a:ext cx="576580" cy="60198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3600" b="1" i="0">
                <a:solidFill>
                  <a:srgbClr val="D4C4AB"/>
                </a:solidFill>
                <a:latin typeface="Arial" panose="020B0604020202020204"/>
              </a:rPr>
              <a:t>03</a:t>
            </a:r>
            <a:endParaRPr lang="en-US" sz="3600" b="1" i="0">
              <a:solidFill>
                <a:srgbClr val="D4C4AB"/>
              </a:solidFill>
              <a:latin typeface="Arial" panose="020B0604020202020204"/>
            </a:endParaRPr>
          </a:p>
        </p:txBody>
      </p:sp>
      <p:sp>
        <p:nvSpPr>
          <p:cNvPr id="53" name="TextBox 53"/>
          <p:cNvSpPr txBox="1"/>
          <p:nvPr/>
        </p:nvSpPr>
        <p:spPr>
          <a:xfrm>
            <a:off x="6985000" y="4495800"/>
            <a:ext cx="2620010" cy="37211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2200" b="1" i="0">
                <a:solidFill>
                  <a:srgbClr val="2E5C55"/>
                </a:solidFill>
                <a:latin typeface="Arial" panose="020B0604020202020204"/>
              </a:rPr>
              <a:t>Cloud Infrastructure</a:t>
            </a:r>
            <a:endParaRPr lang="en-US" sz="2200" b="1" i="0">
              <a:solidFill>
                <a:srgbClr val="2E5C55"/>
              </a:solidFill>
              <a:latin typeface="Arial" panose="020B0604020202020204"/>
            </a:endParaRPr>
          </a:p>
        </p:txBody>
      </p:sp>
      <p:sp>
        <p:nvSpPr>
          <p:cNvPr id="54" name="TextBox 54"/>
          <p:cNvSpPr txBox="1"/>
          <p:nvPr/>
        </p:nvSpPr>
        <p:spPr>
          <a:xfrm>
            <a:off x="10668000" y="4521200"/>
            <a:ext cx="3145790" cy="31369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1800" b="0" i="0">
                <a:solidFill>
                  <a:srgbClr val="666666"/>
                </a:solidFill>
                <a:latin typeface="Arial" panose="020B0604020202020204"/>
              </a:rPr>
              <a:t>Database &amp; Managed Platform</a:t>
            </a:r>
            <a:endParaRPr lang="en-US" sz="1800" b="0" i="0">
              <a:solidFill>
                <a:srgbClr val="666666"/>
              </a:solidFill>
              <a:latin typeface="Arial" panose="020B0604020202020204"/>
            </a:endParaRPr>
          </a:p>
        </p:txBody>
      </p:sp>
      <p:sp>
        <p:nvSpPr>
          <p:cNvPr id="55" name="TextBox 55"/>
          <p:cNvSpPr txBox="1"/>
          <p:nvPr/>
        </p:nvSpPr>
        <p:spPr>
          <a:xfrm>
            <a:off x="6096000" y="5753100"/>
            <a:ext cx="576580" cy="60198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3600" b="1" i="0">
                <a:solidFill>
                  <a:srgbClr val="D4C4AB"/>
                </a:solidFill>
                <a:latin typeface="Arial" panose="020B0604020202020204"/>
              </a:rPr>
              <a:t>04</a:t>
            </a:r>
            <a:endParaRPr lang="en-US" sz="3600" b="1" i="0">
              <a:solidFill>
                <a:srgbClr val="D4C4AB"/>
              </a:solidFill>
              <a:latin typeface="Arial" panose="020B0604020202020204"/>
            </a:endParaRPr>
          </a:p>
        </p:txBody>
      </p:sp>
      <p:sp>
        <p:nvSpPr>
          <p:cNvPr id="56" name="TextBox 56"/>
          <p:cNvSpPr txBox="1"/>
          <p:nvPr/>
        </p:nvSpPr>
        <p:spPr>
          <a:xfrm>
            <a:off x="6985000" y="5892800"/>
            <a:ext cx="2937510" cy="37211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2200" b="1" i="0">
                <a:solidFill>
                  <a:srgbClr val="2E5C55"/>
                </a:solidFill>
                <a:latin typeface="Arial" panose="020B0604020202020204"/>
              </a:rPr>
              <a:t>Automation &amp; Security</a:t>
            </a:r>
            <a:endParaRPr lang="en-US" sz="2200" b="1" i="0">
              <a:solidFill>
                <a:srgbClr val="2E5C55"/>
              </a:solidFill>
              <a:latin typeface="Arial" panose="020B0604020202020204"/>
            </a:endParaRPr>
          </a:p>
        </p:txBody>
      </p:sp>
      <p:sp>
        <p:nvSpPr>
          <p:cNvPr id="57" name="TextBox 57"/>
          <p:cNvSpPr txBox="1"/>
          <p:nvPr/>
        </p:nvSpPr>
        <p:spPr>
          <a:xfrm>
            <a:off x="10668000" y="5918200"/>
            <a:ext cx="3171190" cy="31369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1800" b="0" i="0">
                <a:solidFill>
                  <a:srgbClr val="666666"/>
                </a:solidFill>
                <a:latin typeface="Arial" panose="020B0604020202020204"/>
              </a:rPr>
              <a:t>CI/CD, Resources &amp; Protection</a:t>
            </a:r>
            <a:endParaRPr lang="en-US" sz="1800" b="0" i="0">
              <a:solidFill>
                <a:srgbClr val="666666"/>
              </a:solidFill>
              <a:latin typeface="Arial" panose="020B0604020202020204"/>
            </a:endParaRPr>
          </a:p>
        </p:txBody>
      </p:sp>
      <p:sp>
        <p:nvSpPr>
          <p:cNvPr id="58" name="TextBox 58"/>
          <p:cNvSpPr txBox="1"/>
          <p:nvPr/>
        </p:nvSpPr>
        <p:spPr>
          <a:xfrm>
            <a:off x="6096000" y="7150100"/>
            <a:ext cx="576580" cy="60198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3600" b="1" i="0">
                <a:solidFill>
                  <a:srgbClr val="D4C4AB"/>
                </a:solidFill>
                <a:latin typeface="Arial" panose="020B0604020202020204"/>
              </a:rPr>
              <a:t>05</a:t>
            </a:r>
            <a:endParaRPr lang="en-US" sz="3600" b="1" i="0">
              <a:solidFill>
                <a:srgbClr val="D4C4AB"/>
              </a:solidFill>
              <a:latin typeface="Arial" panose="020B0604020202020204"/>
            </a:endParaRPr>
          </a:p>
        </p:txBody>
      </p:sp>
      <p:sp>
        <p:nvSpPr>
          <p:cNvPr id="59" name="TextBox 59"/>
          <p:cNvSpPr txBox="1"/>
          <p:nvPr/>
        </p:nvSpPr>
        <p:spPr>
          <a:xfrm>
            <a:off x="6985000" y="7289800"/>
            <a:ext cx="2645410" cy="37211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2200" b="1" i="0">
                <a:solidFill>
                  <a:srgbClr val="2E5C55"/>
                </a:solidFill>
                <a:latin typeface="Arial" panose="020B0604020202020204"/>
              </a:rPr>
              <a:t>Summary &amp; Outlook</a:t>
            </a:r>
            <a:endParaRPr lang="en-US" sz="2200" b="1" i="0">
              <a:solidFill>
                <a:srgbClr val="2E5C55"/>
              </a:solidFill>
              <a:latin typeface="Arial" panose="020B0604020202020204"/>
            </a:endParaRPr>
          </a:p>
        </p:txBody>
      </p:sp>
      <p:sp>
        <p:nvSpPr>
          <p:cNvPr id="60" name="TextBox 60"/>
          <p:cNvSpPr txBox="1"/>
          <p:nvPr/>
        </p:nvSpPr>
        <p:spPr>
          <a:xfrm>
            <a:off x="10668000" y="7315200"/>
            <a:ext cx="3475990" cy="31369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1800" b="0" i="0">
                <a:solidFill>
                  <a:srgbClr val="666666"/>
                </a:solidFill>
                <a:latin typeface="Arial" panose="020B0604020202020204"/>
              </a:rPr>
              <a:t>Phase Review &amp; Future Roadmap</a:t>
            </a:r>
            <a:endParaRPr lang="en-US" sz="1800" b="0" i="0">
              <a:solidFill>
                <a:srgbClr val="666666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6256000" cy="9144000"/>
          </a:xfrm>
          <a:custGeom>
            <a:avLst/>
            <a:gdLst/>
            <a:ahLst/>
            <a:cxnLst/>
            <a:rect l="l" t="t" r="r" b="b"/>
            <a:pathLst>
              <a:path w="16256000" h="9144000">
                <a:moveTo>
                  <a:pt x="0" y="0"/>
                </a:moveTo>
                <a:lnTo>
                  <a:pt x="16256000" y="0"/>
                </a:lnTo>
                <a:lnTo>
                  <a:pt x="16256000" y="9144000"/>
                </a:lnTo>
                <a:lnTo>
                  <a:pt x="0" y="9144000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rgbClr val="F4F5F7"/>
              </a:gs>
              <a:gs pos="100000">
                <a:srgbClr val="EAECEF"/>
              </a:gs>
            </a:gsLst>
            <a:lin ang="2700000" scaled="1"/>
          </a:gra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1905000" y="0"/>
            <a:ext cx="0" cy="9144000"/>
          </a:xfrm>
          <a:custGeom>
            <a:avLst/>
            <a:gdLst/>
            <a:ahLst/>
            <a:cxnLst/>
            <a:rect l="l" t="t" r="r" b="b"/>
            <a:pathLst>
              <a:path h="9144000">
                <a:moveTo>
                  <a:pt x="0" y="0"/>
                </a:moveTo>
                <a:lnTo>
                  <a:pt x="0" y="9144000"/>
                </a:lnTo>
              </a:path>
            </a:pathLst>
          </a:custGeom>
          <a:noFill/>
          <a:ln w="12700">
            <a:solidFill>
              <a:srgbClr val="2E5C55">
                <a:alpha val="5882"/>
              </a:srgbClr>
            </a:solidFill>
          </a:ln>
        </p:spPr>
      </p:sp>
      <p:sp>
        <p:nvSpPr>
          <p:cNvPr id="4" name="Freeform 4"/>
          <p:cNvSpPr/>
          <p:nvPr/>
        </p:nvSpPr>
        <p:spPr>
          <a:xfrm>
            <a:off x="0" y="7620000"/>
            <a:ext cx="16256000" cy="0"/>
          </a:xfrm>
          <a:custGeom>
            <a:avLst/>
            <a:gdLst/>
            <a:ahLst/>
            <a:cxnLst/>
            <a:rect l="l" t="t" r="r" b="b"/>
            <a:pathLst>
              <a:path w="16256000">
                <a:moveTo>
                  <a:pt x="0" y="0"/>
                </a:moveTo>
                <a:lnTo>
                  <a:pt x="16256000" y="0"/>
                </a:lnTo>
              </a:path>
            </a:pathLst>
          </a:custGeom>
          <a:noFill/>
          <a:ln w="12700">
            <a:solidFill>
              <a:srgbClr val="2E5C55">
                <a:alpha val="5882"/>
              </a:srgbClr>
            </a:solidFill>
          </a:ln>
        </p:spPr>
      </p:sp>
      <p:sp>
        <p:nvSpPr>
          <p:cNvPr id="5" name="Freeform 5"/>
          <p:cNvSpPr/>
          <p:nvPr/>
        </p:nvSpPr>
        <p:spPr>
          <a:xfrm>
            <a:off x="1841500" y="1524000"/>
            <a:ext cx="127000" cy="0"/>
          </a:xfrm>
          <a:custGeom>
            <a:avLst/>
            <a:gdLst/>
            <a:ahLst/>
            <a:cxnLst/>
            <a:rect l="l" t="t" r="r" b="b"/>
            <a:pathLst>
              <a:path w="127000">
                <a:moveTo>
                  <a:pt x="0" y="0"/>
                </a:moveTo>
                <a:lnTo>
                  <a:pt x="127000" y="0"/>
                </a:lnTo>
              </a:path>
            </a:pathLst>
          </a:custGeom>
          <a:noFill/>
          <a:ln w="12700">
            <a:solidFill>
              <a:srgbClr val="2E5C55">
                <a:alpha val="30196"/>
              </a:srgbClr>
            </a:solidFill>
          </a:ln>
        </p:spPr>
      </p:sp>
      <p:sp>
        <p:nvSpPr>
          <p:cNvPr id="6" name="Freeform 6"/>
          <p:cNvSpPr/>
          <p:nvPr/>
        </p:nvSpPr>
        <p:spPr>
          <a:xfrm>
            <a:off x="1905000" y="1460500"/>
            <a:ext cx="0" cy="127000"/>
          </a:xfrm>
          <a:custGeom>
            <a:avLst/>
            <a:gdLst/>
            <a:ahLst/>
            <a:cxnLst/>
            <a:rect l="l" t="t" r="r" b="b"/>
            <a:pathLst>
              <a:path h="127000">
                <a:moveTo>
                  <a:pt x="0" y="0"/>
                </a:moveTo>
                <a:lnTo>
                  <a:pt x="0" y="127000"/>
                </a:lnTo>
              </a:path>
            </a:pathLst>
          </a:custGeom>
          <a:noFill/>
          <a:ln w="12700">
            <a:solidFill>
              <a:srgbClr val="2E5C55">
                <a:alpha val="30196"/>
              </a:srgbClr>
            </a:solidFill>
          </a:ln>
        </p:spPr>
      </p:sp>
      <p:sp>
        <p:nvSpPr>
          <p:cNvPr id="7" name="Freeform 7"/>
          <p:cNvSpPr/>
          <p:nvPr/>
        </p:nvSpPr>
        <p:spPr>
          <a:xfrm>
            <a:off x="14541500" y="7620000"/>
            <a:ext cx="127000" cy="0"/>
          </a:xfrm>
          <a:custGeom>
            <a:avLst/>
            <a:gdLst/>
            <a:ahLst/>
            <a:cxnLst/>
            <a:rect l="l" t="t" r="r" b="b"/>
            <a:pathLst>
              <a:path w="127000">
                <a:moveTo>
                  <a:pt x="0" y="0"/>
                </a:moveTo>
                <a:lnTo>
                  <a:pt x="127000" y="0"/>
                </a:lnTo>
              </a:path>
            </a:pathLst>
          </a:custGeom>
          <a:noFill/>
          <a:ln w="12700">
            <a:solidFill>
              <a:srgbClr val="2E5C55">
                <a:alpha val="30196"/>
              </a:srgbClr>
            </a:solidFill>
          </a:ln>
        </p:spPr>
      </p:sp>
      <p:sp>
        <p:nvSpPr>
          <p:cNvPr id="8" name="Freeform 8"/>
          <p:cNvSpPr/>
          <p:nvPr/>
        </p:nvSpPr>
        <p:spPr>
          <a:xfrm>
            <a:off x="14605000" y="7556500"/>
            <a:ext cx="0" cy="127000"/>
          </a:xfrm>
          <a:custGeom>
            <a:avLst/>
            <a:gdLst/>
            <a:ahLst/>
            <a:cxnLst/>
            <a:rect l="l" t="t" r="r" b="b"/>
            <a:pathLst>
              <a:path h="127000">
                <a:moveTo>
                  <a:pt x="0" y="0"/>
                </a:moveTo>
                <a:lnTo>
                  <a:pt x="0" y="127000"/>
                </a:lnTo>
              </a:path>
            </a:pathLst>
          </a:custGeom>
          <a:noFill/>
          <a:ln w="12700">
            <a:solidFill>
              <a:srgbClr val="2E5C55">
                <a:alpha val="30196"/>
              </a:srgbClr>
            </a:solidFill>
          </a:ln>
        </p:spPr>
      </p:sp>
      <p:sp>
        <p:nvSpPr>
          <p:cNvPr id="9" name="Freeform 9"/>
          <p:cNvSpPr/>
          <p:nvPr/>
        </p:nvSpPr>
        <p:spPr>
          <a:xfrm>
            <a:off x="7620000" y="-1778000"/>
            <a:ext cx="12700000" cy="12700000"/>
          </a:xfrm>
          <a:custGeom>
            <a:avLst/>
            <a:gdLst/>
            <a:ahLst/>
            <a:cxnLst/>
            <a:rect l="l" t="t" r="r" b="b"/>
            <a:pathLst>
              <a:path w="12700000" h="12700000">
                <a:moveTo>
                  <a:pt x="12700000" y="6350000"/>
                </a:moveTo>
                <a:cubicBezTo>
                  <a:pt x="12700000" y="9857008"/>
                  <a:pt x="9857008" y="12700000"/>
                  <a:pt x="6350000" y="12700000"/>
                </a:cubicBezTo>
                <a:cubicBezTo>
                  <a:pt x="2842992" y="12700000"/>
                  <a:pt x="0" y="9857008"/>
                  <a:pt x="0" y="6350000"/>
                </a:cubicBezTo>
                <a:cubicBezTo>
                  <a:pt x="0" y="2842992"/>
                  <a:pt x="2842992" y="0"/>
                  <a:pt x="6350000" y="0"/>
                </a:cubicBezTo>
                <a:cubicBezTo>
                  <a:pt x="9857008" y="0"/>
                  <a:pt x="12700000" y="2842992"/>
                  <a:pt x="12700000" y="6350000"/>
                </a:cubicBezTo>
                <a:close/>
              </a:path>
            </a:pathLst>
          </a:custGeom>
          <a:solidFill>
            <a:srgbClr val="E5D9C5">
              <a:alpha val="12157"/>
            </a:srgbClr>
          </a:solidFill>
          <a:ln>
            <a:noFill/>
          </a:ln>
        </p:spPr>
      </p:sp>
      <p:sp>
        <p:nvSpPr>
          <p:cNvPr id="10" name="Freeform 10"/>
          <p:cNvSpPr/>
          <p:nvPr/>
        </p:nvSpPr>
        <p:spPr>
          <a:xfrm>
            <a:off x="9525000" y="127000"/>
            <a:ext cx="8890000" cy="8890000"/>
          </a:xfrm>
          <a:custGeom>
            <a:avLst/>
            <a:gdLst/>
            <a:ahLst/>
            <a:cxnLst/>
            <a:rect l="l" t="t" r="r" b="b"/>
            <a:pathLst>
              <a:path w="8890000" h="8890000">
                <a:moveTo>
                  <a:pt x="8890000" y="4445000"/>
                </a:moveTo>
                <a:cubicBezTo>
                  <a:pt x="8890000" y="6899906"/>
                  <a:pt x="6899906" y="8890000"/>
                  <a:pt x="4445000" y="8890000"/>
                </a:cubicBezTo>
                <a:cubicBezTo>
                  <a:pt x="1990094" y="8890000"/>
                  <a:pt x="0" y="6899906"/>
                  <a:pt x="0" y="4445000"/>
                </a:cubicBezTo>
                <a:cubicBezTo>
                  <a:pt x="0" y="1990094"/>
                  <a:pt x="1990094" y="0"/>
                  <a:pt x="4445000" y="0"/>
                </a:cubicBezTo>
                <a:cubicBezTo>
                  <a:pt x="6899906" y="0"/>
                  <a:pt x="8890000" y="1990094"/>
                  <a:pt x="8890000" y="4445000"/>
                </a:cubicBezTo>
                <a:close/>
              </a:path>
            </a:pathLst>
          </a:custGeom>
          <a:solidFill>
            <a:srgbClr val="2E5C55">
              <a:alpha val="3137"/>
            </a:srgbClr>
          </a:solidFill>
          <a:ln>
            <a:noFill/>
          </a:ln>
        </p:spPr>
      </p:sp>
      <p:sp>
        <p:nvSpPr>
          <p:cNvPr id="11" name="Freeform 11"/>
          <p:cNvSpPr/>
          <p:nvPr/>
        </p:nvSpPr>
        <p:spPr>
          <a:xfrm>
            <a:off x="2794000" y="3683000"/>
            <a:ext cx="762000" cy="50800"/>
          </a:xfrm>
          <a:custGeom>
            <a:avLst/>
            <a:gdLst/>
            <a:ahLst/>
            <a:cxnLst/>
            <a:rect l="l" t="t" r="r" b="b"/>
            <a:pathLst>
              <a:path w="762000" h="50800">
                <a:moveTo>
                  <a:pt x="0" y="25400"/>
                </a:moveTo>
                <a:lnTo>
                  <a:pt x="0" y="25400"/>
                </a:lnTo>
                <a:cubicBezTo>
                  <a:pt x="0" y="39428"/>
                  <a:pt x="11372" y="50800"/>
                  <a:pt x="25400" y="50800"/>
                </a:cubicBezTo>
                <a:lnTo>
                  <a:pt x="736600" y="50800"/>
                </a:lnTo>
                <a:cubicBezTo>
                  <a:pt x="750628" y="50800"/>
                  <a:pt x="762000" y="39428"/>
                  <a:pt x="762000" y="25400"/>
                </a:cubicBezTo>
                <a:lnTo>
                  <a:pt x="762000" y="25400"/>
                </a:lnTo>
                <a:cubicBezTo>
                  <a:pt x="762000" y="11372"/>
                  <a:pt x="750628" y="0"/>
                  <a:pt x="736600" y="0"/>
                </a:cubicBezTo>
                <a:lnTo>
                  <a:pt x="25400" y="0"/>
                </a:lnTo>
                <a:cubicBezTo>
                  <a:pt x="11372" y="0"/>
                  <a:pt x="0" y="11372"/>
                  <a:pt x="0" y="25400"/>
                </a:cubicBezTo>
                <a:close/>
              </a:path>
            </a:pathLst>
          </a:custGeom>
          <a:solidFill>
            <a:srgbClr val="2E5C55">
              <a:alpha val="90196"/>
            </a:srgbClr>
          </a:solidFill>
          <a:ln>
            <a:noFill/>
          </a:ln>
        </p:spPr>
      </p:sp>
      <p:pic>
        <p:nvPicPr>
          <p:cNvPr id="12" name="Picture 1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60000" y="2032000"/>
            <a:ext cx="5092700" cy="5092700"/>
          </a:xfrm>
          <a:prstGeom prst="rect">
            <a:avLst/>
          </a:prstGeom>
        </p:spPr>
      </p:pic>
      <p:sp>
        <p:nvSpPr>
          <p:cNvPr id="13" name="Freeform 13"/>
          <p:cNvSpPr/>
          <p:nvPr/>
        </p:nvSpPr>
        <p:spPr>
          <a:xfrm>
            <a:off x="10922000" y="2794000"/>
            <a:ext cx="3556000" cy="3556000"/>
          </a:xfrm>
          <a:custGeom>
            <a:avLst/>
            <a:gdLst/>
            <a:ahLst/>
            <a:cxnLst/>
            <a:rect l="l" t="t" r="r" b="b"/>
            <a:pathLst>
              <a:path w="3556000" h="3556000">
                <a:moveTo>
                  <a:pt x="3556000" y="1778000"/>
                </a:moveTo>
                <a:cubicBezTo>
                  <a:pt x="3556000" y="2759962"/>
                  <a:pt x="2759962" y="3556000"/>
                  <a:pt x="1778000" y="3556000"/>
                </a:cubicBezTo>
                <a:cubicBezTo>
                  <a:pt x="796038" y="3556000"/>
                  <a:pt x="0" y="2759962"/>
                  <a:pt x="0" y="1778000"/>
                </a:cubicBezTo>
                <a:cubicBezTo>
                  <a:pt x="0" y="796038"/>
                  <a:pt x="796038" y="0"/>
                  <a:pt x="1778000" y="0"/>
                </a:cubicBezTo>
                <a:cubicBezTo>
                  <a:pt x="2759962" y="0"/>
                  <a:pt x="3556000" y="796038"/>
                  <a:pt x="3556000" y="1778000"/>
                </a:cubicBezTo>
                <a:close/>
              </a:path>
            </a:pathLst>
          </a:custGeom>
          <a:noFill/>
          <a:ln w="12700">
            <a:solidFill>
              <a:srgbClr val="2E5C55">
                <a:alpha val="20000"/>
              </a:srgbClr>
            </a:solidFill>
          </a:ln>
        </p:spPr>
      </p:sp>
      <p:sp>
        <p:nvSpPr>
          <p:cNvPr id="14" name="Freeform 14"/>
          <p:cNvSpPr/>
          <p:nvPr/>
        </p:nvSpPr>
        <p:spPr>
          <a:xfrm>
            <a:off x="11557000" y="3429000"/>
            <a:ext cx="2286000" cy="2286000"/>
          </a:xfrm>
          <a:custGeom>
            <a:avLst/>
            <a:gdLst/>
            <a:ahLst/>
            <a:cxnLst/>
            <a:rect l="l" t="t" r="r" b="b"/>
            <a:pathLst>
              <a:path w="2286000" h="2286000">
                <a:moveTo>
                  <a:pt x="2286000" y="1143000"/>
                </a:moveTo>
                <a:cubicBezTo>
                  <a:pt x="2286000" y="1774261"/>
                  <a:pt x="1774261" y="2286000"/>
                  <a:pt x="1143000" y="2286000"/>
                </a:cubicBezTo>
                <a:cubicBezTo>
                  <a:pt x="511739" y="2286000"/>
                  <a:pt x="0" y="1774261"/>
                  <a:pt x="0" y="1143000"/>
                </a:cubicBezTo>
                <a:cubicBezTo>
                  <a:pt x="0" y="511739"/>
                  <a:pt x="511739" y="0"/>
                  <a:pt x="1143000" y="0"/>
                </a:cubicBezTo>
                <a:cubicBezTo>
                  <a:pt x="1774261" y="0"/>
                  <a:pt x="2286000" y="511739"/>
                  <a:pt x="2286000" y="1143000"/>
                </a:cubicBezTo>
                <a:close/>
              </a:path>
            </a:pathLst>
          </a:custGeom>
          <a:noFill/>
          <a:ln w="19050">
            <a:solidFill>
              <a:srgbClr val="2E5C55">
                <a:alpha val="30196"/>
              </a:srgbClr>
            </a:solidFill>
            <a:prstDash val="dash"/>
          </a:ln>
        </p:spPr>
      </p:sp>
      <p:sp>
        <p:nvSpPr>
          <p:cNvPr id="15" name="Freeform 15"/>
          <p:cNvSpPr/>
          <p:nvPr/>
        </p:nvSpPr>
        <p:spPr>
          <a:xfrm>
            <a:off x="12192000" y="4064000"/>
            <a:ext cx="1016000" cy="1016000"/>
          </a:xfrm>
          <a:custGeom>
            <a:avLst/>
            <a:gdLst/>
            <a:ahLst/>
            <a:cxnLst/>
            <a:rect l="l" t="t" r="r" b="b"/>
            <a:pathLst>
              <a:path w="1016000" h="1016000">
                <a:moveTo>
                  <a:pt x="1016000" y="508000"/>
                </a:moveTo>
                <a:cubicBezTo>
                  <a:pt x="1016000" y="788561"/>
                  <a:pt x="788561" y="1016000"/>
                  <a:pt x="508000" y="1016000"/>
                </a:cubicBezTo>
                <a:cubicBezTo>
                  <a:pt x="227439" y="1016000"/>
                  <a:pt x="0" y="788561"/>
                  <a:pt x="0" y="508000"/>
                </a:cubicBezTo>
                <a:cubicBezTo>
                  <a:pt x="0" y="227439"/>
                  <a:pt x="227439" y="0"/>
                  <a:pt x="508000" y="0"/>
                </a:cubicBezTo>
                <a:cubicBezTo>
                  <a:pt x="788561" y="0"/>
                  <a:pt x="1016000" y="227439"/>
                  <a:pt x="1016000" y="508000"/>
                </a:cubicBezTo>
                <a:close/>
              </a:path>
            </a:pathLst>
          </a:custGeom>
          <a:noFill/>
          <a:ln w="12700">
            <a:solidFill>
              <a:srgbClr val="2E5C55">
                <a:alpha val="14902"/>
              </a:srgbClr>
            </a:solidFill>
          </a:ln>
        </p:spPr>
      </p:sp>
      <p:sp>
        <p:nvSpPr>
          <p:cNvPr id="16" name="Freeform 16"/>
          <p:cNvSpPr/>
          <p:nvPr/>
        </p:nvSpPr>
        <p:spPr>
          <a:xfrm>
            <a:off x="12598400" y="4470400"/>
            <a:ext cx="203200" cy="203200"/>
          </a:xfrm>
          <a:custGeom>
            <a:avLst/>
            <a:gdLst/>
            <a:ahLst/>
            <a:cxnLst/>
            <a:rect l="l" t="t" r="r" b="b"/>
            <a:pathLst>
              <a:path w="203200" h="203200">
                <a:moveTo>
                  <a:pt x="203200" y="101600"/>
                </a:moveTo>
                <a:cubicBezTo>
                  <a:pt x="203200" y="157712"/>
                  <a:pt x="157712" y="203200"/>
                  <a:pt x="101600" y="203200"/>
                </a:cubicBezTo>
                <a:cubicBezTo>
                  <a:pt x="45488" y="203200"/>
                  <a:pt x="0" y="157712"/>
                  <a:pt x="0" y="101600"/>
                </a:cubicBezTo>
                <a:cubicBezTo>
                  <a:pt x="0" y="45488"/>
                  <a:pt x="45488" y="0"/>
                  <a:pt x="101600" y="0"/>
                </a:cubicBezTo>
                <a:cubicBezTo>
                  <a:pt x="157712" y="0"/>
                  <a:pt x="203200" y="45488"/>
                  <a:pt x="203200" y="101600"/>
                </a:cubicBezTo>
                <a:close/>
              </a:path>
            </a:pathLst>
          </a:custGeom>
          <a:solidFill>
            <a:srgbClr val="2E5C55">
              <a:alpha val="70196"/>
            </a:srgbClr>
          </a:solidFill>
          <a:ln>
            <a:noFill/>
          </a:ln>
        </p:spPr>
      </p:sp>
      <p:sp>
        <p:nvSpPr>
          <p:cNvPr id="17" name="Freeform 17"/>
          <p:cNvSpPr/>
          <p:nvPr/>
        </p:nvSpPr>
        <p:spPr>
          <a:xfrm>
            <a:off x="12496800" y="4368800"/>
            <a:ext cx="406400" cy="406400"/>
          </a:xfrm>
          <a:custGeom>
            <a:avLst/>
            <a:gdLst/>
            <a:ahLst/>
            <a:cxnLst/>
            <a:rect l="l" t="t" r="r" b="b"/>
            <a:pathLst>
              <a:path w="406400" h="406400">
                <a:moveTo>
                  <a:pt x="406400" y="203200"/>
                </a:moveTo>
                <a:cubicBezTo>
                  <a:pt x="406400" y="315424"/>
                  <a:pt x="315424" y="406400"/>
                  <a:pt x="203200" y="406400"/>
                </a:cubicBezTo>
                <a:cubicBezTo>
                  <a:pt x="90976" y="406400"/>
                  <a:pt x="0" y="315424"/>
                  <a:pt x="0" y="203200"/>
                </a:cubicBezTo>
                <a:cubicBezTo>
                  <a:pt x="0" y="90976"/>
                  <a:pt x="90976" y="0"/>
                  <a:pt x="203200" y="0"/>
                </a:cubicBezTo>
                <a:cubicBezTo>
                  <a:pt x="315424" y="0"/>
                  <a:pt x="406400" y="90976"/>
                  <a:pt x="406400" y="203200"/>
                </a:cubicBezTo>
                <a:close/>
              </a:path>
            </a:pathLst>
          </a:custGeom>
          <a:noFill/>
          <a:ln w="12700">
            <a:solidFill>
              <a:srgbClr val="2E5C55">
                <a:alpha val="50196"/>
              </a:srgbClr>
            </a:solidFill>
          </a:ln>
        </p:spPr>
      </p:sp>
      <p:sp>
        <p:nvSpPr>
          <p:cNvPr id="18" name="Freeform 18"/>
          <p:cNvSpPr/>
          <p:nvPr/>
        </p:nvSpPr>
        <p:spPr>
          <a:xfrm>
            <a:off x="13881100" y="575310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152400" y="76200"/>
                </a:moveTo>
                <a:cubicBezTo>
                  <a:pt x="152400" y="118284"/>
                  <a:pt x="118284" y="152400"/>
                  <a:pt x="76200" y="152400"/>
                </a:cubicBezTo>
                <a:cubicBezTo>
                  <a:pt x="34116" y="152400"/>
                  <a:pt x="0" y="118284"/>
                  <a:pt x="0" y="76200"/>
                </a:cubicBezTo>
                <a:cubicBezTo>
                  <a:pt x="0" y="34116"/>
                  <a:pt x="34116" y="0"/>
                  <a:pt x="76200" y="0"/>
                </a:cubicBezTo>
                <a:cubicBezTo>
                  <a:pt x="118284" y="0"/>
                  <a:pt x="152400" y="34116"/>
                  <a:pt x="152400" y="76200"/>
                </a:cubicBezTo>
                <a:close/>
              </a:path>
            </a:pathLst>
          </a:custGeom>
          <a:solidFill>
            <a:srgbClr val="2E5C55">
              <a:alpha val="80000"/>
            </a:srgbClr>
          </a:solidFill>
          <a:ln>
            <a:noFill/>
          </a:ln>
        </p:spPr>
      </p:sp>
      <p:sp>
        <p:nvSpPr>
          <p:cNvPr id="19" name="Freeform 19"/>
          <p:cNvSpPr/>
          <p:nvPr/>
        </p:nvSpPr>
        <p:spPr>
          <a:xfrm>
            <a:off x="10871200" y="4521200"/>
            <a:ext cx="101600" cy="101600"/>
          </a:xfrm>
          <a:custGeom>
            <a:avLst/>
            <a:gdLst/>
            <a:ahLst/>
            <a:cxnLst/>
            <a:rect l="l" t="t" r="r" b="b"/>
            <a:pathLst>
              <a:path w="101600" h="101600">
                <a:moveTo>
                  <a:pt x="101600" y="50800"/>
                </a:moveTo>
                <a:cubicBezTo>
                  <a:pt x="101600" y="78856"/>
                  <a:pt x="78856" y="101600"/>
                  <a:pt x="50800" y="101600"/>
                </a:cubicBezTo>
                <a:cubicBezTo>
                  <a:pt x="22744" y="101600"/>
                  <a:pt x="0" y="78856"/>
                  <a:pt x="0" y="50800"/>
                </a:cubicBezTo>
                <a:cubicBezTo>
                  <a:pt x="0" y="22744"/>
                  <a:pt x="22744" y="0"/>
                  <a:pt x="50800" y="0"/>
                </a:cubicBezTo>
                <a:cubicBezTo>
                  <a:pt x="78856" y="0"/>
                  <a:pt x="101600" y="22744"/>
                  <a:pt x="101600" y="50800"/>
                </a:cubicBezTo>
                <a:close/>
              </a:path>
            </a:pathLst>
          </a:custGeom>
          <a:solidFill>
            <a:srgbClr val="556B67">
              <a:alpha val="60000"/>
            </a:srgbClr>
          </a:solidFill>
          <a:ln>
            <a:noFill/>
          </a:ln>
        </p:spPr>
      </p:sp>
      <p:sp>
        <p:nvSpPr>
          <p:cNvPr id="20" name="Freeform 20"/>
          <p:cNvSpPr/>
          <p:nvPr/>
        </p:nvSpPr>
        <p:spPr>
          <a:xfrm>
            <a:off x="13208000" y="28321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27000" h="127000">
                <a:moveTo>
                  <a:pt x="127000" y="63500"/>
                </a:moveTo>
                <a:cubicBezTo>
                  <a:pt x="127000" y="98570"/>
                  <a:pt x="98570" y="127000"/>
                  <a:pt x="63500" y="127000"/>
                </a:cubicBezTo>
                <a:cubicBezTo>
                  <a:pt x="28430" y="127000"/>
                  <a:pt x="0" y="98570"/>
                  <a:pt x="0" y="63500"/>
                </a:cubicBezTo>
                <a:cubicBezTo>
                  <a:pt x="0" y="28430"/>
                  <a:pt x="28430" y="0"/>
                  <a:pt x="63500" y="0"/>
                </a:cubicBezTo>
                <a:cubicBezTo>
                  <a:pt x="98570" y="0"/>
                  <a:pt x="127000" y="28430"/>
                  <a:pt x="127000" y="63500"/>
                </a:cubicBezTo>
                <a:close/>
              </a:path>
            </a:pathLst>
          </a:custGeom>
          <a:solidFill>
            <a:srgbClr val="E5D9C5">
              <a:alpha val="90196"/>
            </a:srgbClr>
          </a:solidFill>
          <a:ln>
            <a:noFill/>
          </a:ln>
        </p:spPr>
      </p:sp>
      <p:sp>
        <p:nvSpPr>
          <p:cNvPr id="21" name="Freeform 21"/>
          <p:cNvSpPr/>
          <p:nvPr/>
        </p:nvSpPr>
        <p:spPr>
          <a:xfrm>
            <a:off x="12700000" y="4572000"/>
            <a:ext cx="1257300" cy="1257300"/>
          </a:xfrm>
          <a:custGeom>
            <a:avLst/>
            <a:gdLst/>
            <a:ahLst/>
            <a:cxnLst/>
            <a:rect l="l" t="t" r="r" b="b"/>
            <a:pathLst>
              <a:path w="1257300" h="1257300">
                <a:moveTo>
                  <a:pt x="0" y="0"/>
                </a:moveTo>
                <a:lnTo>
                  <a:pt x="1257300" y="1257300"/>
                </a:lnTo>
              </a:path>
            </a:pathLst>
          </a:custGeom>
          <a:noFill/>
          <a:ln w="12700">
            <a:solidFill>
              <a:srgbClr val="2E5C55">
                <a:alpha val="25098"/>
              </a:srgbClr>
            </a:solidFill>
          </a:ln>
        </p:spPr>
      </p:sp>
      <p:sp>
        <p:nvSpPr>
          <p:cNvPr id="22" name="Freeform 22"/>
          <p:cNvSpPr/>
          <p:nvPr/>
        </p:nvSpPr>
        <p:spPr>
          <a:xfrm>
            <a:off x="10922000" y="4572000"/>
            <a:ext cx="1778000" cy="0"/>
          </a:xfrm>
          <a:custGeom>
            <a:avLst/>
            <a:gdLst/>
            <a:ahLst/>
            <a:cxnLst/>
            <a:rect l="l" t="t" r="r" b="b"/>
            <a:pathLst>
              <a:path w="1778000">
                <a:moveTo>
                  <a:pt x="1778000" y="0"/>
                </a:moveTo>
                <a:lnTo>
                  <a:pt x="0" y="0"/>
                </a:lnTo>
              </a:path>
            </a:pathLst>
          </a:custGeom>
          <a:noFill/>
          <a:ln w="12700">
            <a:solidFill>
              <a:srgbClr val="2E5C55">
                <a:alpha val="25098"/>
              </a:srgbClr>
            </a:solidFill>
          </a:ln>
        </p:spPr>
      </p:sp>
      <p:sp>
        <p:nvSpPr>
          <p:cNvPr id="23" name="Freeform 23"/>
          <p:cNvSpPr/>
          <p:nvPr/>
        </p:nvSpPr>
        <p:spPr>
          <a:xfrm>
            <a:off x="12700000" y="2895600"/>
            <a:ext cx="571500" cy="1676400"/>
          </a:xfrm>
          <a:custGeom>
            <a:avLst/>
            <a:gdLst/>
            <a:ahLst/>
            <a:cxnLst/>
            <a:rect l="l" t="t" r="r" b="b"/>
            <a:pathLst>
              <a:path w="571500" h="1676400">
                <a:moveTo>
                  <a:pt x="0" y="1676400"/>
                </a:moveTo>
                <a:lnTo>
                  <a:pt x="571500" y="0"/>
                </a:lnTo>
              </a:path>
            </a:pathLst>
          </a:custGeom>
          <a:noFill/>
          <a:ln w="12700">
            <a:solidFill>
              <a:srgbClr val="2E5C55">
                <a:alpha val="25098"/>
              </a:srgbClr>
            </a:solidFill>
          </a:ln>
        </p:spPr>
      </p:sp>
      <p:sp>
        <p:nvSpPr>
          <p:cNvPr id="24" name="TextBox 24"/>
          <p:cNvSpPr txBox="1"/>
          <p:nvPr/>
        </p:nvSpPr>
        <p:spPr>
          <a:xfrm>
            <a:off x="10795000" y="2235200"/>
            <a:ext cx="6083300" cy="627380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38000" b="1" i="0">
                <a:solidFill>
                  <a:srgbClr val="2E5C55">
                    <a:alpha val="3922"/>
                  </a:srgbClr>
                </a:solidFill>
                <a:latin typeface="Arial" panose="020B0604020202020204"/>
              </a:rPr>
              <a:t>01</a:t>
            </a:r>
            <a:endParaRPr lang="en-US" sz="38000" b="1" i="0">
              <a:solidFill>
                <a:srgbClr val="2E5C55">
                  <a:alpha val="3922"/>
                </a:srgbClr>
              </a:solidFill>
              <a:latin typeface="Arial" panose="020B0604020202020204"/>
            </a:endParaRPr>
          </a:p>
        </p:txBody>
      </p:sp>
      <p:sp>
        <p:nvSpPr>
          <p:cNvPr id="25" name="TextBox 25"/>
          <p:cNvSpPr txBox="1"/>
          <p:nvPr/>
        </p:nvSpPr>
        <p:spPr>
          <a:xfrm>
            <a:off x="2794000" y="2921000"/>
            <a:ext cx="2099310" cy="37211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2200" b="1" i="0">
                <a:solidFill>
                  <a:srgbClr val="556B67"/>
                </a:solidFill>
                <a:latin typeface="Arial" panose="020B0604020202020204"/>
              </a:rPr>
              <a:t>CHAPTER ONE</a:t>
            </a:r>
            <a:endParaRPr lang="en-US" sz="2200" b="1" i="0">
              <a:solidFill>
                <a:srgbClr val="556B67"/>
              </a:solidFill>
              <a:latin typeface="Arial" panose="020B0604020202020204"/>
            </a:endParaRPr>
          </a:p>
        </p:txBody>
      </p:sp>
      <p:sp>
        <p:nvSpPr>
          <p:cNvPr id="26" name="TextBox 26"/>
          <p:cNvSpPr txBox="1"/>
          <p:nvPr/>
        </p:nvSpPr>
        <p:spPr>
          <a:xfrm>
            <a:off x="2794000" y="3962400"/>
            <a:ext cx="8618220" cy="106172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6400" b="1" i="0">
                <a:solidFill>
                  <a:srgbClr val="2E5C55"/>
                </a:solidFill>
                <a:latin typeface="Arial" panose="020B0604020202020204"/>
              </a:rPr>
              <a:t>PROJECT OVERVIEW</a:t>
            </a:r>
            <a:endParaRPr lang="en-US" sz="6400" b="1" i="0">
              <a:solidFill>
                <a:srgbClr val="2E5C55"/>
              </a:solidFill>
              <a:latin typeface="Arial" panose="020B0604020202020204"/>
            </a:endParaRPr>
          </a:p>
        </p:txBody>
      </p:sp>
      <p:sp>
        <p:nvSpPr>
          <p:cNvPr id="27" name="TextBox 27"/>
          <p:cNvSpPr txBox="1"/>
          <p:nvPr/>
        </p:nvSpPr>
        <p:spPr>
          <a:xfrm>
            <a:off x="2844800" y="5130800"/>
            <a:ext cx="7965440" cy="47244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2800" b="0" i="0">
                <a:solidFill>
                  <a:srgbClr val="556B67">
                    <a:alpha val="80000"/>
                  </a:srgbClr>
                </a:solidFill>
                <a:latin typeface="Arial" panose="020B0604020202020204"/>
              </a:rPr>
              <a:t>Creating a One-Stop Smart Portal for Campus Life</a:t>
            </a:r>
            <a:endParaRPr lang="en-US" sz="2800" b="0" i="0">
              <a:solidFill>
                <a:srgbClr val="556B67">
                  <a:alpha val="80000"/>
                </a:srgbClr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6256000" cy="9144000"/>
          </a:xfrm>
          <a:custGeom>
            <a:avLst/>
            <a:gdLst/>
            <a:ahLst/>
            <a:cxnLst/>
            <a:rect l="l" t="t" r="r" b="b"/>
            <a:pathLst>
              <a:path w="16256000" h="9144000">
                <a:moveTo>
                  <a:pt x="0" y="0"/>
                </a:moveTo>
                <a:lnTo>
                  <a:pt x="16256000" y="0"/>
                </a:lnTo>
                <a:lnTo>
                  <a:pt x="16256000" y="9144000"/>
                </a:lnTo>
                <a:lnTo>
                  <a:pt x="0" y="9144000"/>
                </a:lnTo>
                <a:lnTo>
                  <a:pt x="0" y="0"/>
                </a:lnTo>
                <a:close/>
              </a:path>
            </a:pathLst>
          </a:custGeom>
          <a:solidFill>
            <a:srgbClr val="F4F5F7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0" y="0"/>
            <a:ext cx="5080000" cy="9144000"/>
          </a:xfrm>
          <a:custGeom>
            <a:avLst/>
            <a:gdLst/>
            <a:ahLst/>
            <a:cxnLst/>
            <a:rect l="l" t="t" r="r" b="b"/>
            <a:pathLst>
              <a:path w="5080000" h="9144000">
                <a:moveTo>
                  <a:pt x="0" y="0"/>
                </a:moveTo>
                <a:lnTo>
                  <a:pt x="5080000" y="0"/>
                </a:lnTo>
                <a:lnTo>
                  <a:pt x="5080000" y="9144000"/>
                </a:lnTo>
                <a:lnTo>
                  <a:pt x="0" y="9144000"/>
                </a:lnTo>
                <a:lnTo>
                  <a:pt x="0" y="0"/>
                </a:lnTo>
                <a:close/>
              </a:path>
            </a:pathLst>
          </a:custGeom>
          <a:solidFill>
            <a:srgbClr val="E5D9C5">
              <a:alpha val="20000"/>
            </a:srgbClr>
          </a:solidFill>
          <a:ln>
            <a:noFill/>
          </a:ln>
        </p:spPr>
      </p:sp>
      <p:sp>
        <p:nvSpPr>
          <p:cNvPr id="4" name="Freeform 4"/>
          <p:cNvSpPr/>
          <p:nvPr/>
        </p:nvSpPr>
        <p:spPr>
          <a:xfrm>
            <a:off x="13335000" y="-889000"/>
            <a:ext cx="3810000" cy="3810000"/>
          </a:xfrm>
          <a:custGeom>
            <a:avLst/>
            <a:gdLst/>
            <a:ahLst/>
            <a:cxnLst/>
            <a:rect l="l" t="t" r="r" b="b"/>
            <a:pathLst>
              <a:path w="3810000" h="3810000">
                <a:moveTo>
                  <a:pt x="3810000" y="1905000"/>
                </a:moveTo>
                <a:cubicBezTo>
                  <a:pt x="3810000" y="2957102"/>
                  <a:pt x="2957102" y="3810000"/>
                  <a:pt x="1905000" y="3810000"/>
                </a:cubicBezTo>
                <a:cubicBezTo>
                  <a:pt x="852898" y="3810000"/>
                  <a:pt x="0" y="2957102"/>
                  <a:pt x="0" y="1905000"/>
                </a:cubicBezTo>
                <a:cubicBezTo>
                  <a:pt x="0" y="852898"/>
                  <a:pt x="852898" y="0"/>
                  <a:pt x="1905000" y="0"/>
                </a:cubicBezTo>
                <a:cubicBezTo>
                  <a:pt x="2957102" y="0"/>
                  <a:pt x="3810000" y="852898"/>
                  <a:pt x="3810000" y="1905000"/>
                </a:cubicBezTo>
                <a:close/>
              </a:path>
            </a:pathLst>
          </a:custGeom>
          <a:solidFill>
            <a:srgbClr val="2E5C55">
              <a:alpha val="3137"/>
            </a:srgbClr>
          </a:solidFill>
          <a:ln>
            <a:noFill/>
          </a:ln>
        </p:spPr>
      </p:sp>
      <p:sp>
        <p:nvSpPr>
          <p:cNvPr id="5" name="Freeform 5"/>
          <p:cNvSpPr/>
          <p:nvPr/>
        </p:nvSpPr>
        <p:spPr>
          <a:xfrm>
            <a:off x="1016000" y="1587500"/>
            <a:ext cx="762000" cy="50800"/>
          </a:xfrm>
          <a:custGeom>
            <a:avLst/>
            <a:gdLst/>
            <a:ahLst/>
            <a:cxnLst/>
            <a:rect l="l" t="t" r="r" b="b"/>
            <a:pathLst>
              <a:path w="762000" h="50800">
                <a:moveTo>
                  <a:pt x="0" y="25400"/>
                </a:moveTo>
                <a:lnTo>
                  <a:pt x="0" y="25400"/>
                </a:lnTo>
                <a:cubicBezTo>
                  <a:pt x="0" y="39428"/>
                  <a:pt x="11372" y="50800"/>
                  <a:pt x="25400" y="50800"/>
                </a:cubicBezTo>
                <a:lnTo>
                  <a:pt x="736600" y="50800"/>
                </a:lnTo>
                <a:cubicBezTo>
                  <a:pt x="750628" y="50800"/>
                  <a:pt x="762000" y="39428"/>
                  <a:pt x="762000" y="25400"/>
                </a:cubicBezTo>
                <a:lnTo>
                  <a:pt x="762000" y="25400"/>
                </a:lnTo>
                <a:cubicBezTo>
                  <a:pt x="762000" y="11372"/>
                  <a:pt x="750628" y="0"/>
                  <a:pt x="736600" y="0"/>
                </a:cubicBezTo>
                <a:lnTo>
                  <a:pt x="25400" y="0"/>
                </a:lnTo>
                <a:cubicBezTo>
                  <a:pt x="11372" y="0"/>
                  <a:pt x="0" y="11372"/>
                  <a:pt x="0" y="25400"/>
                </a:cubicBezTo>
                <a:close/>
              </a:path>
            </a:pathLst>
          </a:custGeom>
          <a:solidFill>
            <a:srgbClr val="3B5B78"/>
          </a:solidFill>
          <a:ln>
            <a:noFill/>
          </a:ln>
        </p:spPr>
      </p:sp>
      <p:pic>
        <p:nvPicPr>
          <p:cNvPr id="6" name="Picture 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8200" y="3175000"/>
            <a:ext cx="7213600" cy="2641600"/>
          </a:xfrm>
          <a:prstGeom prst="rect">
            <a:avLst/>
          </a:prstGeom>
        </p:spPr>
      </p:pic>
      <p:pic>
        <p:nvPicPr>
          <p:cNvPr id="7" name="Picture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04200" y="3175000"/>
            <a:ext cx="7213600" cy="2641600"/>
          </a:xfrm>
          <a:prstGeom prst="rect">
            <a:avLst/>
          </a:prstGeom>
        </p:spPr>
      </p:pic>
      <p:pic>
        <p:nvPicPr>
          <p:cNvPr id="8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5969000"/>
            <a:ext cx="7213600" cy="2641600"/>
          </a:xfrm>
          <a:prstGeom prst="rect">
            <a:avLst/>
          </a:prstGeom>
        </p:spPr>
      </p:pic>
      <p:pic>
        <p:nvPicPr>
          <p:cNvPr id="9" name="Picture 9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04200" y="5969000"/>
            <a:ext cx="7213600" cy="2641600"/>
          </a:xfrm>
          <a:prstGeom prst="rect">
            <a:avLst/>
          </a:prstGeom>
        </p:spPr>
      </p:pic>
      <p:sp>
        <p:nvSpPr>
          <p:cNvPr id="10" name="TextBox 10"/>
          <p:cNvSpPr txBox="1"/>
          <p:nvPr/>
        </p:nvSpPr>
        <p:spPr>
          <a:xfrm>
            <a:off x="1016000" y="787400"/>
            <a:ext cx="7903210" cy="70231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4200" b="1" i="0">
                <a:solidFill>
                  <a:srgbClr val="2E5C55"/>
                </a:solidFill>
                <a:latin typeface="Arial" panose="020B0604020202020204"/>
              </a:rPr>
              <a:t>Project Vision &amp; Core Features</a:t>
            </a:r>
            <a:endParaRPr lang="en-US" sz="4200" b="1" i="0">
              <a:solidFill>
                <a:srgbClr val="2E5C55"/>
              </a:solidFill>
              <a:latin typeface="Arial" panose="020B0604020202020204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1016000" y="1917700"/>
            <a:ext cx="3619500" cy="34290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2000" b="1" i="0">
                <a:solidFill>
                  <a:srgbClr val="3B5B78"/>
                </a:solidFill>
                <a:latin typeface="SansSerif"/>
              </a:rPr>
              <a:t>@comp7940_campus_bot</a:t>
            </a:r>
            <a:endParaRPr lang="en-US" sz="2000" b="1" i="0">
              <a:solidFill>
                <a:srgbClr val="3B5B78"/>
              </a:solidFill>
              <a:latin typeface="SansSerif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1016000" y="2387600"/>
            <a:ext cx="8555990" cy="31369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1800" b="0" i="0">
                <a:solidFill>
                  <a:srgbClr val="666666">
                    <a:alpha val="80000"/>
                  </a:srgbClr>
                </a:solidFill>
                <a:latin typeface="SansSerif"/>
              </a:rPr>
              <a:t>An AI-powered Telegram bot designed to redefine efficiency in campus life.</a:t>
            </a:r>
            <a:endParaRPr lang="en-US" sz="1800" b="0" i="0">
              <a:solidFill>
                <a:srgbClr val="666666">
                  <a:alpha val="80000"/>
                </a:srgbClr>
              </a:solidFill>
              <a:latin typeface="SansSerif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2159000" y="3708400"/>
            <a:ext cx="3144520" cy="41402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2400" b="1" i="0">
                <a:solidFill>
                  <a:srgbClr val="2E5C55"/>
                </a:solidFill>
                <a:latin typeface="SansSerif"/>
              </a:rPr>
              <a:t>AI Intelligent Chat</a:t>
            </a:r>
            <a:endParaRPr lang="en-US" sz="2400" b="1" i="0">
              <a:solidFill>
                <a:srgbClr val="2E5C55"/>
              </a:solidFill>
              <a:latin typeface="SansSerif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2159000" y="4330700"/>
            <a:ext cx="5006975" cy="574675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pPr>
              <a:spcAft>
                <a:spcPct val="0"/>
              </a:spcAft>
            </a:pPr>
            <a:r>
              <a:rPr lang="en-US" sz="1500" b="0" i="0">
                <a:solidFill>
                  <a:srgbClr val="555555"/>
                </a:solidFill>
                <a:latin typeface="SansSerif"/>
              </a:rPr>
              <a:t>Integrated with DeepSeek LLM for natural interaction.</a:t>
            </a:r>
            <a:endParaRPr lang="en-US" sz="1500" b="0" i="0">
              <a:solidFill>
                <a:srgbClr val="555555"/>
              </a:solidFill>
              <a:latin typeface="SansSerif"/>
            </a:endParaRPr>
          </a:p>
          <a:p>
            <a:pPr>
              <a:spcBef>
                <a:spcPts val="700"/>
              </a:spcBef>
              <a:spcAft>
                <a:spcPct val="0"/>
              </a:spcAft>
            </a:pPr>
            <a:r>
              <a:rPr lang="en-US" sz="1500" b="0" i="0">
                <a:solidFill>
                  <a:srgbClr val="555555"/>
                </a:solidFill>
                <a:latin typeface="SansSerif"/>
              </a:rPr>
              <a:t>Supports multi-language and long-context memory.</a:t>
            </a:r>
            <a:endParaRPr lang="en-US" sz="1500" b="0" i="0">
              <a:solidFill>
                <a:srgbClr val="555555"/>
              </a:solidFill>
              <a:latin typeface="SansSerif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9525000" y="3708400"/>
            <a:ext cx="3157220" cy="41402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2400" b="1" i="0">
                <a:solidFill>
                  <a:srgbClr val="2E5C55"/>
                </a:solidFill>
                <a:latin typeface="SansSerif"/>
              </a:rPr>
              <a:t>Task Management</a:t>
            </a:r>
            <a:endParaRPr lang="en-US" sz="2400" b="1" i="0">
              <a:solidFill>
                <a:srgbClr val="2E5C55"/>
              </a:solidFill>
              <a:latin typeface="SansSerif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9525000" y="4330700"/>
            <a:ext cx="4778375" cy="574675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pPr>
              <a:spcAft>
                <a:spcPct val="0"/>
              </a:spcAft>
            </a:pPr>
            <a:r>
              <a:rPr lang="en-US" sz="1500" b="0" i="0">
                <a:solidFill>
                  <a:srgbClr val="555555"/>
                </a:solidFill>
                <a:latin typeface="SansSerif"/>
              </a:rPr>
              <a:t>Full lifecycle: Create, List, Mark and Delete.</a:t>
            </a:r>
            <a:endParaRPr lang="en-US" sz="1500" b="0" i="0">
              <a:solidFill>
                <a:srgbClr val="555555"/>
              </a:solidFill>
              <a:latin typeface="SansSerif"/>
            </a:endParaRPr>
          </a:p>
          <a:p>
            <a:pPr>
              <a:spcBef>
                <a:spcPts val="700"/>
              </a:spcBef>
              <a:spcAft>
                <a:spcPct val="0"/>
              </a:spcAft>
            </a:pPr>
            <a:r>
              <a:rPr lang="en-US" sz="1500" b="0" i="0">
                <a:solidFill>
                  <a:srgbClr val="555555"/>
                </a:solidFill>
                <a:latin typeface="SansSerif"/>
              </a:rPr>
              <a:t>Keep your academic schedule clean and organized.</a:t>
            </a:r>
            <a:endParaRPr lang="en-US" sz="1500" b="0" i="0">
              <a:solidFill>
                <a:srgbClr val="555555"/>
              </a:solidFill>
              <a:latin typeface="SansSerif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2159000" y="6502400"/>
            <a:ext cx="4249420" cy="41402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2400" b="1" i="0">
                <a:solidFill>
                  <a:srgbClr val="2E5C55"/>
                </a:solidFill>
                <a:latin typeface="SansSerif"/>
              </a:rPr>
              <a:t>Campus Event Discovery</a:t>
            </a:r>
            <a:endParaRPr lang="en-US" sz="2400" b="1" i="0">
              <a:solidFill>
                <a:srgbClr val="2E5C55"/>
              </a:solidFill>
              <a:latin typeface="SansSerif"/>
            </a:endParaRPr>
          </a:p>
        </p:txBody>
      </p:sp>
      <p:sp>
        <p:nvSpPr>
          <p:cNvPr id="18" name="TextBox 18"/>
          <p:cNvSpPr txBox="1"/>
          <p:nvPr/>
        </p:nvSpPr>
        <p:spPr>
          <a:xfrm>
            <a:off x="2159000" y="7124700"/>
            <a:ext cx="4816475" cy="574675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pPr>
              <a:spcAft>
                <a:spcPct val="0"/>
              </a:spcAft>
            </a:pPr>
            <a:r>
              <a:rPr lang="en-US" sz="1500" b="0" i="0">
                <a:solidFill>
                  <a:srgbClr val="555555"/>
                </a:solidFill>
                <a:latin typeface="SansSerif"/>
              </a:rPr>
              <a:t>Filter campus activities precisely by categories.</a:t>
            </a:r>
            <a:endParaRPr lang="en-US" sz="1500" b="0" i="0">
              <a:solidFill>
                <a:srgbClr val="555555"/>
              </a:solidFill>
              <a:latin typeface="SansSerif"/>
            </a:endParaRPr>
          </a:p>
          <a:p>
            <a:pPr>
              <a:spcBef>
                <a:spcPts val="700"/>
              </a:spcBef>
              <a:spcAft>
                <a:spcPct val="0"/>
              </a:spcAft>
            </a:pPr>
            <a:r>
              <a:rPr lang="en-US" sz="1500" b="0" i="0">
                <a:solidFill>
                  <a:srgbClr val="555555"/>
                </a:solidFill>
                <a:latin typeface="SansSerif"/>
              </a:rPr>
              <a:t>Stay updated with real-time news and notifications.</a:t>
            </a:r>
            <a:endParaRPr lang="en-US" sz="1500" b="0" i="0">
              <a:solidFill>
                <a:srgbClr val="555555"/>
              </a:solidFill>
              <a:latin typeface="SansSerif"/>
            </a:endParaRPr>
          </a:p>
        </p:txBody>
      </p:sp>
      <p:sp>
        <p:nvSpPr>
          <p:cNvPr id="19" name="TextBox 19"/>
          <p:cNvSpPr txBox="1"/>
          <p:nvPr/>
        </p:nvSpPr>
        <p:spPr>
          <a:xfrm>
            <a:off x="9525000" y="6502400"/>
            <a:ext cx="3893820" cy="41402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2400" b="1" i="0">
                <a:solidFill>
                  <a:srgbClr val="2E5C55"/>
                </a:solidFill>
                <a:latin typeface="SansSerif"/>
              </a:rPr>
              <a:t>Study Buddy Matching</a:t>
            </a:r>
            <a:endParaRPr lang="en-US" sz="2400" b="1" i="0">
              <a:solidFill>
                <a:srgbClr val="2E5C55"/>
              </a:solidFill>
              <a:latin typeface="SansSerif"/>
            </a:endParaRPr>
          </a:p>
        </p:txBody>
      </p:sp>
      <p:sp>
        <p:nvSpPr>
          <p:cNvPr id="20" name="TextBox 20"/>
          <p:cNvSpPr txBox="1"/>
          <p:nvPr/>
        </p:nvSpPr>
        <p:spPr>
          <a:xfrm>
            <a:off x="9525000" y="7124700"/>
            <a:ext cx="4587875" cy="574675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pPr>
              <a:spcAft>
                <a:spcPct val="0"/>
              </a:spcAft>
            </a:pPr>
            <a:r>
              <a:rPr lang="en-US" sz="1500" b="0" i="0">
                <a:solidFill>
                  <a:srgbClr val="555555"/>
                </a:solidFill>
                <a:latin typeface="SansSerif"/>
              </a:rPr>
              <a:t>Smart matching based on interests and courses.</a:t>
            </a:r>
            <a:endParaRPr lang="en-US" sz="1500" b="0" i="0">
              <a:solidFill>
                <a:srgbClr val="555555"/>
              </a:solidFill>
              <a:latin typeface="SansSerif"/>
            </a:endParaRPr>
          </a:p>
          <a:p>
            <a:pPr>
              <a:spcBef>
                <a:spcPts val="700"/>
              </a:spcBef>
              <a:spcAft>
                <a:spcPct val="0"/>
              </a:spcAft>
            </a:pPr>
            <a:r>
              <a:rPr lang="en-US" sz="1500" b="0" i="0">
                <a:solidFill>
                  <a:srgbClr val="555555"/>
                </a:solidFill>
                <a:latin typeface="SansSerif"/>
              </a:rPr>
              <a:t>Find the perfect partner to boost collaboration.</a:t>
            </a:r>
            <a:endParaRPr lang="en-US" sz="1500" b="0" i="0">
              <a:solidFill>
                <a:srgbClr val="555555"/>
              </a:solidFill>
              <a:latin typeface="SansSerif"/>
            </a:endParaRPr>
          </a:p>
        </p:txBody>
      </p:sp>
      <p:sp>
        <p:nvSpPr>
          <p:cNvPr id="21" name="TextBox 21"/>
          <p:cNvSpPr txBox="1"/>
          <p:nvPr/>
        </p:nvSpPr>
        <p:spPr>
          <a:xfrm>
            <a:off x="15240000" y="8470900"/>
            <a:ext cx="648970" cy="24257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1400" b="0" i="0">
                <a:solidFill>
                  <a:srgbClr val="AAAAAA"/>
                </a:solidFill>
                <a:latin typeface="SansSerif"/>
              </a:rPr>
              <a:t>04 / 08</a:t>
            </a:r>
            <a:endParaRPr lang="en-US" sz="1400" b="0" i="0">
              <a:solidFill>
                <a:srgbClr val="AAAAAA"/>
              </a:solidFill>
              <a:latin typeface="SansSerif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6256000" cy="9144000"/>
          </a:xfrm>
          <a:custGeom>
            <a:avLst/>
            <a:gdLst/>
            <a:ahLst/>
            <a:cxnLst/>
            <a:rect l="l" t="t" r="r" b="b"/>
            <a:pathLst>
              <a:path w="16256000" h="9144000">
                <a:moveTo>
                  <a:pt x="0" y="0"/>
                </a:moveTo>
                <a:lnTo>
                  <a:pt x="16256000" y="0"/>
                </a:lnTo>
                <a:lnTo>
                  <a:pt x="16256000" y="9144000"/>
                </a:lnTo>
                <a:lnTo>
                  <a:pt x="0" y="9144000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rgbClr val="F4F5F7"/>
              </a:gs>
              <a:gs pos="100000">
                <a:srgbClr val="EAECEF"/>
              </a:gs>
            </a:gsLst>
            <a:lin ang="2700000" scaled="1"/>
          </a:gra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10160000" y="-1905000"/>
            <a:ext cx="7620000" cy="7620000"/>
          </a:xfrm>
          <a:custGeom>
            <a:avLst/>
            <a:gdLst/>
            <a:ahLst/>
            <a:cxnLst/>
            <a:rect l="l" t="t" r="r" b="b"/>
            <a:pathLst>
              <a:path w="7620000" h="7620000">
                <a:moveTo>
                  <a:pt x="7620000" y="3810000"/>
                </a:moveTo>
                <a:cubicBezTo>
                  <a:pt x="7620000" y="5914205"/>
                  <a:pt x="5914205" y="7620000"/>
                  <a:pt x="3810000" y="7620000"/>
                </a:cubicBezTo>
                <a:cubicBezTo>
                  <a:pt x="1705795" y="7620000"/>
                  <a:pt x="0" y="5914205"/>
                  <a:pt x="0" y="3810000"/>
                </a:cubicBezTo>
                <a:cubicBezTo>
                  <a:pt x="0" y="1705795"/>
                  <a:pt x="1705795" y="0"/>
                  <a:pt x="3810000" y="0"/>
                </a:cubicBezTo>
                <a:cubicBezTo>
                  <a:pt x="5914205" y="0"/>
                  <a:pt x="7620000" y="1705795"/>
                  <a:pt x="7620000" y="3810000"/>
                </a:cubicBezTo>
                <a:close/>
              </a:path>
            </a:pathLst>
          </a:custGeom>
          <a:solidFill>
            <a:srgbClr val="E5D9C5">
              <a:alpha val="12157"/>
            </a:srgbClr>
          </a:solidFill>
          <a:ln>
            <a:noFill/>
          </a:ln>
        </p:spPr>
      </p:sp>
      <p:sp>
        <p:nvSpPr>
          <p:cNvPr id="4" name="Freeform 4"/>
          <p:cNvSpPr/>
          <p:nvPr/>
        </p:nvSpPr>
        <p:spPr>
          <a:xfrm>
            <a:off x="1270000" y="7620000"/>
            <a:ext cx="1016000" cy="25400"/>
          </a:xfrm>
          <a:custGeom>
            <a:avLst/>
            <a:gdLst/>
            <a:ahLst/>
            <a:cxnLst/>
            <a:rect l="l" t="t" r="r" b="b"/>
            <a:pathLst>
              <a:path w="1016000" h="25400">
                <a:moveTo>
                  <a:pt x="0" y="0"/>
                </a:moveTo>
                <a:lnTo>
                  <a:pt x="1016000" y="0"/>
                </a:lnTo>
                <a:lnTo>
                  <a:pt x="1016000" y="25400"/>
                </a:lnTo>
                <a:lnTo>
                  <a:pt x="0" y="25400"/>
                </a:lnTo>
                <a:lnTo>
                  <a:pt x="0" y="0"/>
                </a:lnTo>
                <a:close/>
              </a:path>
            </a:pathLst>
          </a:custGeom>
          <a:solidFill>
            <a:srgbClr val="2E5C55">
              <a:alpha val="20000"/>
            </a:srgbClr>
          </a:solidFill>
          <a:ln>
            <a:noFill/>
          </a:ln>
        </p:spPr>
      </p:sp>
      <p:sp>
        <p:nvSpPr>
          <p:cNvPr id="5" name="Freeform 5"/>
          <p:cNvSpPr/>
          <p:nvPr/>
        </p:nvSpPr>
        <p:spPr>
          <a:xfrm>
            <a:off x="13970000" y="6350000"/>
            <a:ext cx="1905000" cy="1270000"/>
          </a:xfrm>
          <a:custGeom>
            <a:avLst/>
            <a:gdLst/>
            <a:ahLst/>
            <a:cxnLst/>
            <a:rect l="l" t="t" r="r" b="b"/>
            <a:pathLst>
              <a:path w="1905000" h="1270000">
                <a:moveTo>
                  <a:pt x="0" y="0"/>
                </a:moveTo>
                <a:lnTo>
                  <a:pt x="1270000" y="1270000"/>
                </a:lnTo>
                <a:moveTo>
                  <a:pt x="635000" y="0"/>
                </a:moveTo>
                <a:lnTo>
                  <a:pt x="1905000" y="1270000"/>
                </a:lnTo>
              </a:path>
            </a:pathLst>
          </a:custGeom>
          <a:noFill/>
          <a:ln w="6350">
            <a:solidFill>
              <a:srgbClr val="2E5C55">
                <a:alpha val="10196"/>
              </a:srgbClr>
            </a:solidFill>
          </a:ln>
        </p:spPr>
      </p:sp>
      <p:sp>
        <p:nvSpPr>
          <p:cNvPr id="6" name="Freeform 6"/>
          <p:cNvSpPr/>
          <p:nvPr/>
        </p:nvSpPr>
        <p:spPr>
          <a:xfrm>
            <a:off x="2032000" y="2794000"/>
            <a:ext cx="50800" cy="2032000"/>
          </a:xfrm>
          <a:custGeom>
            <a:avLst/>
            <a:gdLst/>
            <a:ahLst/>
            <a:cxnLst/>
            <a:rect l="l" t="t" r="r" b="b"/>
            <a:pathLst>
              <a:path w="50800" h="2032000">
                <a:moveTo>
                  <a:pt x="0" y="25400"/>
                </a:moveTo>
                <a:lnTo>
                  <a:pt x="0" y="2006600"/>
                </a:lnTo>
                <a:cubicBezTo>
                  <a:pt x="0" y="2020628"/>
                  <a:pt x="11372" y="2032000"/>
                  <a:pt x="25400" y="2032000"/>
                </a:cubicBezTo>
                <a:lnTo>
                  <a:pt x="25400" y="2032000"/>
                </a:lnTo>
                <a:cubicBezTo>
                  <a:pt x="39428" y="2032000"/>
                  <a:pt x="50800" y="2020628"/>
                  <a:pt x="50800" y="2006600"/>
                </a:cubicBezTo>
                <a:lnTo>
                  <a:pt x="50800" y="25400"/>
                </a:lnTo>
                <a:cubicBezTo>
                  <a:pt x="50800" y="11372"/>
                  <a:pt x="39428" y="0"/>
                  <a:pt x="25400" y="0"/>
                </a:cubicBezTo>
                <a:lnTo>
                  <a:pt x="25400" y="0"/>
                </a:lnTo>
                <a:cubicBezTo>
                  <a:pt x="11372" y="0"/>
                  <a:pt x="0" y="11372"/>
                  <a:pt x="0" y="25400"/>
                </a:cubicBezTo>
                <a:close/>
              </a:path>
            </a:pathLst>
          </a:custGeom>
          <a:solidFill>
            <a:srgbClr val="E5D9C5"/>
          </a:solidFill>
          <a:ln>
            <a:noFill/>
          </a:ln>
        </p:spPr>
      </p:sp>
      <p:sp>
        <p:nvSpPr>
          <p:cNvPr id="7" name="Freeform 7"/>
          <p:cNvSpPr/>
          <p:nvPr/>
        </p:nvSpPr>
        <p:spPr>
          <a:xfrm>
            <a:off x="2565400" y="525780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152400" y="76200"/>
                </a:moveTo>
                <a:cubicBezTo>
                  <a:pt x="152400" y="118284"/>
                  <a:pt x="118284" y="152400"/>
                  <a:pt x="76200" y="152400"/>
                </a:cubicBezTo>
                <a:cubicBezTo>
                  <a:pt x="34116" y="152400"/>
                  <a:pt x="0" y="118284"/>
                  <a:pt x="0" y="76200"/>
                </a:cubicBezTo>
                <a:cubicBezTo>
                  <a:pt x="0" y="34116"/>
                  <a:pt x="34116" y="0"/>
                  <a:pt x="76200" y="0"/>
                </a:cubicBezTo>
                <a:cubicBezTo>
                  <a:pt x="118284" y="0"/>
                  <a:pt x="152400" y="34116"/>
                  <a:pt x="152400" y="76200"/>
                </a:cubicBezTo>
                <a:close/>
              </a:path>
            </a:pathLst>
          </a:custGeom>
          <a:solidFill>
            <a:srgbClr val="E5D9C5"/>
          </a:solidFill>
          <a:ln>
            <a:noFill/>
          </a:ln>
        </p:spPr>
      </p:sp>
      <p:sp>
        <p:nvSpPr>
          <p:cNvPr id="8" name="Freeform 8"/>
          <p:cNvSpPr/>
          <p:nvPr/>
        </p:nvSpPr>
        <p:spPr>
          <a:xfrm>
            <a:off x="2870200" y="5295900"/>
            <a:ext cx="1270000" cy="76200"/>
          </a:xfrm>
          <a:custGeom>
            <a:avLst/>
            <a:gdLst/>
            <a:ahLst/>
            <a:cxnLst/>
            <a:rect l="l" t="t" r="r" b="b"/>
            <a:pathLst>
              <a:path w="1270000" h="76200">
                <a:moveTo>
                  <a:pt x="0" y="38100"/>
                </a:moveTo>
                <a:lnTo>
                  <a:pt x="0" y="38100"/>
                </a:lnTo>
                <a:cubicBezTo>
                  <a:pt x="0" y="59142"/>
                  <a:pt x="17058" y="76200"/>
                  <a:pt x="38100" y="76200"/>
                </a:cubicBezTo>
                <a:lnTo>
                  <a:pt x="1231900" y="76200"/>
                </a:lnTo>
                <a:cubicBezTo>
                  <a:pt x="1252942" y="76200"/>
                  <a:pt x="1270000" y="59142"/>
                  <a:pt x="1270000" y="38100"/>
                </a:cubicBezTo>
                <a:lnTo>
                  <a:pt x="1270000" y="38100"/>
                </a:lnTo>
                <a:cubicBezTo>
                  <a:pt x="1270000" y="17058"/>
                  <a:pt x="1252942" y="0"/>
                  <a:pt x="1231900" y="0"/>
                </a:cubicBezTo>
                <a:lnTo>
                  <a:pt x="38100" y="0"/>
                </a:lnTo>
                <a:cubicBezTo>
                  <a:pt x="17058" y="0"/>
                  <a:pt x="0" y="17058"/>
                  <a:pt x="0" y="38100"/>
                </a:cubicBezTo>
                <a:close/>
              </a:path>
            </a:pathLst>
          </a:custGeom>
          <a:solidFill>
            <a:srgbClr val="F4F5F7"/>
          </a:solidFill>
          <a:ln>
            <a:noFill/>
          </a:ln>
        </p:spPr>
      </p:sp>
      <p:sp>
        <p:nvSpPr>
          <p:cNvPr id="9" name="TextBox 9"/>
          <p:cNvSpPr txBox="1"/>
          <p:nvPr/>
        </p:nvSpPr>
        <p:spPr>
          <a:xfrm>
            <a:off x="1524000" y="1346200"/>
            <a:ext cx="4495800" cy="463550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28000" b="1" i="0">
                <a:solidFill>
                  <a:srgbClr val="2E5C55">
                    <a:alpha val="3137"/>
                  </a:srgbClr>
                </a:solidFill>
                <a:latin typeface="Arial" panose="020B0604020202020204"/>
              </a:rPr>
              <a:t>02</a:t>
            </a:r>
            <a:endParaRPr lang="en-US" sz="28000" b="1" i="0">
              <a:solidFill>
                <a:srgbClr val="2E5C55">
                  <a:alpha val="3137"/>
                </a:srgbClr>
              </a:solidFill>
              <a:latin typeface="Arial" panose="020B0604020202020204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2540000" y="3289300"/>
            <a:ext cx="10469880" cy="93218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5600" b="1" i="0">
                <a:solidFill>
                  <a:srgbClr val="2E5C55"/>
                </a:solidFill>
                <a:latin typeface="Arial" panose="020B0604020202020204"/>
              </a:rPr>
              <a:t>Part Two: System Architecture</a:t>
            </a:r>
            <a:endParaRPr lang="en-US" sz="5600" b="1" i="0">
              <a:solidFill>
                <a:srgbClr val="2E5C55"/>
              </a:solidFill>
              <a:latin typeface="Arial" panose="020B0604020202020204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2565400" y="4483100"/>
            <a:ext cx="7043420" cy="40132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2400" b="0" i="0">
                <a:solidFill>
                  <a:srgbClr val="556B67">
                    <a:alpha val="80000"/>
                  </a:srgbClr>
                </a:solidFill>
                <a:latin typeface="Arial" panose="020B0604020202020204"/>
              </a:rPr>
              <a:t>Efficient, Stable, and Scalable Cloud-Native Design</a:t>
            </a:r>
            <a:endParaRPr lang="en-US" sz="2400" b="0" i="0">
              <a:solidFill>
                <a:srgbClr val="556B67">
                  <a:alpha val="80000"/>
                </a:srgbClr>
              </a:solidFill>
              <a:latin typeface="Arial" panose="020B0604020202020204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14986000" y="8470900"/>
            <a:ext cx="585470" cy="24257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1400" b="0" i="0">
                <a:solidFill>
                  <a:srgbClr val="2E5C55">
                    <a:alpha val="30196"/>
                  </a:srgbClr>
                </a:solidFill>
                <a:latin typeface="Arial" panose="020B0604020202020204"/>
              </a:rPr>
              <a:t>05 / 12</a:t>
            </a:r>
            <a:endParaRPr lang="en-US" sz="1400" b="0" i="0">
              <a:solidFill>
                <a:srgbClr val="2E5C55">
                  <a:alpha val="30196"/>
                </a:srgbClr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6256000" cy="9144000"/>
          </a:xfrm>
          <a:custGeom>
            <a:avLst/>
            <a:gdLst/>
            <a:ahLst/>
            <a:cxnLst/>
            <a:rect l="l" t="t" r="r" b="b"/>
            <a:pathLst>
              <a:path w="16256000" h="9144000">
                <a:moveTo>
                  <a:pt x="0" y="0"/>
                </a:moveTo>
                <a:lnTo>
                  <a:pt x="16256000" y="0"/>
                </a:lnTo>
                <a:lnTo>
                  <a:pt x="16256000" y="9144000"/>
                </a:lnTo>
                <a:lnTo>
                  <a:pt x="0" y="9144000"/>
                </a:lnTo>
                <a:lnTo>
                  <a:pt x="0" y="0"/>
                </a:lnTo>
                <a:close/>
              </a:path>
            </a:pathLst>
          </a:custGeom>
          <a:solidFill>
            <a:srgbClr val="F4F5F7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13335000" y="-889000"/>
            <a:ext cx="3810000" cy="3810000"/>
          </a:xfrm>
          <a:custGeom>
            <a:avLst/>
            <a:gdLst/>
            <a:ahLst/>
            <a:cxnLst/>
            <a:rect l="l" t="t" r="r" b="b"/>
            <a:pathLst>
              <a:path w="3810000" h="3810000">
                <a:moveTo>
                  <a:pt x="3810000" y="1905000"/>
                </a:moveTo>
                <a:cubicBezTo>
                  <a:pt x="3810000" y="2957102"/>
                  <a:pt x="2957102" y="3810000"/>
                  <a:pt x="1905000" y="3810000"/>
                </a:cubicBezTo>
                <a:cubicBezTo>
                  <a:pt x="852898" y="3810000"/>
                  <a:pt x="0" y="2957102"/>
                  <a:pt x="0" y="1905000"/>
                </a:cubicBezTo>
                <a:cubicBezTo>
                  <a:pt x="0" y="852898"/>
                  <a:pt x="852898" y="0"/>
                  <a:pt x="1905000" y="0"/>
                </a:cubicBezTo>
                <a:cubicBezTo>
                  <a:pt x="2957102" y="0"/>
                  <a:pt x="3810000" y="852898"/>
                  <a:pt x="3810000" y="1905000"/>
                </a:cubicBezTo>
                <a:close/>
              </a:path>
            </a:pathLst>
          </a:custGeom>
          <a:solidFill>
            <a:srgbClr val="E5D9C5">
              <a:alpha val="30196"/>
            </a:srgbClr>
          </a:solidFill>
          <a:ln>
            <a:noFill/>
          </a:ln>
        </p:spPr>
      </p:sp>
      <p:sp>
        <p:nvSpPr>
          <p:cNvPr id="4" name="Freeform 4"/>
          <p:cNvSpPr/>
          <p:nvPr/>
        </p:nvSpPr>
        <p:spPr>
          <a:xfrm>
            <a:off x="0" y="5334000"/>
            <a:ext cx="3810000" cy="3810000"/>
          </a:xfrm>
          <a:custGeom>
            <a:avLst/>
            <a:gdLst/>
            <a:ahLst/>
            <a:cxnLst/>
            <a:rect l="l" t="t" r="r" b="b"/>
            <a:pathLst>
              <a:path w="3810000" h="3810000">
                <a:moveTo>
                  <a:pt x="0" y="3810000"/>
                </a:moveTo>
                <a:lnTo>
                  <a:pt x="3810000" y="3810000"/>
                </a:lnTo>
                <a:lnTo>
                  <a:pt x="0" y="0"/>
                </a:lnTo>
                <a:close/>
              </a:path>
            </a:pathLst>
          </a:custGeom>
          <a:solidFill>
            <a:srgbClr val="3B5B78">
              <a:alpha val="5098"/>
            </a:srgbClr>
          </a:solidFill>
          <a:ln>
            <a:noFill/>
          </a:ln>
        </p:spPr>
      </p:sp>
      <p:sp>
        <p:nvSpPr>
          <p:cNvPr id="5" name="Freeform 5"/>
          <p:cNvSpPr/>
          <p:nvPr/>
        </p:nvSpPr>
        <p:spPr>
          <a:xfrm>
            <a:off x="1016000" y="1016000"/>
            <a:ext cx="14224000" cy="0"/>
          </a:xfrm>
          <a:custGeom>
            <a:avLst/>
            <a:gdLst/>
            <a:ahLst/>
            <a:cxnLst/>
            <a:rect l="l" t="t" r="r" b="b"/>
            <a:pathLst>
              <a:path w="14224000">
                <a:moveTo>
                  <a:pt x="0" y="0"/>
                </a:moveTo>
                <a:lnTo>
                  <a:pt x="14224000" y="0"/>
                </a:lnTo>
              </a:path>
            </a:pathLst>
          </a:custGeom>
          <a:noFill/>
          <a:ln w="6350">
            <a:solidFill>
              <a:srgbClr val="3B5B78">
                <a:alpha val="30196"/>
              </a:srgbClr>
            </a:solidFill>
          </a:ln>
        </p:spPr>
      </p:sp>
      <p:sp>
        <p:nvSpPr>
          <p:cNvPr id="6" name="Freeform 6"/>
          <p:cNvSpPr/>
          <p:nvPr/>
        </p:nvSpPr>
        <p:spPr>
          <a:xfrm>
            <a:off x="1016000" y="2921000"/>
            <a:ext cx="14224000" cy="1016000"/>
          </a:xfrm>
          <a:custGeom>
            <a:avLst/>
            <a:gdLst/>
            <a:ahLst/>
            <a:cxnLst/>
            <a:rect l="l" t="t" r="r" b="b"/>
            <a:pathLst>
              <a:path w="14224000" h="1016000">
                <a:moveTo>
                  <a:pt x="0" y="101600"/>
                </a:moveTo>
                <a:lnTo>
                  <a:pt x="0" y="914400"/>
                </a:lnTo>
                <a:cubicBezTo>
                  <a:pt x="0" y="970512"/>
                  <a:pt x="45488" y="1016000"/>
                  <a:pt x="101600" y="1016000"/>
                </a:cubicBezTo>
                <a:lnTo>
                  <a:pt x="14122400" y="1016000"/>
                </a:lnTo>
                <a:cubicBezTo>
                  <a:pt x="14178512" y="1016000"/>
                  <a:pt x="14224000" y="970512"/>
                  <a:pt x="14224000" y="914400"/>
                </a:cubicBezTo>
                <a:lnTo>
                  <a:pt x="14224000" y="101600"/>
                </a:lnTo>
                <a:cubicBezTo>
                  <a:pt x="14224000" y="45488"/>
                  <a:pt x="14178512" y="0"/>
                  <a:pt x="14122400" y="0"/>
                </a:cubicBezTo>
                <a:lnTo>
                  <a:pt x="101600" y="0"/>
                </a:lnTo>
                <a:cubicBezTo>
                  <a:pt x="45488" y="0"/>
                  <a:pt x="0" y="45488"/>
                  <a:pt x="0" y="10160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</p:sp>
      <p:sp>
        <p:nvSpPr>
          <p:cNvPr id="7" name="Freeform 7"/>
          <p:cNvSpPr/>
          <p:nvPr/>
        </p:nvSpPr>
        <p:spPr>
          <a:xfrm>
            <a:off x="4953000" y="3390900"/>
            <a:ext cx="762000" cy="0"/>
          </a:xfrm>
          <a:custGeom>
            <a:avLst/>
            <a:gdLst/>
            <a:ahLst/>
            <a:cxnLst/>
            <a:rect l="l" t="t" r="r" b="b"/>
            <a:pathLst>
              <a:path w="762000">
                <a:moveTo>
                  <a:pt x="0" y="0"/>
                </a:moveTo>
                <a:lnTo>
                  <a:pt x="762000" y="0"/>
                </a:lnTo>
              </a:path>
            </a:pathLst>
          </a:custGeom>
          <a:noFill/>
          <a:ln w="19050">
            <a:solidFill>
              <a:srgbClr val="3B5B78"/>
            </a:solidFill>
            <a:tailEnd type="triangle" w="med" len="med"/>
          </a:ln>
        </p:spPr>
      </p:sp>
      <p:sp>
        <p:nvSpPr>
          <p:cNvPr id="8" name="Freeform 8"/>
          <p:cNvSpPr/>
          <p:nvPr/>
        </p:nvSpPr>
        <p:spPr>
          <a:xfrm>
            <a:off x="8128000" y="3390900"/>
            <a:ext cx="762000" cy="0"/>
          </a:xfrm>
          <a:custGeom>
            <a:avLst/>
            <a:gdLst/>
            <a:ahLst/>
            <a:cxnLst/>
            <a:rect l="l" t="t" r="r" b="b"/>
            <a:pathLst>
              <a:path w="762000">
                <a:moveTo>
                  <a:pt x="0" y="0"/>
                </a:moveTo>
                <a:lnTo>
                  <a:pt x="762000" y="0"/>
                </a:lnTo>
              </a:path>
            </a:pathLst>
          </a:custGeom>
          <a:noFill/>
          <a:ln w="19050">
            <a:solidFill>
              <a:srgbClr val="3B5B78"/>
            </a:solidFill>
            <a:tailEnd type="triangle" w="med" len="med"/>
          </a:ln>
        </p:spPr>
      </p:sp>
      <p:sp>
        <p:nvSpPr>
          <p:cNvPr id="9" name="Freeform 9"/>
          <p:cNvSpPr/>
          <p:nvPr/>
        </p:nvSpPr>
        <p:spPr>
          <a:xfrm>
            <a:off x="1016000" y="4318000"/>
            <a:ext cx="4445000" cy="2794000"/>
          </a:xfrm>
          <a:custGeom>
            <a:avLst/>
            <a:gdLst/>
            <a:ahLst/>
            <a:cxnLst/>
            <a:rect l="l" t="t" r="r" b="b"/>
            <a:pathLst>
              <a:path w="4445000" h="2794000">
                <a:moveTo>
                  <a:pt x="0" y="101600"/>
                </a:moveTo>
                <a:lnTo>
                  <a:pt x="0" y="2692400"/>
                </a:lnTo>
                <a:cubicBezTo>
                  <a:pt x="0" y="2748512"/>
                  <a:pt x="45488" y="2794000"/>
                  <a:pt x="101600" y="2794000"/>
                </a:cubicBezTo>
                <a:lnTo>
                  <a:pt x="4343400" y="2794000"/>
                </a:lnTo>
                <a:cubicBezTo>
                  <a:pt x="4399512" y="2794000"/>
                  <a:pt x="4445000" y="2748512"/>
                  <a:pt x="4445000" y="2692400"/>
                </a:cubicBezTo>
                <a:lnTo>
                  <a:pt x="4445000" y="101600"/>
                </a:lnTo>
                <a:cubicBezTo>
                  <a:pt x="4445000" y="45488"/>
                  <a:pt x="4399512" y="0"/>
                  <a:pt x="4343400" y="0"/>
                </a:cubicBezTo>
                <a:lnTo>
                  <a:pt x="101600" y="0"/>
                </a:lnTo>
                <a:cubicBezTo>
                  <a:pt x="45488" y="0"/>
                  <a:pt x="0" y="45488"/>
                  <a:pt x="0" y="10160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</p:sp>
      <p:sp>
        <p:nvSpPr>
          <p:cNvPr id="10" name="Freeform 10"/>
          <p:cNvSpPr/>
          <p:nvPr/>
        </p:nvSpPr>
        <p:spPr>
          <a:xfrm>
            <a:off x="1016000" y="4318000"/>
            <a:ext cx="4445000" cy="76200"/>
          </a:xfrm>
          <a:custGeom>
            <a:avLst/>
            <a:gdLst/>
            <a:ahLst/>
            <a:cxnLst/>
            <a:rect l="l" t="t" r="r" b="b"/>
            <a:pathLst>
              <a:path w="4445000" h="76200">
                <a:moveTo>
                  <a:pt x="0" y="38100"/>
                </a:moveTo>
                <a:lnTo>
                  <a:pt x="0" y="38100"/>
                </a:lnTo>
                <a:cubicBezTo>
                  <a:pt x="0" y="59142"/>
                  <a:pt x="17058" y="76200"/>
                  <a:pt x="38100" y="76200"/>
                </a:cubicBezTo>
                <a:lnTo>
                  <a:pt x="4406900" y="76200"/>
                </a:lnTo>
                <a:cubicBezTo>
                  <a:pt x="4427942" y="76200"/>
                  <a:pt x="4445000" y="59142"/>
                  <a:pt x="4445000" y="38100"/>
                </a:cubicBezTo>
                <a:lnTo>
                  <a:pt x="4445000" y="38100"/>
                </a:lnTo>
                <a:cubicBezTo>
                  <a:pt x="4445000" y="17058"/>
                  <a:pt x="4427942" y="0"/>
                  <a:pt x="4406900" y="0"/>
                </a:cubicBezTo>
                <a:lnTo>
                  <a:pt x="38100" y="0"/>
                </a:lnTo>
                <a:cubicBezTo>
                  <a:pt x="17058" y="0"/>
                  <a:pt x="0" y="17058"/>
                  <a:pt x="0" y="38100"/>
                </a:cubicBezTo>
                <a:close/>
              </a:path>
            </a:pathLst>
          </a:custGeom>
          <a:solidFill>
            <a:srgbClr val="3B5B78"/>
          </a:solidFill>
          <a:ln>
            <a:noFill/>
          </a:ln>
        </p:spPr>
      </p:sp>
      <p:sp>
        <p:nvSpPr>
          <p:cNvPr id="11" name="Freeform 11"/>
          <p:cNvSpPr/>
          <p:nvPr/>
        </p:nvSpPr>
        <p:spPr>
          <a:xfrm>
            <a:off x="5905500" y="4318000"/>
            <a:ext cx="4445000" cy="2794000"/>
          </a:xfrm>
          <a:custGeom>
            <a:avLst/>
            <a:gdLst/>
            <a:ahLst/>
            <a:cxnLst/>
            <a:rect l="l" t="t" r="r" b="b"/>
            <a:pathLst>
              <a:path w="4445000" h="2794000">
                <a:moveTo>
                  <a:pt x="0" y="101600"/>
                </a:moveTo>
                <a:lnTo>
                  <a:pt x="0" y="2692400"/>
                </a:lnTo>
                <a:cubicBezTo>
                  <a:pt x="0" y="2748512"/>
                  <a:pt x="45488" y="2794000"/>
                  <a:pt x="101600" y="2794000"/>
                </a:cubicBezTo>
                <a:lnTo>
                  <a:pt x="4343400" y="2794000"/>
                </a:lnTo>
                <a:cubicBezTo>
                  <a:pt x="4399512" y="2794000"/>
                  <a:pt x="4445000" y="2748512"/>
                  <a:pt x="4445000" y="2692400"/>
                </a:cubicBezTo>
                <a:lnTo>
                  <a:pt x="4445000" y="101600"/>
                </a:lnTo>
                <a:cubicBezTo>
                  <a:pt x="4445000" y="45488"/>
                  <a:pt x="4399512" y="0"/>
                  <a:pt x="4343400" y="0"/>
                </a:cubicBezTo>
                <a:lnTo>
                  <a:pt x="101600" y="0"/>
                </a:lnTo>
                <a:cubicBezTo>
                  <a:pt x="45488" y="0"/>
                  <a:pt x="0" y="45488"/>
                  <a:pt x="0" y="10160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</p:sp>
      <p:sp>
        <p:nvSpPr>
          <p:cNvPr id="12" name="Freeform 12"/>
          <p:cNvSpPr/>
          <p:nvPr/>
        </p:nvSpPr>
        <p:spPr>
          <a:xfrm>
            <a:off x="5905500" y="4318000"/>
            <a:ext cx="4445000" cy="76200"/>
          </a:xfrm>
          <a:custGeom>
            <a:avLst/>
            <a:gdLst/>
            <a:ahLst/>
            <a:cxnLst/>
            <a:rect l="l" t="t" r="r" b="b"/>
            <a:pathLst>
              <a:path w="4445000" h="76200">
                <a:moveTo>
                  <a:pt x="0" y="38100"/>
                </a:moveTo>
                <a:lnTo>
                  <a:pt x="0" y="38100"/>
                </a:lnTo>
                <a:cubicBezTo>
                  <a:pt x="0" y="59142"/>
                  <a:pt x="17058" y="76200"/>
                  <a:pt x="38100" y="76200"/>
                </a:cubicBezTo>
                <a:lnTo>
                  <a:pt x="4406900" y="76200"/>
                </a:lnTo>
                <a:cubicBezTo>
                  <a:pt x="4427942" y="76200"/>
                  <a:pt x="4445000" y="59142"/>
                  <a:pt x="4445000" y="38100"/>
                </a:cubicBezTo>
                <a:lnTo>
                  <a:pt x="4445000" y="38100"/>
                </a:lnTo>
                <a:cubicBezTo>
                  <a:pt x="4445000" y="17058"/>
                  <a:pt x="4427942" y="0"/>
                  <a:pt x="4406900" y="0"/>
                </a:cubicBezTo>
                <a:lnTo>
                  <a:pt x="38100" y="0"/>
                </a:lnTo>
                <a:cubicBezTo>
                  <a:pt x="17058" y="0"/>
                  <a:pt x="0" y="17058"/>
                  <a:pt x="0" y="38100"/>
                </a:cubicBezTo>
                <a:close/>
              </a:path>
            </a:pathLst>
          </a:custGeom>
          <a:solidFill>
            <a:srgbClr val="E5D9C5"/>
          </a:solidFill>
          <a:ln>
            <a:noFill/>
          </a:ln>
        </p:spPr>
      </p:sp>
      <p:sp>
        <p:nvSpPr>
          <p:cNvPr id="13" name="Freeform 13"/>
          <p:cNvSpPr/>
          <p:nvPr/>
        </p:nvSpPr>
        <p:spPr>
          <a:xfrm>
            <a:off x="10795000" y="4318000"/>
            <a:ext cx="4445000" cy="2794000"/>
          </a:xfrm>
          <a:custGeom>
            <a:avLst/>
            <a:gdLst/>
            <a:ahLst/>
            <a:cxnLst/>
            <a:rect l="l" t="t" r="r" b="b"/>
            <a:pathLst>
              <a:path w="4445000" h="2794000">
                <a:moveTo>
                  <a:pt x="0" y="101600"/>
                </a:moveTo>
                <a:lnTo>
                  <a:pt x="0" y="2692400"/>
                </a:lnTo>
                <a:cubicBezTo>
                  <a:pt x="0" y="2748512"/>
                  <a:pt x="45488" y="2794000"/>
                  <a:pt x="101600" y="2794000"/>
                </a:cubicBezTo>
                <a:lnTo>
                  <a:pt x="4343400" y="2794000"/>
                </a:lnTo>
                <a:cubicBezTo>
                  <a:pt x="4399512" y="2794000"/>
                  <a:pt x="4445000" y="2748512"/>
                  <a:pt x="4445000" y="2692400"/>
                </a:cubicBezTo>
                <a:lnTo>
                  <a:pt x="4445000" y="101600"/>
                </a:lnTo>
                <a:cubicBezTo>
                  <a:pt x="4445000" y="45488"/>
                  <a:pt x="4399512" y="0"/>
                  <a:pt x="4343400" y="0"/>
                </a:cubicBezTo>
                <a:lnTo>
                  <a:pt x="101600" y="0"/>
                </a:lnTo>
                <a:cubicBezTo>
                  <a:pt x="45488" y="0"/>
                  <a:pt x="0" y="45488"/>
                  <a:pt x="0" y="10160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</p:sp>
      <p:sp>
        <p:nvSpPr>
          <p:cNvPr id="14" name="Freeform 14"/>
          <p:cNvSpPr/>
          <p:nvPr/>
        </p:nvSpPr>
        <p:spPr>
          <a:xfrm>
            <a:off x="10795000" y="4318000"/>
            <a:ext cx="4445000" cy="76200"/>
          </a:xfrm>
          <a:custGeom>
            <a:avLst/>
            <a:gdLst/>
            <a:ahLst/>
            <a:cxnLst/>
            <a:rect l="l" t="t" r="r" b="b"/>
            <a:pathLst>
              <a:path w="4445000" h="76200">
                <a:moveTo>
                  <a:pt x="0" y="38100"/>
                </a:moveTo>
                <a:lnTo>
                  <a:pt x="0" y="38100"/>
                </a:lnTo>
                <a:cubicBezTo>
                  <a:pt x="0" y="59142"/>
                  <a:pt x="17058" y="76200"/>
                  <a:pt x="38100" y="76200"/>
                </a:cubicBezTo>
                <a:lnTo>
                  <a:pt x="4406900" y="76200"/>
                </a:lnTo>
                <a:cubicBezTo>
                  <a:pt x="4427942" y="76200"/>
                  <a:pt x="4445000" y="59142"/>
                  <a:pt x="4445000" y="38100"/>
                </a:cubicBezTo>
                <a:lnTo>
                  <a:pt x="4445000" y="38100"/>
                </a:lnTo>
                <a:cubicBezTo>
                  <a:pt x="4445000" y="17058"/>
                  <a:pt x="4427942" y="0"/>
                  <a:pt x="4406900" y="0"/>
                </a:cubicBezTo>
                <a:lnTo>
                  <a:pt x="38100" y="0"/>
                </a:lnTo>
                <a:cubicBezTo>
                  <a:pt x="17058" y="0"/>
                  <a:pt x="0" y="17058"/>
                  <a:pt x="0" y="38100"/>
                </a:cubicBezTo>
                <a:close/>
              </a:path>
            </a:pathLst>
          </a:custGeom>
          <a:solidFill>
            <a:srgbClr val="2E5C55"/>
          </a:solidFill>
          <a:ln>
            <a:noFill/>
          </a:ln>
        </p:spPr>
      </p:sp>
      <p:sp>
        <p:nvSpPr>
          <p:cNvPr id="15" name="Freeform 15"/>
          <p:cNvSpPr/>
          <p:nvPr/>
        </p:nvSpPr>
        <p:spPr>
          <a:xfrm>
            <a:off x="1016000" y="7493000"/>
            <a:ext cx="14224000" cy="762000"/>
          </a:xfrm>
          <a:custGeom>
            <a:avLst/>
            <a:gdLst/>
            <a:ahLst/>
            <a:cxnLst/>
            <a:rect l="l" t="t" r="r" b="b"/>
            <a:pathLst>
              <a:path w="14224000" h="762000">
                <a:moveTo>
                  <a:pt x="0" y="101600"/>
                </a:moveTo>
                <a:lnTo>
                  <a:pt x="0" y="660400"/>
                </a:lnTo>
                <a:cubicBezTo>
                  <a:pt x="0" y="716512"/>
                  <a:pt x="45488" y="762000"/>
                  <a:pt x="101600" y="762000"/>
                </a:cubicBezTo>
                <a:lnTo>
                  <a:pt x="14122400" y="762000"/>
                </a:lnTo>
                <a:cubicBezTo>
                  <a:pt x="14178512" y="762000"/>
                  <a:pt x="14224000" y="716512"/>
                  <a:pt x="14224000" y="660400"/>
                </a:cubicBezTo>
                <a:lnTo>
                  <a:pt x="14224000" y="101600"/>
                </a:lnTo>
                <a:cubicBezTo>
                  <a:pt x="14224000" y="45488"/>
                  <a:pt x="14178512" y="0"/>
                  <a:pt x="14122400" y="0"/>
                </a:cubicBezTo>
                <a:lnTo>
                  <a:pt x="101600" y="0"/>
                </a:lnTo>
                <a:cubicBezTo>
                  <a:pt x="45488" y="0"/>
                  <a:pt x="0" y="45488"/>
                  <a:pt x="0" y="101600"/>
                </a:cubicBezTo>
                <a:close/>
              </a:path>
            </a:pathLst>
          </a:custGeom>
          <a:solidFill>
            <a:srgbClr val="2E5C55">
              <a:alpha val="5098"/>
            </a:srgbClr>
          </a:solidFill>
          <a:ln>
            <a:noFill/>
          </a:ln>
        </p:spPr>
      </p:sp>
      <p:sp>
        <p:nvSpPr>
          <p:cNvPr id="16" name="Freeform 16"/>
          <p:cNvSpPr/>
          <p:nvPr/>
        </p:nvSpPr>
        <p:spPr>
          <a:xfrm>
            <a:off x="12700000" y="7747000"/>
            <a:ext cx="1270000" cy="254000"/>
          </a:xfrm>
          <a:custGeom>
            <a:avLst/>
            <a:gdLst/>
            <a:ahLst/>
            <a:cxnLst/>
            <a:rect l="l" t="t" r="r" b="b"/>
            <a:pathLst>
              <a:path w="1270000" h="254000">
                <a:moveTo>
                  <a:pt x="0" y="254000"/>
                </a:moveTo>
                <a:lnTo>
                  <a:pt x="254000" y="63500"/>
                </a:lnTo>
                <a:lnTo>
                  <a:pt x="508000" y="190500"/>
                </a:lnTo>
                <a:lnTo>
                  <a:pt x="762000" y="0"/>
                </a:lnTo>
                <a:lnTo>
                  <a:pt x="1016000" y="127000"/>
                </a:lnTo>
                <a:lnTo>
                  <a:pt x="1270000" y="63500"/>
                </a:lnTo>
              </a:path>
            </a:pathLst>
          </a:custGeom>
          <a:noFill/>
          <a:ln w="25400">
            <a:solidFill>
              <a:srgbClr val="2E5C55"/>
            </a:solidFill>
          </a:ln>
        </p:spPr>
      </p:sp>
      <p:sp>
        <p:nvSpPr>
          <p:cNvPr id="17" name="Freeform 17"/>
          <p:cNvSpPr/>
          <p:nvPr/>
        </p:nvSpPr>
        <p:spPr>
          <a:xfrm>
            <a:off x="13931900" y="7772400"/>
            <a:ext cx="76200" cy="76200"/>
          </a:xfrm>
          <a:custGeom>
            <a:avLst/>
            <a:gdLst/>
            <a:ahLst/>
            <a:cxnLst/>
            <a:rect l="l" t="t" r="r" b="b"/>
            <a:pathLst>
              <a:path w="76200" h="76200">
                <a:moveTo>
                  <a:pt x="76200" y="38100"/>
                </a:moveTo>
                <a:cubicBezTo>
                  <a:pt x="76200" y="59142"/>
                  <a:pt x="59142" y="76200"/>
                  <a:pt x="38100" y="76200"/>
                </a:cubicBezTo>
                <a:cubicBezTo>
                  <a:pt x="17058" y="76200"/>
                  <a:pt x="0" y="59142"/>
                  <a:pt x="0" y="38100"/>
                </a:cubicBezTo>
                <a:cubicBezTo>
                  <a:pt x="0" y="17058"/>
                  <a:pt x="17058" y="0"/>
                  <a:pt x="38100" y="0"/>
                </a:cubicBezTo>
                <a:cubicBezTo>
                  <a:pt x="59142" y="0"/>
                  <a:pt x="76200" y="17058"/>
                  <a:pt x="76200" y="38100"/>
                </a:cubicBezTo>
                <a:close/>
              </a:path>
            </a:pathLst>
          </a:custGeom>
          <a:solidFill>
            <a:srgbClr val="2E5C55"/>
          </a:solidFill>
          <a:ln>
            <a:noFill/>
          </a:ln>
        </p:spPr>
      </p:sp>
      <p:sp>
        <p:nvSpPr>
          <p:cNvPr id="18" name="TextBox 18"/>
          <p:cNvSpPr txBox="1"/>
          <p:nvPr/>
        </p:nvSpPr>
        <p:spPr>
          <a:xfrm>
            <a:off x="1016000" y="596900"/>
            <a:ext cx="1957070" cy="24257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1400" b="0" i="0">
                <a:solidFill>
                  <a:srgbClr val="3B5B78"/>
                </a:solidFill>
                <a:latin typeface="Arial" panose="020B0604020202020204"/>
              </a:rPr>
              <a:t>06 / INFRASTRUCTURE</a:t>
            </a:r>
            <a:endParaRPr lang="en-US" sz="1400" b="0" i="0">
              <a:solidFill>
                <a:srgbClr val="3B5B78"/>
              </a:solidFill>
              <a:latin typeface="Arial" panose="020B0604020202020204"/>
            </a:endParaRPr>
          </a:p>
        </p:txBody>
      </p:sp>
      <p:sp>
        <p:nvSpPr>
          <p:cNvPr id="19" name="TextBox 19"/>
          <p:cNvSpPr txBox="1"/>
          <p:nvPr/>
        </p:nvSpPr>
        <p:spPr>
          <a:xfrm>
            <a:off x="1016000" y="1295400"/>
            <a:ext cx="7153910" cy="70231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4200" b="1" i="0">
                <a:solidFill>
                  <a:srgbClr val="3B5B78"/>
                </a:solidFill>
                <a:latin typeface="Arial" panose="020B0604020202020204"/>
              </a:rPr>
              <a:t>System Architecture Design</a:t>
            </a:r>
            <a:endParaRPr lang="en-US" sz="4200" b="1" i="0">
              <a:solidFill>
                <a:srgbClr val="3B5B78"/>
              </a:solidFill>
              <a:latin typeface="Arial" panose="020B0604020202020204"/>
            </a:endParaRPr>
          </a:p>
        </p:txBody>
      </p:sp>
      <p:sp>
        <p:nvSpPr>
          <p:cNvPr id="20" name="TextBox 20"/>
          <p:cNvSpPr txBox="1"/>
          <p:nvPr/>
        </p:nvSpPr>
        <p:spPr>
          <a:xfrm>
            <a:off x="1016000" y="2070100"/>
            <a:ext cx="9254490" cy="31369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1800" b="0" i="0">
                <a:solidFill>
                  <a:srgbClr val="7A869A"/>
                </a:solidFill>
                <a:latin typeface="Arial" panose="020B0604020202020204"/>
              </a:rPr>
              <a:t>Asynchronous architecture based on Render containerization and DeepSeek AI-driven logic</a:t>
            </a:r>
            <a:endParaRPr lang="en-US" sz="1800" b="0" i="0">
              <a:solidFill>
                <a:srgbClr val="7A869A"/>
              </a:solidFill>
              <a:latin typeface="Arial" panose="020B0604020202020204"/>
            </a:endParaRPr>
          </a:p>
        </p:txBody>
      </p:sp>
      <p:sp>
        <p:nvSpPr>
          <p:cNvPr id="21" name="TextBox 21"/>
          <p:cNvSpPr txBox="1"/>
          <p:nvPr/>
        </p:nvSpPr>
        <p:spPr>
          <a:xfrm>
            <a:off x="1397000" y="3314700"/>
            <a:ext cx="1812290" cy="31369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1800" b="1" i="0">
                <a:solidFill>
                  <a:srgbClr val="3B5B78"/>
                </a:solidFill>
                <a:latin typeface="Arial" panose="020B0604020202020204"/>
              </a:rPr>
              <a:t>Interaction Flow</a:t>
            </a:r>
            <a:endParaRPr lang="en-US" sz="1800" b="1" i="0">
              <a:solidFill>
                <a:srgbClr val="3B5B78"/>
              </a:solidFill>
              <a:latin typeface="Arial" panose="020B0604020202020204"/>
            </a:endParaRPr>
          </a:p>
        </p:txBody>
      </p:sp>
      <p:sp>
        <p:nvSpPr>
          <p:cNvPr id="22" name="TextBox 22"/>
          <p:cNvSpPr txBox="1"/>
          <p:nvPr/>
        </p:nvSpPr>
        <p:spPr>
          <a:xfrm>
            <a:off x="3302000" y="3263900"/>
            <a:ext cx="1465580" cy="27178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1600" b="0" i="0">
                <a:solidFill>
                  <a:srgbClr val="2E5C55"/>
                </a:solidFill>
                <a:latin typeface="Arial" panose="020B0604020202020204"/>
              </a:rPr>
              <a:t>User (Telegram)</a:t>
            </a:r>
            <a:endParaRPr lang="en-US" sz="1600" b="0" i="0">
              <a:solidFill>
                <a:srgbClr val="2E5C55"/>
              </a:solidFill>
              <a:latin typeface="Arial" panose="020B0604020202020204"/>
            </a:endParaRPr>
          </a:p>
        </p:txBody>
      </p:sp>
      <p:sp>
        <p:nvSpPr>
          <p:cNvPr id="23" name="TextBox 23"/>
          <p:cNvSpPr txBox="1"/>
          <p:nvPr/>
        </p:nvSpPr>
        <p:spPr>
          <a:xfrm>
            <a:off x="5969000" y="3263900"/>
            <a:ext cx="1808480" cy="27178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1600" b="0" i="0">
                <a:solidFill>
                  <a:srgbClr val="2E5C55"/>
                </a:solidFill>
                <a:latin typeface="Arial" panose="020B0604020202020204"/>
              </a:rPr>
              <a:t>Render (Python Bot)</a:t>
            </a:r>
            <a:endParaRPr lang="en-US" sz="1600" b="0" i="0">
              <a:solidFill>
                <a:srgbClr val="2E5C55"/>
              </a:solidFill>
              <a:latin typeface="Arial" panose="020B0604020202020204"/>
            </a:endParaRPr>
          </a:p>
        </p:txBody>
      </p:sp>
      <p:sp>
        <p:nvSpPr>
          <p:cNvPr id="24" name="TextBox 24"/>
          <p:cNvSpPr txBox="1"/>
          <p:nvPr/>
        </p:nvSpPr>
        <p:spPr>
          <a:xfrm>
            <a:off x="9144000" y="3263900"/>
            <a:ext cx="2608580" cy="27178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1600" b="0" i="0">
                <a:solidFill>
                  <a:srgbClr val="2E5C55"/>
                </a:solidFill>
                <a:latin typeface="Arial" panose="020B0604020202020204"/>
              </a:rPr>
              <a:t>DeepSeek API / Redis Cloud</a:t>
            </a:r>
            <a:endParaRPr lang="en-US" sz="1600" b="0" i="0">
              <a:solidFill>
                <a:srgbClr val="2E5C55"/>
              </a:solidFill>
              <a:latin typeface="Arial" panose="020B0604020202020204"/>
            </a:endParaRPr>
          </a:p>
        </p:txBody>
      </p:sp>
      <p:sp>
        <p:nvSpPr>
          <p:cNvPr id="25" name="TextBox 25"/>
          <p:cNvSpPr txBox="1"/>
          <p:nvPr/>
        </p:nvSpPr>
        <p:spPr>
          <a:xfrm>
            <a:off x="1397000" y="4648200"/>
            <a:ext cx="1866900" cy="34290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2000" b="1" i="0">
                <a:solidFill>
                  <a:srgbClr val="3B5B78"/>
                </a:solidFill>
                <a:latin typeface="Arial" panose="020B0604020202020204"/>
              </a:rPr>
              <a:t>Compute Layer</a:t>
            </a:r>
            <a:endParaRPr lang="en-US" sz="2000" b="1" i="0">
              <a:solidFill>
                <a:srgbClr val="3B5B78"/>
              </a:solidFill>
              <a:latin typeface="Arial" panose="020B0604020202020204"/>
            </a:endParaRPr>
          </a:p>
        </p:txBody>
      </p:sp>
      <p:sp>
        <p:nvSpPr>
          <p:cNvPr id="26" name="TextBox 26"/>
          <p:cNvSpPr txBox="1"/>
          <p:nvPr/>
        </p:nvSpPr>
        <p:spPr>
          <a:xfrm>
            <a:off x="1397000" y="5219700"/>
            <a:ext cx="2695575" cy="1400175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pPr>
              <a:spcAft>
                <a:spcPct val="0"/>
              </a:spcAft>
            </a:pPr>
            <a:r>
              <a:rPr lang="en-US" sz="1500" b="0" i="0">
                <a:solidFill>
                  <a:srgbClr val="5E6C84"/>
                </a:solidFill>
                <a:latin typeface="Arial" panose="020B0604020202020204"/>
              </a:rPr>
              <a:t>• Core Language: Python</a:t>
            </a:r>
            <a:endParaRPr lang="en-US" sz="1500" b="0" i="0">
              <a:solidFill>
                <a:srgbClr val="5E6C84"/>
              </a:solidFill>
              <a:latin typeface="Arial" panose="020B0604020202020204"/>
            </a:endParaRPr>
          </a:p>
          <a:p>
            <a:pPr>
              <a:spcBef>
                <a:spcPts val="1200"/>
              </a:spcBef>
              <a:spcAft>
                <a:spcPct val="0"/>
              </a:spcAft>
            </a:pPr>
            <a:r>
              <a:rPr lang="en-US" sz="1500" b="0" i="0">
                <a:solidFill>
                  <a:srgbClr val="5E6C84"/>
                </a:solidFill>
                <a:latin typeface="Arial" panose="020B0604020202020204"/>
              </a:rPr>
              <a:t>• Deployment: Render Container</a:t>
            </a:r>
            <a:endParaRPr lang="en-US" sz="1500" b="0" i="0">
              <a:solidFill>
                <a:srgbClr val="5E6C84"/>
              </a:solidFill>
              <a:latin typeface="Arial" panose="020B0604020202020204"/>
            </a:endParaRPr>
          </a:p>
          <a:p>
            <a:pPr>
              <a:spcBef>
                <a:spcPts val="1200"/>
              </a:spcBef>
              <a:spcAft>
                <a:spcPct val="0"/>
              </a:spcAft>
            </a:pPr>
            <a:r>
              <a:rPr lang="en-US" sz="1500" b="0" i="0">
                <a:solidFill>
                  <a:srgbClr val="5E6C84"/>
                </a:solidFill>
                <a:latin typeface="Arial" panose="020B0604020202020204"/>
              </a:rPr>
              <a:t>• Logic: Async Event-driven</a:t>
            </a:r>
            <a:endParaRPr lang="en-US" sz="1500" b="0" i="0">
              <a:solidFill>
                <a:srgbClr val="5E6C84"/>
              </a:solidFill>
              <a:latin typeface="Arial" panose="020B0604020202020204"/>
            </a:endParaRPr>
          </a:p>
          <a:p>
            <a:pPr>
              <a:spcBef>
                <a:spcPts val="1200"/>
              </a:spcBef>
              <a:spcAft>
                <a:spcPct val="0"/>
              </a:spcAft>
            </a:pPr>
            <a:r>
              <a:rPr lang="en-US" sz="1500" b="0" i="0">
                <a:solidFill>
                  <a:srgbClr val="5E6C84"/>
                </a:solidFill>
                <a:latin typeface="Arial" panose="020B0604020202020204"/>
              </a:rPr>
              <a:t>• Auto-scaling Support</a:t>
            </a:r>
            <a:endParaRPr lang="en-US" sz="1500" b="0" i="0">
              <a:solidFill>
                <a:srgbClr val="5E6C84"/>
              </a:solidFill>
              <a:latin typeface="Arial" panose="020B0604020202020204"/>
            </a:endParaRPr>
          </a:p>
        </p:txBody>
      </p:sp>
      <p:sp>
        <p:nvSpPr>
          <p:cNvPr id="27" name="TextBox 27"/>
          <p:cNvSpPr txBox="1"/>
          <p:nvPr/>
        </p:nvSpPr>
        <p:spPr>
          <a:xfrm>
            <a:off x="6286500" y="4648200"/>
            <a:ext cx="1727200" cy="34290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2000" b="1" i="0">
                <a:solidFill>
                  <a:srgbClr val="3B5B78"/>
                </a:solidFill>
                <a:latin typeface="Arial" panose="020B0604020202020204"/>
              </a:rPr>
              <a:t>Storage Layer</a:t>
            </a:r>
            <a:endParaRPr lang="en-US" sz="2000" b="1" i="0">
              <a:solidFill>
                <a:srgbClr val="3B5B78"/>
              </a:solidFill>
              <a:latin typeface="Arial" panose="020B0604020202020204"/>
            </a:endParaRPr>
          </a:p>
        </p:txBody>
      </p:sp>
      <p:sp>
        <p:nvSpPr>
          <p:cNvPr id="28" name="TextBox 28"/>
          <p:cNvSpPr txBox="1"/>
          <p:nvPr/>
        </p:nvSpPr>
        <p:spPr>
          <a:xfrm>
            <a:off x="6286500" y="5219700"/>
            <a:ext cx="2543175" cy="1400175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pPr>
              <a:spcAft>
                <a:spcPct val="0"/>
              </a:spcAft>
            </a:pPr>
            <a:r>
              <a:rPr lang="en-US" sz="1500" b="0" i="0">
                <a:solidFill>
                  <a:srgbClr val="5E6C84"/>
                </a:solidFill>
                <a:latin typeface="Arial" panose="020B0604020202020204"/>
              </a:rPr>
              <a:t>• Engine: Redis Cloud</a:t>
            </a:r>
            <a:endParaRPr lang="en-US" sz="1500" b="0" i="0">
              <a:solidFill>
                <a:srgbClr val="5E6C84"/>
              </a:solidFill>
              <a:latin typeface="Arial" panose="020B0604020202020204"/>
            </a:endParaRPr>
          </a:p>
          <a:p>
            <a:pPr>
              <a:spcBef>
                <a:spcPts val="1200"/>
              </a:spcBef>
              <a:spcAft>
                <a:spcPct val="0"/>
              </a:spcAft>
            </a:pPr>
            <a:r>
              <a:rPr lang="en-US" sz="1500" b="0" i="0">
                <a:solidFill>
                  <a:srgbClr val="5E6C84"/>
                </a:solidFill>
                <a:latin typeface="Arial" panose="020B0604020202020204"/>
              </a:rPr>
              <a:t>• Session Context Persistence</a:t>
            </a:r>
            <a:endParaRPr lang="en-US" sz="1500" b="0" i="0">
              <a:solidFill>
                <a:srgbClr val="5E6C84"/>
              </a:solidFill>
              <a:latin typeface="Arial" panose="020B0604020202020204"/>
            </a:endParaRPr>
          </a:p>
          <a:p>
            <a:pPr>
              <a:spcBef>
                <a:spcPts val="1200"/>
              </a:spcBef>
              <a:spcAft>
                <a:spcPct val="0"/>
              </a:spcAft>
            </a:pPr>
            <a:r>
              <a:rPr lang="en-US" sz="1500" b="0" i="0">
                <a:solidFill>
                  <a:srgbClr val="5E6C84"/>
                </a:solidFill>
                <a:latin typeface="Arial" panose="020B0604020202020204"/>
              </a:rPr>
              <a:t>• Task State Management</a:t>
            </a:r>
            <a:endParaRPr lang="en-US" sz="1500" b="0" i="0">
              <a:solidFill>
                <a:srgbClr val="5E6C84"/>
              </a:solidFill>
              <a:latin typeface="Arial" panose="020B0604020202020204"/>
            </a:endParaRPr>
          </a:p>
          <a:p>
            <a:pPr>
              <a:spcBef>
                <a:spcPts val="1200"/>
              </a:spcBef>
              <a:spcAft>
                <a:spcPct val="0"/>
              </a:spcAft>
            </a:pPr>
            <a:r>
              <a:rPr lang="en-US" sz="1500" b="0" i="0">
                <a:solidFill>
                  <a:srgbClr val="5E6C84"/>
                </a:solidFill>
                <a:latin typeface="Arial" panose="020B0604020202020204"/>
              </a:rPr>
              <a:t>• Real-time User Profiling</a:t>
            </a:r>
            <a:endParaRPr lang="en-US" sz="1500" b="0" i="0">
              <a:solidFill>
                <a:srgbClr val="5E6C84"/>
              </a:solidFill>
              <a:latin typeface="Arial" panose="020B0604020202020204"/>
            </a:endParaRPr>
          </a:p>
        </p:txBody>
      </p:sp>
      <p:sp>
        <p:nvSpPr>
          <p:cNvPr id="29" name="TextBox 29"/>
          <p:cNvSpPr txBox="1"/>
          <p:nvPr/>
        </p:nvSpPr>
        <p:spPr>
          <a:xfrm>
            <a:off x="11176000" y="4648200"/>
            <a:ext cx="1917700" cy="34290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2000" b="1" i="0">
                <a:solidFill>
                  <a:srgbClr val="3B5B78"/>
                </a:solidFill>
                <a:latin typeface="Arial" panose="020B0604020202020204"/>
              </a:rPr>
              <a:t>AI Engine Layer</a:t>
            </a:r>
            <a:endParaRPr lang="en-US" sz="2000" b="1" i="0">
              <a:solidFill>
                <a:srgbClr val="3B5B78"/>
              </a:solidFill>
              <a:latin typeface="Arial" panose="020B0604020202020204"/>
            </a:endParaRPr>
          </a:p>
        </p:txBody>
      </p:sp>
      <p:sp>
        <p:nvSpPr>
          <p:cNvPr id="30" name="TextBox 30"/>
          <p:cNvSpPr txBox="1"/>
          <p:nvPr/>
        </p:nvSpPr>
        <p:spPr>
          <a:xfrm>
            <a:off x="11176000" y="5219700"/>
            <a:ext cx="2746375" cy="1400175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pPr>
              <a:spcAft>
                <a:spcPct val="0"/>
              </a:spcAft>
            </a:pPr>
            <a:r>
              <a:rPr lang="en-US" sz="1500" b="0" i="0">
                <a:solidFill>
                  <a:srgbClr val="5E6C84"/>
                </a:solidFill>
                <a:latin typeface="Arial" panose="020B0604020202020204"/>
              </a:rPr>
              <a:t>• Model: DeepSeek API</a:t>
            </a:r>
            <a:endParaRPr lang="en-US" sz="1500" b="0" i="0">
              <a:solidFill>
                <a:srgbClr val="5E6C84"/>
              </a:solidFill>
              <a:latin typeface="Arial" panose="020B0604020202020204"/>
            </a:endParaRPr>
          </a:p>
          <a:p>
            <a:pPr>
              <a:spcBef>
                <a:spcPts val="1200"/>
              </a:spcBef>
              <a:spcAft>
                <a:spcPct val="0"/>
              </a:spcAft>
            </a:pPr>
            <a:r>
              <a:rPr lang="en-US" sz="1500" b="0" i="0">
                <a:solidFill>
                  <a:srgbClr val="5E6C84"/>
                </a:solidFill>
                <a:latin typeface="Arial" panose="020B0604020202020204"/>
              </a:rPr>
              <a:t>• Natural Language Processing</a:t>
            </a:r>
            <a:endParaRPr lang="en-US" sz="1500" b="0" i="0">
              <a:solidFill>
                <a:srgbClr val="5E6C84"/>
              </a:solidFill>
              <a:latin typeface="Arial" panose="020B0604020202020204"/>
            </a:endParaRPr>
          </a:p>
          <a:p>
            <a:pPr>
              <a:spcBef>
                <a:spcPts val="1200"/>
              </a:spcBef>
              <a:spcAft>
                <a:spcPct val="0"/>
              </a:spcAft>
            </a:pPr>
            <a:r>
              <a:rPr lang="en-US" sz="1500" b="0" i="0">
                <a:solidFill>
                  <a:srgbClr val="5E6C84"/>
                </a:solidFill>
                <a:latin typeface="Arial" panose="020B0604020202020204"/>
              </a:rPr>
              <a:t>• Intent &amp; Semantic Extraction</a:t>
            </a:r>
            <a:endParaRPr lang="en-US" sz="1500" b="0" i="0">
              <a:solidFill>
                <a:srgbClr val="5E6C84"/>
              </a:solidFill>
              <a:latin typeface="Arial" panose="020B0604020202020204"/>
            </a:endParaRPr>
          </a:p>
          <a:p>
            <a:pPr>
              <a:spcBef>
                <a:spcPts val="1200"/>
              </a:spcBef>
              <a:spcAft>
                <a:spcPct val="0"/>
              </a:spcAft>
            </a:pPr>
            <a:r>
              <a:rPr lang="en-US" sz="1500" b="0" i="0">
                <a:solidFill>
                  <a:srgbClr val="5E6C84"/>
                </a:solidFill>
                <a:latin typeface="Arial" panose="020B0604020202020204"/>
              </a:rPr>
              <a:t>• Stream Response Optimization</a:t>
            </a:r>
            <a:endParaRPr lang="en-US" sz="1500" b="0" i="0">
              <a:solidFill>
                <a:srgbClr val="5E6C84"/>
              </a:solidFill>
              <a:latin typeface="Arial" panose="020B0604020202020204"/>
            </a:endParaRPr>
          </a:p>
        </p:txBody>
      </p:sp>
      <p:sp>
        <p:nvSpPr>
          <p:cNvPr id="31" name="TextBox 31"/>
          <p:cNvSpPr txBox="1"/>
          <p:nvPr/>
        </p:nvSpPr>
        <p:spPr>
          <a:xfrm>
            <a:off x="1397000" y="7747000"/>
            <a:ext cx="2548890" cy="31369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1800" b="1" i="0">
                <a:solidFill>
                  <a:srgbClr val="2E5C55"/>
                </a:solidFill>
                <a:latin typeface="Arial" panose="020B0604020202020204"/>
              </a:rPr>
              <a:t>Monitoring Mechanism</a:t>
            </a:r>
            <a:endParaRPr lang="en-US" sz="1800" b="1" i="0">
              <a:solidFill>
                <a:srgbClr val="2E5C55"/>
              </a:solidFill>
              <a:latin typeface="Arial" panose="020B0604020202020204"/>
            </a:endParaRPr>
          </a:p>
        </p:txBody>
      </p:sp>
      <p:sp>
        <p:nvSpPr>
          <p:cNvPr id="32" name="TextBox 32"/>
          <p:cNvSpPr txBox="1"/>
          <p:nvPr/>
        </p:nvSpPr>
        <p:spPr>
          <a:xfrm>
            <a:off x="4318000" y="7772400"/>
            <a:ext cx="7331075" cy="257175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1500" b="0" i="0">
                <a:solidFill>
                  <a:srgbClr val="3B5B78"/>
                </a:solidFill>
                <a:latin typeface="Arial" panose="020B0604020202020204"/>
              </a:rPr>
              <a:t>Tracking real-time latency metrics to ensure system transparency and response stability.</a:t>
            </a:r>
            <a:endParaRPr lang="en-US" sz="1500" b="0" i="0">
              <a:solidFill>
                <a:srgbClr val="3B5B78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6256000" cy="9144000"/>
          </a:xfrm>
          <a:custGeom>
            <a:avLst/>
            <a:gdLst/>
            <a:ahLst/>
            <a:cxnLst/>
            <a:rect l="l" t="t" r="r" b="b"/>
            <a:pathLst>
              <a:path w="16256000" h="9144000">
                <a:moveTo>
                  <a:pt x="0" y="0"/>
                </a:moveTo>
                <a:lnTo>
                  <a:pt x="16256000" y="0"/>
                </a:lnTo>
                <a:lnTo>
                  <a:pt x="16256000" y="9144000"/>
                </a:lnTo>
                <a:lnTo>
                  <a:pt x="0" y="9144000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rgbClr val="F4F5F7"/>
              </a:gs>
              <a:gs pos="100000">
                <a:srgbClr val="EAECEF"/>
              </a:gs>
            </a:gsLst>
            <a:lin ang="2700000" scaled="1"/>
          </a:gra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10160000" y="-1905000"/>
            <a:ext cx="7620000" cy="7620000"/>
          </a:xfrm>
          <a:custGeom>
            <a:avLst/>
            <a:gdLst/>
            <a:ahLst/>
            <a:cxnLst/>
            <a:rect l="l" t="t" r="r" b="b"/>
            <a:pathLst>
              <a:path w="7620000" h="7620000">
                <a:moveTo>
                  <a:pt x="7620000" y="3810000"/>
                </a:moveTo>
                <a:cubicBezTo>
                  <a:pt x="7620000" y="5914205"/>
                  <a:pt x="5914205" y="7620000"/>
                  <a:pt x="3810000" y="7620000"/>
                </a:cubicBezTo>
                <a:cubicBezTo>
                  <a:pt x="1705795" y="7620000"/>
                  <a:pt x="0" y="5914205"/>
                  <a:pt x="0" y="3810000"/>
                </a:cubicBezTo>
                <a:cubicBezTo>
                  <a:pt x="0" y="1705795"/>
                  <a:pt x="1705795" y="0"/>
                  <a:pt x="3810000" y="0"/>
                </a:cubicBezTo>
                <a:cubicBezTo>
                  <a:pt x="5914205" y="0"/>
                  <a:pt x="7620000" y="1705795"/>
                  <a:pt x="7620000" y="3810000"/>
                </a:cubicBezTo>
                <a:close/>
              </a:path>
            </a:pathLst>
          </a:custGeom>
          <a:solidFill>
            <a:srgbClr val="E5D9C5">
              <a:alpha val="12157"/>
            </a:srgbClr>
          </a:solidFill>
          <a:ln>
            <a:noFill/>
          </a:ln>
        </p:spPr>
      </p:sp>
      <p:sp>
        <p:nvSpPr>
          <p:cNvPr id="4" name="Freeform 4"/>
          <p:cNvSpPr/>
          <p:nvPr/>
        </p:nvSpPr>
        <p:spPr>
          <a:xfrm>
            <a:off x="-635000" y="5080000"/>
            <a:ext cx="5080000" cy="5080000"/>
          </a:xfrm>
          <a:custGeom>
            <a:avLst/>
            <a:gdLst/>
            <a:ahLst/>
            <a:cxnLst/>
            <a:rect l="l" t="t" r="r" b="b"/>
            <a:pathLst>
              <a:path w="5080000" h="5080000">
                <a:moveTo>
                  <a:pt x="5080000" y="2540000"/>
                </a:moveTo>
                <a:cubicBezTo>
                  <a:pt x="5080000" y="3942803"/>
                  <a:pt x="3942803" y="5080000"/>
                  <a:pt x="2540000" y="5080000"/>
                </a:cubicBezTo>
                <a:cubicBezTo>
                  <a:pt x="1137197" y="5080000"/>
                  <a:pt x="0" y="3942803"/>
                  <a:pt x="0" y="2540000"/>
                </a:cubicBezTo>
                <a:cubicBezTo>
                  <a:pt x="0" y="1137197"/>
                  <a:pt x="1137197" y="0"/>
                  <a:pt x="2540000" y="0"/>
                </a:cubicBezTo>
                <a:cubicBezTo>
                  <a:pt x="3942803" y="0"/>
                  <a:pt x="5080000" y="1137197"/>
                  <a:pt x="5080000" y="2540000"/>
                </a:cubicBezTo>
                <a:close/>
              </a:path>
            </a:pathLst>
          </a:custGeom>
          <a:solidFill>
            <a:srgbClr val="2E5C55">
              <a:alpha val="1961"/>
            </a:srgbClr>
          </a:solidFill>
          <a:ln>
            <a:noFill/>
          </a:ln>
        </p:spPr>
      </p:sp>
      <p:sp>
        <p:nvSpPr>
          <p:cNvPr id="5" name="Freeform 5"/>
          <p:cNvSpPr/>
          <p:nvPr/>
        </p:nvSpPr>
        <p:spPr>
          <a:xfrm>
            <a:off x="13970000" y="3810000"/>
            <a:ext cx="0" cy="2540000"/>
          </a:xfrm>
          <a:custGeom>
            <a:avLst/>
            <a:gdLst/>
            <a:ahLst/>
            <a:cxnLst/>
            <a:rect l="l" t="t" r="r" b="b"/>
            <a:pathLst>
              <a:path h="2540000">
                <a:moveTo>
                  <a:pt x="0" y="0"/>
                </a:moveTo>
                <a:lnTo>
                  <a:pt x="0" y="2540000"/>
                </a:lnTo>
              </a:path>
            </a:pathLst>
          </a:custGeom>
          <a:noFill/>
          <a:ln w="12700">
            <a:solidFill>
              <a:srgbClr val="2E5C55">
                <a:alpha val="20000"/>
              </a:srgbClr>
            </a:solidFill>
          </a:ln>
        </p:spPr>
      </p:sp>
      <p:sp>
        <p:nvSpPr>
          <p:cNvPr id="6" name="Freeform 6"/>
          <p:cNvSpPr/>
          <p:nvPr/>
        </p:nvSpPr>
        <p:spPr>
          <a:xfrm>
            <a:off x="13716000" y="4445000"/>
            <a:ext cx="0" cy="1270000"/>
          </a:xfrm>
          <a:custGeom>
            <a:avLst/>
            <a:gdLst/>
            <a:ahLst/>
            <a:cxnLst/>
            <a:rect l="l" t="t" r="r" b="b"/>
            <a:pathLst>
              <a:path h="1270000">
                <a:moveTo>
                  <a:pt x="0" y="0"/>
                </a:moveTo>
                <a:lnTo>
                  <a:pt x="0" y="1270000"/>
                </a:lnTo>
              </a:path>
            </a:pathLst>
          </a:custGeom>
          <a:noFill/>
          <a:ln w="12700">
            <a:solidFill>
              <a:srgbClr val="E5D9C5">
                <a:alpha val="40000"/>
              </a:srgbClr>
            </a:solidFill>
          </a:ln>
        </p:spPr>
      </p:sp>
      <p:sp>
        <p:nvSpPr>
          <p:cNvPr id="7" name="Freeform 7"/>
          <p:cNvSpPr/>
          <p:nvPr/>
        </p:nvSpPr>
        <p:spPr>
          <a:xfrm>
            <a:off x="1524000" y="2032000"/>
            <a:ext cx="1524000" cy="1524000"/>
          </a:xfrm>
          <a:custGeom>
            <a:avLst/>
            <a:gdLst/>
            <a:ahLst/>
            <a:cxnLst/>
            <a:rect l="l" t="t" r="r" b="b"/>
            <a:pathLst>
              <a:path w="1524000" h="1524000">
                <a:moveTo>
                  <a:pt x="1524000" y="762000"/>
                </a:moveTo>
                <a:cubicBezTo>
                  <a:pt x="1524000" y="1182841"/>
                  <a:pt x="1182841" y="1524000"/>
                  <a:pt x="762000" y="1524000"/>
                </a:cubicBezTo>
                <a:cubicBezTo>
                  <a:pt x="341159" y="1524000"/>
                  <a:pt x="0" y="1182841"/>
                  <a:pt x="0" y="762000"/>
                </a:cubicBezTo>
                <a:cubicBezTo>
                  <a:pt x="0" y="341159"/>
                  <a:pt x="341159" y="0"/>
                  <a:pt x="762000" y="0"/>
                </a:cubicBezTo>
                <a:cubicBezTo>
                  <a:pt x="1182841" y="0"/>
                  <a:pt x="1524000" y="341159"/>
                  <a:pt x="1524000" y="762000"/>
                </a:cubicBezTo>
                <a:close/>
              </a:path>
            </a:pathLst>
          </a:custGeom>
          <a:noFill/>
          <a:ln w="19050">
            <a:solidFill>
              <a:srgbClr val="E5D9C5">
                <a:alpha val="50196"/>
              </a:srgbClr>
            </a:solidFill>
          </a:ln>
        </p:spPr>
      </p:sp>
      <p:sp>
        <p:nvSpPr>
          <p:cNvPr id="8" name="Freeform 8"/>
          <p:cNvSpPr/>
          <p:nvPr/>
        </p:nvSpPr>
        <p:spPr>
          <a:xfrm>
            <a:off x="2082800" y="6032500"/>
            <a:ext cx="1016000" cy="38100"/>
          </a:xfrm>
          <a:custGeom>
            <a:avLst/>
            <a:gdLst/>
            <a:ahLst/>
            <a:cxnLst/>
            <a:rect l="l" t="t" r="r" b="b"/>
            <a:pathLst>
              <a:path w="1016000" h="38100">
                <a:moveTo>
                  <a:pt x="0" y="19050"/>
                </a:moveTo>
                <a:lnTo>
                  <a:pt x="0" y="19050"/>
                </a:lnTo>
                <a:cubicBezTo>
                  <a:pt x="0" y="29571"/>
                  <a:pt x="8529" y="38100"/>
                  <a:pt x="19050" y="38100"/>
                </a:cubicBezTo>
                <a:lnTo>
                  <a:pt x="996950" y="38100"/>
                </a:lnTo>
                <a:cubicBezTo>
                  <a:pt x="1007471" y="38100"/>
                  <a:pt x="1016000" y="29571"/>
                  <a:pt x="1016000" y="19050"/>
                </a:cubicBezTo>
                <a:lnTo>
                  <a:pt x="1016000" y="19050"/>
                </a:lnTo>
                <a:cubicBezTo>
                  <a:pt x="1016000" y="8529"/>
                  <a:pt x="1007471" y="0"/>
                  <a:pt x="996950" y="0"/>
                </a:cubicBezTo>
                <a:lnTo>
                  <a:pt x="19050" y="0"/>
                </a:lnTo>
                <a:cubicBezTo>
                  <a:pt x="8529" y="0"/>
                  <a:pt x="0" y="8529"/>
                  <a:pt x="0" y="19050"/>
                </a:cubicBezTo>
                <a:close/>
              </a:path>
            </a:pathLst>
          </a:custGeom>
          <a:solidFill>
            <a:srgbClr val="2E5C55"/>
          </a:solidFill>
          <a:ln>
            <a:noFill/>
          </a:ln>
        </p:spPr>
      </p:sp>
      <p:sp>
        <p:nvSpPr>
          <p:cNvPr id="9" name="Freeform 9"/>
          <p:cNvSpPr/>
          <p:nvPr/>
        </p:nvSpPr>
        <p:spPr>
          <a:xfrm>
            <a:off x="3225800" y="6032500"/>
            <a:ext cx="152400" cy="38100"/>
          </a:xfrm>
          <a:custGeom>
            <a:avLst/>
            <a:gdLst/>
            <a:ahLst/>
            <a:cxnLst/>
            <a:rect l="l" t="t" r="r" b="b"/>
            <a:pathLst>
              <a:path w="152400" h="38100">
                <a:moveTo>
                  <a:pt x="0" y="19050"/>
                </a:moveTo>
                <a:lnTo>
                  <a:pt x="0" y="19050"/>
                </a:lnTo>
                <a:cubicBezTo>
                  <a:pt x="0" y="29571"/>
                  <a:pt x="8529" y="38100"/>
                  <a:pt x="19050" y="38100"/>
                </a:cubicBezTo>
                <a:lnTo>
                  <a:pt x="133350" y="38100"/>
                </a:lnTo>
                <a:cubicBezTo>
                  <a:pt x="143871" y="38100"/>
                  <a:pt x="152400" y="29571"/>
                  <a:pt x="152400" y="19050"/>
                </a:cubicBezTo>
                <a:lnTo>
                  <a:pt x="152400" y="19050"/>
                </a:lnTo>
                <a:cubicBezTo>
                  <a:pt x="152400" y="8529"/>
                  <a:pt x="143871" y="0"/>
                  <a:pt x="133350" y="0"/>
                </a:cubicBezTo>
                <a:lnTo>
                  <a:pt x="19050" y="0"/>
                </a:lnTo>
                <a:cubicBezTo>
                  <a:pt x="8529" y="0"/>
                  <a:pt x="0" y="8529"/>
                  <a:pt x="0" y="19050"/>
                </a:cubicBezTo>
                <a:close/>
              </a:path>
            </a:pathLst>
          </a:custGeom>
          <a:solidFill>
            <a:srgbClr val="E5D9C5"/>
          </a:solidFill>
          <a:ln>
            <a:noFill/>
          </a:ln>
        </p:spPr>
      </p:sp>
      <p:sp>
        <p:nvSpPr>
          <p:cNvPr id="10" name="TextBox 10"/>
          <p:cNvSpPr txBox="1"/>
          <p:nvPr/>
        </p:nvSpPr>
        <p:spPr>
          <a:xfrm>
            <a:off x="1524000" y="1346200"/>
            <a:ext cx="4495800" cy="463550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28000" b="1" i="0">
                <a:solidFill>
                  <a:srgbClr val="2E5C55">
                    <a:alpha val="5098"/>
                  </a:srgbClr>
                </a:solidFill>
                <a:latin typeface="Arial" panose="020B0604020202020204"/>
              </a:rPr>
              <a:t>03</a:t>
            </a:r>
            <a:endParaRPr lang="en-US" sz="28000" b="1" i="0">
              <a:solidFill>
                <a:srgbClr val="2E5C55">
                  <a:alpha val="5098"/>
                </a:srgbClr>
              </a:solidFill>
              <a:latin typeface="Arial" panose="020B0604020202020204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2032000" y="4051300"/>
            <a:ext cx="13251180" cy="93218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5600" b="1" i="0">
                <a:solidFill>
                  <a:srgbClr val="2E5C55"/>
                </a:solidFill>
                <a:latin typeface="Arial" panose="020B0604020202020204"/>
              </a:rPr>
              <a:t>PART 03: FEATURE DEMONSTRATION</a:t>
            </a:r>
            <a:endParaRPr lang="en-US" sz="5600" b="1" i="0">
              <a:solidFill>
                <a:srgbClr val="2E5C55"/>
              </a:solidFill>
              <a:latin typeface="Arial" panose="020B0604020202020204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2082800" y="5219700"/>
            <a:ext cx="9536430" cy="44323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2600" b="0" i="0">
                <a:solidFill>
                  <a:srgbClr val="556B67">
                    <a:alpha val="80000"/>
                  </a:srgbClr>
                </a:solidFill>
                <a:latin typeface="Arial" panose="020B0604020202020204"/>
              </a:rPr>
              <a:t>Immersive Experience: From AI Interaction to Campus Socializing</a:t>
            </a:r>
            <a:endParaRPr lang="en-US" sz="2600" b="0" i="0">
              <a:solidFill>
                <a:srgbClr val="556B67">
                  <a:alpha val="80000"/>
                </a:srgbClr>
              </a:solidFill>
              <a:latin typeface="Arial" panose="020B0604020202020204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13614400" y="8470900"/>
            <a:ext cx="1398270" cy="24257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1400" b="0" i="0">
                <a:solidFill>
                  <a:srgbClr val="2E5C55">
                    <a:alpha val="30196"/>
                  </a:srgbClr>
                </a:solidFill>
                <a:latin typeface="Arial" panose="020B0604020202020204"/>
              </a:rPr>
              <a:t>SECTION 03 / 04</a:t>
            </a:r>
            <a:endParaRPr lang="en-US" sz="1400" b="0" i="0">
              <a:solidFill>
                <a:srgbClr val="2E5C55">
                  <a:alpha val="30196"/>
                </a:srgbClr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6256000" cy="9144000"/>
          </a:xfrm>
          <a:prstGeom prst="rect">
            <a:avLst/>
          </a:prstGeom>
        </p:spPr>
      </p:pic>
      <p:pic>
        <p:nvPicPr>
          <p:cNvPr id="3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617700" y="596900"/>
            <a:ext cx="889000" cy="889000"/>
          </a:xfrm>
          <a:prstGeom prst="rect">
            <a:avLst/>
          </a:prstGeom>
        </p:spPr>
      </p:pic>
      <p:sp>
        <p:nvSpPr>
          <p:cNvPr id="4" name="Freeform 4"/>
          <p:cNvSpPr/>
          <p:nvPr/>
        </p:nvSpPr>
        <p:spPr>
          <a:xfrm>
            <a:off x="1016000" y="533400"/>
            <a:ext cx="76200" cy="457200"/>
          </a:xfrm>
          <a:custGeom>
            <a:avLst/>
            <a:gdLst/>
            <a:ahLst/>
            <a:cxnLst/>
            <a:rect l="l" t="t" r="r" b="b"/>
            <a:pathLst>
              <a:path w="76200" h="457200">
                <a:moveTo>
                  <a:pt x="0" y="25400"/>
                </a:moveTo>
                <a:lnTo>
                  <a:pt x="0" y="431800"/>
                </a:lnTo>
                <a:cubicBezTo>
                  <a:pt x="0" y="445828"/>
                  <a:pt x="11372" y="457200"/>
                  <a:pt x="25400" y="457200"/>
                </a:cubicBezTo>
                <a:lnTo>
                  <a:pt x="50800" y="457200"/>
                </a:lnTo>
                <a:cubicBezTo>
                  <a:pt x="64828" y="457200"/>
                  <a:pt x="76200" y="445828"/>
                  <a:pt x="76200" y="431800"/>
                </a:cubicBezTo>
                <a:lnTo>
                  <a:pt x="76200" y="25400"/>
                </a:lnTo>
                <a:cubicBezTo>
                  <a:pt x="76200" y="11372"/>
                  <a:pt x="64828" y="0"/>
                  <a:pt x="50800" y="0"/>
                </a:cubicBezTo>
                <a:lnTo>
                  <a:pt x="25400" y="0"/>
                </a:lnTo>
                <a:cubicBezTo>
                  <a:pt x="11372" y="0"/>
                  <a:pt x="0" y="11372"/>
                  <a:pt x="0" y="25400"/>
                </a:cubicBezTo>
                <a:close/>
              </a:path>
            </a:pathLst>
          </a:custGeom>
          <a:solidFill>
            <a:srgbClr val="3B5B78"/>
          </a:solidFill>
          <a:ln>
            <a:noFill/>
          </a:ln>
        </p:spPr>
      </p:sp>
      <p:sp>
        <p:nvSpPr>
          <p:cNvPr id="5" name="Freeform 5"/>
          <p:cNvSpPr/>
          <p:nvPr/>
        </p:nvSpPr>
        <p:spPr>
          <a:xfrm>
            <a:off x="1016000" y="1841500"/>
            <a:ext cx="4445000" cy="1905000"/>
          </a:xfrm>
          <a:custGeom>
            <a:avLst/>
            <a:gdLst/>
            <a:ahLst/>
            <a:cxnLst/>
            <a:rect l="l" t="t" r="r" b="b"/>
            <a:pathLst>
              <a:path w="4445000" h="1905000">
                <a:moveTo>
                  <a:pt x="0" y="152400"/>
                </a:moveTo>
                <a:lnTo>
                  <a:pt x="0" y="1752600"/>
                </a:lnTo>
                <a:cubicBezTo>
                  <a:pt x="0" y="1836768"/>
                  <a:pt x="68232" y="1905000"/>
                  <a:pt x="152400" y="1905000"/>
                </a:cubicBezTo>
                <a:lnTo>
                  <a:pt x="4292600" y="1905000"/>
                </a:lnTo>
                <a:cubicBezTo>
                  <a:pt x="4376768" y="1905000"/>
                  <a:pt x="4445000" y="1836768"/>
                  <a:pt x="4445000" y="1752600"/>
                </a:cubicBezTo>
                <a:lnTo>
                  <a:pt x="4445000" y="152400"/>
                </a:lnTo>
                <a:cubicBezTo>
                  <a:pt x="4445000" y="68232"/>
                  <a:pt x="4376768" y="0"/>
                  <a:pt x="4292600" y="0"/>
                </a:cubicBezTo>
                <a:lnTo>
                  <a:pt x="152400" y="0"/>
                </a:lnTo>
                <a:cubicBezTo>
                  <a:pt x="68232" y="0"/>
                  <a:pt x="0" y="68232"/>
                  <a:pt x="0" y="15240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  <a:effectLst>
            <a:outerShdw blurRad="508000" dist="101600" dir="5400000" rotWithShape="0">
              <a:srgbClr val="3B5B78">
                <a:alpha val="5098"/>
              </a:srgbClr>
            </a:outerShdw>
          </a:effectLst>
        </p:spPr>
      </p:sp>
      <p:sp>
        <p:nvSpPr>
          <p:cNvPr id="6" name="Freeform 6"/>
          <p:cNvSpPr/>
          <p:nvPr/>
        </p:nvSpPr>
        <p:spPr>
          <a:xfrm>
            <a:off x="1320800" y="2146300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0" y="101600"/>
                </a:moveTo>
                <a:lnTo>
                  <a:pt x="0" y="406400"/>
                </a:lnTo>
                <a:cubicBezTo>
                  <a:pt x="0" y="462512"/>
                  <a:pt x="45488" y="508000"/>
                  <a:pt x="101600" y="508000"/>
                </a:cubicBezTo>
                <a:lnTo>
                  <a:pt x="406400" y="508000"/>
                </a:lnTo>
                <a:cubicBezTo>
                  <a:pt x="462512" y="508000"/>
                  <a:pt x="508000" y="462512"/>
                  <a:pt x="508000" y="406400"/>
                </a:cubicBezTo>
                <a:lnTo>
                  <a:pt x="508000" y="101600"/>
                </a:lnTo>
                <a:cubicBezTo>
                  <a:pt x="508000" y="45488"/>
                  <a:pt x="462512" y="0"/>
                  <a:pt x="406400" y="0"/>
                </a:cubicBezTo>
                <a:lnTo>
                  <a:pt x="101600" y="0"/>
                </a:lnTo>
                <a:cubicBezTo>
                  <a:pt x="45488" y="0"/>
                  <a:pt x="0" y="45488"/>
                  <a:pt x="0" y="101600"/>
                </a:cubicBezTo>
                <a:close/>
              </a:path>
            </a:pathLst>
          </a:custGeom>
          <a:solidFill>
            <a:srgbClr val="E5D9C5">
              <a:alpha val="40000"/>
            </a:srgbClr>
          </a:solidFill>
          <a:ln>
            <a:noFill/>
          </a:ln>
        </p:spPr>
      </p:sp>
      <p:sp>
        <p:nvSpPr>
          <p:cNvPr id="7" name="Freeform 7"/>
          <p:cNvSpPr/>
          <p:nvPr/>
        </p:nvSpPr>
        <p:spPr>
          <a:xfrm>
            <a:off x="1371600" y="2273300"/>
            <a:ext cx="203200" cy="228600"/>
          </a:xfrm>
          <a:custGeom>
            <a:avLst/>
            <a:gdLst/>
            <a:ahLst/>
            <a:cxnLst/>
            <a:rect l="l" t="t" r="r" b="b"/>
            <a:pathLst>
              <a:path w="203200" h="228600">
                <a:moveTo>
                  <a:pt x="76200" y="177800"/>
                </a:moveTo>
                <a:lnTo>
                  <a:pt x="50800" y="228600"/>
                </a:lnTo>
                <a:lnTo>
                  <a:pt x="50800" y="177800"/>
                </a:lnTo>
                <a:lnTo>
                  <a:pt x="25400" y="177800"/>
                </a:lnTo>
                <a:cubicBezTo>
                  <a:pt x="11372" y="177800"/>
                  <a:pt x="0" y="166428"/>
                  <a:pt x="0" y="152400"/>
                </a:cubicBezTo>
                <a:lnTo>
                  <a:pt x="0" y="25400"/>
                </a:lnTo>
                <a:cubicBezTo>
                  <a:pt x="0" y="11372"/>
                  <a:pt x="11372" y="0"/>
                  <a:pt x="25400" y="0"/>
                </a:cubicBezTo>
                <a:lnTo>
                  <a:pt x="177800" y="0"/>
                </a:lnTo>
                <a:cubicBezTo>
                  <a:pt x="191828" y="0"/>
                  <a:pt x="203200" y="11372"/>
                  <a:pt x="203200" y="25400"/>
                </a:cubicBezTo>
                <a:lnTo>
                  <a:pt x="203200" y="152400"/>
                </a:lnTo>
                <a:cubicBezTo>
                  <a:pt x="203200" y="166428"/>
                  <a:pt x="191828" y="177800"/>
                  <a:pt x="177800" y="177800"/>
                </a:cubicBezTo>
                <a:close/>
              </a:path>
            </a:pathLst>
          </a:custGeom>
          <a:noFill/>
          <a:ln w="22860">
            <a:solidFill>
              <a:srgbClr val="3B5B78"/>
            </a:solidFill>
          </a:ln>
        </p:spPr>
      </p:sp>
      <p:sp>
        <p:nvSpPr>
          <p:cNvPr id="8" name="Freeform 8"/>
          <p:cNvSpPr/>
          <p:nvPr/>
        </p:nvSpPr>
        <p:spPr>
          <a:xfrm>
            <a:off x="1524000" y="2324100"/>
            <a:ext cx="177800" cy="228600"/>
          </a:xfrm>
          <a:custGeom>
            <a:avLst/>
            <a:gdLst/>
            <a:ahLst/>
            <a:cxnLst/>
            <a:rect l="l" t="t" r="r" b="b"/>
            <a:pathLst>
              <a:path w="177800" h="228600">
                <a:moveTo>
                  <a:pt x="0" y="0"/>
                </a:moveTo>
                <a:lnTo>
                  <a:pt x="152400" y="0"/>
                </a:lnTo>
                <a:cubicBezTo>
                  <a:pt x="166428" y="0"/>
                  <a:pt x="177800" y="11372"/>
                  <a:pt x="177800" y="25400"/>
                </a:cubicBezTo>
                <a:lnTo>
                  <a:pt x="177800" y="152400"/>
                </a:lnTo>
                <a:cubicBezTo>
                  <a:pt x="177800" y="166428"/>
                  <a:pt x="166428" y="177800"/>
                  <a:pt x="152400" y="177800"/>
                </a:cubicBezTo>
                <a:lnTo>
                  <a:pt x="127000" y="177800"/>
                </a:lnTo>
                <a:lnTo>
                  <a:pt x="127000" y="228600"/>
                </a:lnTo>
                <a:lnTo>
                  <a:pt x="101600" y="177800"/>
                </a:lnTo>
                <a:lnTo>
                  <a:pt x="50800" y="177800"/>
                </a:lnTo>
                <a:cubicBezTo>
                  <a:pt x="36772" y="177800"/>
                  <a:pt x="25400" y="166428"/>
                  <a:pt x="25400" y="152400"/>
                </a:cubicBezTo>
              </a:path>
            </a:pathLst>
          </a:custGeom>
          <a:noFill/>
          <a:ln w="22860">
            <a:solidFill>
              <a:srgbClr val="3B5B78"/>
            </a:solidFill>
          </a:ln>
        </p:spPr>
      </p:sp>
      <p:sp>
        <p:nvSpPr>
          <p:cNvPr id="9" name="Freeform 9"/>
          <p:cNvSpPr/>
          <p:nvPr/>
        </p:nvSpPr>
        <p:spPr>
          <a:xfrm>
            <a:off x="5905500" y="1841500"/>
            <a:ext cx="4445000" cy="1905000"/>
          </a:xfrm>
          <a:custGeom>
            <a:avLst/>
            <a:gdLst/>
            <a:ahLst/>
            <a:cxnLst/>
            <a:rect l="l" t="t" r="r" b="b"/>
            <a:pathLst>
              <a:path w="4445000" h="1905000">
                <a:moveTo>
                  <a:pt x="0" y="152400"/>
                </a:moveTo>
                <a:lnTo>
                  <a:pt x="0" y="1752600"/>
                </a:lnTo>
                <a:cubicBezTo>
                  <a:pt x="0" y="1836768"/>
                  <a:pt x="68232" y="1905000"/>
                  <a:pt x="152400" y="1905000"/>
                </a:cubicBezTo>
                <a:lnTo>
                  <a:pt x="4292600" y="1905000"/>
                </a:lnTo>
                <a:cubicBezTo>
                  <a:pt x="4376768" y="1905000"/>
                  <a:pt x="4445000" y="1836768"/>
                  <a:pt x="4445000" y="1752600"/>
                </a:cubicBezTo>
                <a:lnTo>
                  <a:pt x="4445000" y="152400"/>
                </a:lnTo>
                <a:cubicBezTo>
                  <a:pt x="4445000" y="68232"/>
                  <a:pt x="4376768" y="0"/>
                  <a:pt x="4292600" y="0"/>
                </a:cubicBezTo>
                <a:lnTo>
                  <a:pt x="152400" y="0"/>
                </a:lnTo>
                <a:cubicBezTo>
                  <a:pt x="68232" y="0"/>
                  <a:pt x="0" y="68232"/>
                  <a:pt x="0" y="15240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  <a:effectLst>
            <a:outerShdw blurRad="508000" dist="101600" dir="5400000" rotWithShape="0">
              <a:srgbClr val="3B5B78">
                <a:alpha val="5098"/>
              </a:srgbClr>
            </a:outerShdw>
          </a:effectLst>
        </p:spPr>
      </p:sp>
      <p:sp>
        <p:nvSpPr>
          <p:cNvPr id="10" name="Freeform 10"/>
          <p:cNvSpPr/>
          <p:nvPr/>
        </p:nvSpPr>
        <p:spPr>
          <a:xfrm>
            <a:off x="6210300" y="2146300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0" y="101600"/>
                </a:moveTo>
                <a:lnTo>
                  <a:pt x="0" y="406400"/>
                </a:lnTo>
                <a:cubicBezTo>
                  <a:pt x="0" y="462512"/>
                  <a:pt x="45488" y="508000"/>
                  <a:pt x="101600" y="508000"/>
                </a:cubicBezTo>
                <a:lnTo>
                  <a:pt x="406400" y="508000"/>
                </a:lnTo>
                <a:cubicBezTo>
                  <a:pt x="462512" y="508000"/>
                  <a:pt x="508000" y="462512"/>
                  <a:pt x="508000" y="406400"/>
                </a:cubicBezTo>
                <a:lnTo>
                  <a:pt x="508000" y="101600"/>
                </a:lnTo>
                <a:cubicBezTo>
                  <a:pt x="508000" y="45488"/>
                  <a:pt x="462512" y="0"/>
                  <a:pt x="406400" y="0"/>
                </a:cubicBezTo>
                <a:lnTo>
                  <a:pt x="101600" y="0"/>
                </a:lnTo>
                <a:cubicBezTo>
                  <a:pt x="45488" y="0"/>
                  <a:pt x="0" y="45488"/>
                  <a:pt x="0" y="101600"/>
                </a:cubicBezTo>
                <a:close/>
              </a:path>
            </a:pathLst>
          </a:custGeom>
          <a:solidFill>
            <a:srgbClr val="E5D9C5">
              <a:alpha val="40000"/>
            </a:srgbClr>
          </a:solidFill>
          <a:ln>
            <a:noFill/>
          </a:ln>
        </p:spPr>
      </p:sp>
      <p:sp>
        <p:nvSpPr>
          <p:cNvPr id="11" name="Freeform 11"/>
          <p:cNvSpPr/>
          <p:nvPr/>
        </p:nvSpPr>
        <p:spPr>
          <a:xfrm>
            <a:off x="6350000" y="2260600"/>
            <a:ext cx="228600" cy="76200"/>
          </a:xfrm>
          <a:custGeom>
            <a:avLst/>
            <a:gdLst/>
            <a:ahLst/>
            <a:cxnLst/>
            <a:rect l="l" t="t" r="r" b="b"/>
            <a:pathLst>
              <a:path w="228600" h="76200">
                <a:moveTo>
                  <a:pt x="228600" y="38100"/>
                </a:moveTo>
                <a:cubicBezTo>
                  <a:pt x="228600" y="59142"/>
                  <a:pt x="177426" y="76200"/>
                  <a:pt x="114300" y="76200"/>
                </a:cubicBezTo>
                <a:cubicBezTo>
                  <a:pt x="51174" y="76200"/>
                  <a:pt x="0" y="59142"/>
                  <a:pt x="0" y="38100"/>
                </a:cubicBezTo>
                <a:cubicBezTo>
                  <a:pt x="0" y="17058"/>
                  <a:pt x="51174" y="0"/>
                  <a:pt x="114300" y="0"/>
                </a:cubicBezTo>
                <a:cubicBezTo>
                  <a:pt x="177426" y="0"/>
                  <a:pt x="228600" y="17058"/>
                  <a:pt x="228600" y="38100"/>
                </a:cubicBezTo>
                <a:close/>
              </a:path>
            </a:pathLst>
          </a:custGeom>
          <a:noFill/>
          <a:ln w="22860">
            <a:solidFill>
              <a:srgbClr val="3B5B78"/>
            </a:solidFill>
          </a:ln>
        </p:spPr>
      </p:sp>
      <p:sp>
        <p:nvSpPr>
          <p:cNvPr id="12" name="Freeform 12"/>
          <p:cNvSpPr/>
          <p:nvPr/>
        </p:nvSpPr>
        <p:spPr>
          <a:xfrm>
            <a:off x="6350000" y="2298700"/>
            <a:ext cx="228600" cy="139700"/>
          </a:xfrm>
          <a:custGeom>
            <a:avLst/>
            <a:gdLst/>
            <a:ahLst/>
            <a:cxnLst/>
            <a:rect l="l" t="t" r="r" b="b"/>
            <a:pathLst>
              <a:path w="228600" h="139700">
                <a:moveTo>
                  <a:pt x="0" y="0"/>
                </a:moveTo>
                <a:lnTo>
                  <a:pt x="0" y="101600"/>
                </a:lnTo>
                <a:cubicBezTo>
                  <a:pt x="0" y="122642"/>
                  <a:pt x="51174" y="139700"/>
                  <a:pt x="114300" y="139700"/>
                </a:cubicBezTo>
                <a:cubicBezTo>
                  <a:pt x="177426" y="139700"/>
                  <a:pt x="228600" y="122642"/>
                  <a:pt x="228600" y="101600"/>
                </a:cubicBezTo>
                <a:lnTo>
                  <a:pt x="228600" y="0"/>
                </a:lnTo>
              </a:path>
            </a:pathLst>
          </a:custGeom>
          <a:noFill/>
          <a:ln w="22860">
            <a:solidFill>
              <a:srgbClr val="3B5B78"/>
            </a:solidFill>
          </a:ln>
        </p:spPr>
      </p:sp>
      <p:sp>
        <p:nvSpPr>
          <p:cNvPr id="13" name="Freeform 13"/>
          <p:cNvSpPr/>
          <p:nvPr/>
        </p:nvSpPr>
        <p:spPr>
          <a:xfrm>
            <a:off x="6350000" y="2400300"/>
            <a:ext cx="228600" cy="139700"/>
          </a:xfrm>
          <a:custGeom>
            <a:avLst/>
            <a:gdLst/>
            <a:ahLst/>
            <a:cxnLst/>
            <a:rect l="l" t="t" r="r" b="b"/>
            <a:pathLst>
              <a:path w="228600" h="139700">
                <a:moveTo>
                  <a:pt x="0" y="0"/>
                </a:moveTo>
                <a:lnTo>
                  <a:pt x="0" y="101600"/>
                </a:lnTo>
                <a:cubicBezTo>
                  <a:pt x="0" y="122642"/>
                  <a:pt x="51174" y="139700"/>
                  <a:pt x="114300" y="139700"/>
                </a:cubicBezTo>
                <a:cubicBezTo>
                  <a:pt x="177426" y="139700"/>
                  <a:pt x="228600" y="122642"/>
                  <a:pt x="228600" y="101600"/>
                </a:cubicBezTo>
                <a:lnTo>
                  <a:pt x="228600" y="0"/>
                </a:lnTo>
              </a:path>
            </a:pathLst>
          </a:custGeom>
          <a:noFill/>
          <a:ln w="22860">
            <a:solidFill>
              <a:srgbClr val="3B5B78"/>
            </a:solidFill>
          </a:ln>
        </p:spPr>
      </p:sp>
      <p:sp>
        <p:nvSpPr>
          <p:cNvPr id="14" name="Freeform 14"/>
          <p:cNvSpPr/>
          <p:nvPr/>
        </p:nvSpPr>
        <p:spPr>
          <a:xfrm>
            <a:off x="6578600" y="2279650"/>
            <a:ext cx="69850" cy="139700"/>
          </a:xfrm>
          <a:custGeom>
            <a:avLst/>
            <a:gdLst/>
            <a:ahLst/>
            <a:cxnLst/>
            <a:rect l="l" t="t" r="r" b="b"/>
            <a:pathLst>
              <a:path w="69850" h="139700">
                <a:moveTo>
                  <a:pt x="0" y="19050"/>
                </a:moveTo>
                <a:lnTo>
                  <a:pt x="50800" y="19050"/>
                </a:lnTo>
                <a:lnTo>
                  <a:pt x="69850" y="0"/>
                </a:lnTo>
                <a:moveTo>
                  <a:pt x="0" y="120650"/>
                </a:moveTo>
                <a:lnTo>
                  <a:pt x="25400" y="120650"/>
                </a:lnTo>
                <a:lnTo>
                  <a:pt x="44450" y="139700"/>
                </a:lnTo>
              </a:path>
            </a:pathLst>
          </a:custGeom>
          <a:noFill/>
          <a:ln w="22860">
            <a:solidFill>
              <a:srgbClr val="3B5B78"/>
            </a:solidFill>
            <a:prstDash val="dot"/>
          </a:ln>
        </p:spPr>
      </p:sp>
      <p:sp>
        <p:nvSpPr>
          <p:cNvPr id="15" name="Freeform 15"/>
          <p:cNvSpPr/>
          <p:nvPr/>
        </p:nvSpPr>
        <p:spPr>
          <a:xfrm>
            <a:off x="10795000" y="1841500"/>
            <a:ext cx="4445000" cy="1905000"/>
          </a:xfrm>
          <a:custGeom>
            <a:avLst/>
            <a:gdLst/>
            <a:ahLst/>
            <a:cxnLst/>
            <a:rect l="l" t="t" r="r" b="b"/>
            <a:pathLst>
              <a:path w="4445000" h="1905000">
                <a:moveTo>
                  <a:pt x="0" y="152400"/>
                </a:moveTo>
                <a:lnTo>
                  <a:pt x="0" y="1752600"/>
                </a:lnTo>
                <a:cubicBezTo>
                  <a:pt x="0" y="1836768"/>
                  <a:pt x="68232" y="1905000"/>
                  <a:pt x="152400" y="1905000"/>
                </a:cubicBezTo>
                <a:lnTo>
                  <a:pt x="4292600" y="1905000"/>
                </a:lnTo>
                <a:cubicBezTo>
                  <a:pt x="4376768" y="1905000"/>
                  <a:pt x="4445000" y="1836768"/>
                  <a:pt x="4445000" y="1752600"/>
                </a:cubicBezTo>
                <a:lnTo>
                  <a:pt x="4445000" y="152400"/>
                </a:lnTo>
                <a:cubicBezTo>
                  <a:pt x="4445000" y="68232"/>
                  <a:pt x="4376768" y="0"/>
                  <a:pt x="4292600" y="0"/>
                </a:cubicBezTo>
                <a:lnTo>
                  <a:pt x="152400" y="0"/>
                </a:lnTo>
                <a:cubicBezTo>
                  <a:pt x="68232" y="0"/>
                  <a:pt x="0" y="68232"/>
                  <a:pt x="0" y="15240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  <a:effectLst>
            <a:outerShdw blurRad="508000" dist="101600" dir="5400000" rotWithShape="0">
              <a:srgbClr val="3B5B78">
                <a:alpha val="5098"/>
              </a:srgbClr>
            </a:outerShdw>
          </a:effectLst>
        </p:spPr>
      </p:sp>
      <p:sp>
        <p:nvSpPr>
          <p:cNvPr id="16" name="Freeform 16"/>
          <p:cNvSpPr/>
          <p:nvPr/>
        </p:nvSpPr>
        <p:spPr>
          <a:xfrm>
            <a:off x="11099800" y="2146300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0" y="101600"/>
                </a:moveTo>
                <a:lnTo>
                  <a:pt x="0" y="406400"/>
                </a:lnTo>
                <a:cubicBezTo>
                  <a:pt x="0" y="462512"/>
                  <a:pt x="45488" y="508000"/>
                  <a:pt x="101600" y="508000"/>
                </a:cubicBezTo>
                <a:lnTo>
                  <a:pt x="406400" y="508000"/>
                </a:lnTo>
                <a:cubicBezTo>
                  <a:pt x="462512" y="508000"/>
                  <a:pt x="508000" y="462512"/>
                  <a:pt x="508000" y="406400"/>
                </a:cubicBezTo>
                <a:lnTo>
                  <a:pt x="508000" y="101600"/>
                </a:lnTo>
                <a:cubicBezTo>
                  <a:pt x="508000" y="45488"/>
                  <a:pt x="462512" y="0"/>
                  <a:pt x="406400" y="0"/>
                </a:cubicBezTo>
                <a:lnTo>
                  <a:pt x="101600" y="0"/>
                </a:lnTo>
                <a:cubicBezTo>
                  <a:pt x="45488" y="0"/>
                  <a:pt x="0" y="45488"/>
                  <a:pt x="0" y="101600"/>
                </a:cubicBezTo>
                <a:close/>
              </a:path>
            </a:pathLst>
          </a:custGeom>
          <a:solidFill>
            <a:srgbClr val="E5D9C5">
              <a:alpha val="40000"/>
            </a:srgbClr>
          </a:solidFill>
          <a:ln>
            <a:noFill/>
          </a:ln>
        </p:spPr>
      </p:sp>
      <p:sp>
        <p:nvSpPr>
          <p:cNvPr id="17" name="Freeform 17"/>
          <p:cNvSpPr/>
          <p:nvPr/>
        </p:nvSpPr>
        <p:spPr>
          <a:xfrm>
            <a:off x="11226800" y="2298700"/>
            <a:ext cx="254000" cy="203200"/>
          </a:xfrm>
          <a:custGeom>
            <a:avLst/>
            <a:gdLst/>
            <a:ahLst/>
            <a:cxnLst/>
            <a:rect l="l" t="t" r="r" b="b"/>
            <a:pathLst>
              <a:path w="254000" h="203200">
                <a:moveTo>
                  <a:pt x="0" y="50800"/>
                </a:moveTo>
                <a:lnTo>
                  <a:pt x="0" y="152400"/>
                </a:lnTo>
                <a:cubicBezTo>
                  <a:pt x="0" y="180456"/>
                  <a:pt x="22744" y="203200"/>
                  <a:pt x="50800" y="203200"/>
                </a:cubicBezTo>
                <a:lnTo>
                  <a:pt x="203200" y="203200"/>
                </a:lnTo>
                <a:cubicBezTo>
                  <a:pt x="231256" y="203200"/>
                  <a:pt x="254000" y="180456"/>
                  <a:pt x="254000" y="152400"/>
                </a:cubicBezTo>
                <a:lnTo>
                  <a:pt x="254000" y="50800"/>
                </a:lnTo>
                <a:cubicBezTo>
                  <a:pt x="254000" y="22744"/>
                  <a:pt x="231256" y="0"/>
                  <a:pt x="203200" y="0"/>
                </a:cubicBezTo>
                <a:lnTo>
                  <a:pt x="50800" y="0"/>
                </a:lnTo>
                <a:cubicBezTo>
                  <a:pt x="22744" y="0"/>
                  <a:pt x="0" y="22744"/>
                  <a:pt x="0" y="50800"/>
                </a:cubicBezTo>
                <a:close/>
              </a:path>
            </a:pathLst>
          </a:custGeom>
          <a:noFill/>
          <a:ln w="22860">
            <a:solidFill>
              <a:srgbClr val="3B5B78"/>
            </a:solidFill>
          </a:ln>
        </p:spPr>
      </p:sp>
      <p:sp>
        <p:nvSpPr>
          <p:cNvPr id="18" name="Freeform 18"/>
          <p:cNvSpPr/>
          <p:nvPr/>
        </p:nvSpPr>
        <p:spPr>
          <a:xfrm>
            <a:off x="11252200" y="2222500"/>
            <a:ext cx="203200" cy="215900"/>
          </a:xfrm>
          <a:custGeom>
            <a:avLst/>
            <a:gdLst/>
            <a:ahLst/>
            <a:cxnLst/>
            <a:rect l="l" t="t" r="r" b="b"/>
            <a:pathLst>
              <a:path w="203200" h="215900">
                <a:moveTo>
                  <a:pt x="38100" y="139700"/>
                </a:moveTo>
                <a:lnTo>
                  <a:pt x="38100" y="165100"/>
                </a:lnTo>
                <a:moveTo>
                  <a:pt x="165100" y="139700"/>
                </a:moveTo>
                <a:lnTo>
                  <a:pt x="165100" y="165100"/>
                </a:lnTo>
                <a:moveTo>
                  <a:pt x="63500" y="215900"/>
                </a:moveTo>
                <a:lnTo>
                  <a:pt x="139700" y="215900"/>
                </a:lnTo>
                <a:moveTo>
                  <a:pt x="101600" y="25400"/>
                </a:moveTo>
                <a:lnTo>
                  <a:pt x="101600" y="76200"/>
                </a:lnTo>
                <a:moveTo>
                  <a:pt x="12700" y="12700"/>
                </a:moveTo>
                <a:lnTo>
                  <a:pt x="0" y="0"/>
                </a:lnTo>
                <a:moveTo>
                  <a:pt x="190500" y="12700"/>
                </a:moveTo>
                <a:lnTo>
                  <a:pt x="203200" y="0"/>
                </a:lnTo>
              </a:path>
            </a:pathLst>
          </a:custGeom>
          <a:noFill/>
          <a:ln w="22860">
            <a:solidFill>
              <a:srgbClr val="3B5B78"/>
            </a:solidFill>
          </a:ln>
        </p:spPr>
      </p:sp>
      <p:sp>
        <p:nvSpPr>
          <p:cNvPr id="19" name="Freeform 19"/>
          <p:cNvSpPr/>
          <p:nvPr/>
        </p:nvSpPr>
        <p:spPr>
          <a:xfrm>
            <a:off x="1028700" y="4165600"/>
            <a:ext cx="76200" cy="76200"/>
          </a:xfrm>
          <a:custGeom>
            <a:avLst/>
            <a:gdLst/>
            <a:ahLst/>
            <a:cxnLst/>
            <a:rect l="l" t="t" r="r" b="b"/>
            <a:pathLst>
              <a:path w="76200" h="76200">
                <a:moveTo>
                  <a:pt x="76200" y="38100"/>
                </a:moveTo>
                <a:cubicBezTo>
                  <a:pt x="76200" y="59142"/>
                  <a:pt x="59142" y="76200"/>
                  <a:pt x="38100" y="76200"/>
                </a:cubicBezTo>
                <a:cubicBezTo>
                  <a:pt x="17058" y="76200"/>
                  <a:pt x="0" y="59142"/>
                  <a:pt x="0" y="38100"/>
                </a:cubicBezTo>
                <a:cubicBezTo>
                  <a:pt x="0" y="17058"/>
                  <a:pt x="17058" y="0"/>
                  <a:pt x="38100" y="0"/>
                </a:cubicBezTo>
                <a:cubicBezTo>
                  <a:pt x="59142" y="0"/>
                  <a:pt x="76200" y="17058"/>
                  <a:pt x="76200" y="38100"/>
                </a:cubicBezTo>
                <a:close/>
              </a:path>
            </a:pathLst>
          </a:custGeom>
          <a:solidFill>
            <a:srgbClr val="E5D9C5"/>
          </a:solidFill>
          <a:ln>
            <a:noFill/>
          </a:ln>
        </p:spPr>
      </p:sp>
      <p:sp>
        <p:nvSpPr>
          <p:cNvPr id="20" name="Freeform 20"/>
          <p:cNvSpPr/>
          <p:nvPr/>
        </p:nvSpPr>
        <p:spPr>
          <a:xfrm>
            <a:off x="1016000" y="4445000"/>
            <a:ext cx="14224000" cy="3937000"/>
          </a:xfrm>
          <a:custGeom>
            <a:avLst/>
            <a:gdLst/>
            <a:ahLst/>
            <a:cxnLst/>
            <a:rect l="l" t="t" r="r" b="b"/>
            <a:pathLst>
              <a:path w="14224000" h="3937000">
                <a:moveTo>
                  <a:pt x="0" y="152400"/>
                </a:moveTo>
                <a:lnTo>
                  <a:pt x="0" y="3784600"/>
                </a:lnTo>
                <a:cubicBezTo>
                  <a:pt x="0" y="3868768"/>
                  <a:pt x="68232" y="3937000"/>
                  <a:pt x="152400" y="3937000"/>
                </a:cubicBezTo>
                <a:lnTo>
                  <a:pt x="14071600" y="3937000"/>
                </a:lnTo>
                <a:cubicBezTo>
                  <a:pt x="14155768" y="3937000"/>
                  <a:pt x="14224000" y="3868768"/>
                  <a:pt x="14224000" y="3784600"/>
                </a:cubicBezTo>
                <a:lnTo>
                  <a:pt x="14224000" y="152400"/>
                </a:lnTo>
                <a:cubicBezTo>
                  <a:pt x="14224000" y="68232"/>
                  <a:pt x="14155768" y="0"/>
                  <a:pt x="14071600" y="0"/>
                </a:cubicBezTo>
                <a:lnTo>
                  <a:pt x="152400" y="0"/>
                </a:lnTo>
                <a:cubicBezTo>
                  <a:pt x="68232" y="0"/>
                  <a:pt x="0" y="68232"/>
                  <a:pt x="0" y="15240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  <a:effectLst>
            <a:outerShdw blurRad="508000" dist="101600" dir="5400000" rotWithShape="0">
              <a:srgbClr val="3B5B78">
                <a:alpha val="5098"/>
              </a:srgbClr>
            </a:outerShdw>
          </a:effectLst>
        </p:spPr>
      </p:sp>
      <p:pic>
        <p:nvPicPr>
          <p:cNvPr id="21" name="Picture 2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3300" y="4432300"/>
            <a:ext cx="14249400" cy="3962400"/>
          </a:xfrm>
          <a:prstGeom prst="rect">
            <a:avLst/>
          </a:prstGeom>
        </p:spPr>
      </p:pic>
      <p:sp>
        <p:nvSpPr>
          <p:cNvPr id="22" name="Freeform 22"/>
          <p:cNvSpPr/>
          <p:nvPr/>
        </p:nvSpPr>
        <p:spPr>
          <a:xfrm>
            <a:off x="1016000" y="4445000"/>
            <a:ext cx="14224000" cy="3937000"/>
          </a:xfrm>
          <a:custGeom>
            <a:avLst/>
            <a:gdLst/>
            <a:ahLst/>
            <a:cxnLst/>
            <a:rect l="l" t="t" r="r" b="b"/>
            <a:pathLst>
              <a:path w="14224000" h="3937000">
                <a:moveTo>
                  <a:pt x="0" y="152400"/>
                </a:moveTo>
                <a:lnTo>
                  <a:pt x="0" y="3784600"/>
                </a:lnTo>
                <a:cubicBezTo>
                  <a:pt x="0" y="3868768"/>
                  <a:pt x="68232" y="3937000"/>
                  <a:pt x="152400" y="3937000"/>
                </a:cubicBezTo>
                <a:lnTo>
                  <a:pt x="14071600" y="3937000"/>
                </a:lnTo>
                <a:cubicBezTo>
                  <a:pt x="14155768" y="3937000"/>
                  <a:pt x="14224000" y="3868768"/>
                  <a:pt x="14224000" y="3784600"/>
                </a:cubicBezTo>
                <a:lnTo>
                  <a:pt x="14224000" y="152400"/>
                </a:lnTo>
                <a:cubicBezTo>
                  <a:pt x="14224000" y="68232"/>
                  <a:pt x="14155768" y="0"/>
                  <a:pt x="14071600" y="0"/>
                </a:cubicBezTo>
                <a:lnTo>
                  <a:pt x="152400" y="0"/>
                </a:lnTo>
                <a:cubicBezTo>
                  <a:pt x="68232" y="0"/>
                  <a:pt x="0" y="68232"/>
                  <a:pt x="0" y="152400"/>
                </a:cubicBezTo>
                <a:close/>
              </a:path>
            </a:pathLst>
          </a:custGeom>
          <a:noFill/>
          <a:ln w="12700">
            <a:solidFill>
              <a:srgbClr val="E0E5EA"/>
            </a:solidFill>
          </a:ln>
        </p:spPr>
      </p:sp>
      <p:sp>
        <p:nvSpPr>
          <p:cNvPr id="23" name="TextBox 23"/>
          <p:cNvSpPr txBox="1"/>
          <p:nvPr/>
        </p:nvSpPr>
        <p:spPr>
          <a:xfrm>
            <a:off x="1270000" y="508000"/>
            <a:ext cx="9662160" cy="54356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3200" b="1" i="0">
                <a:solidFill>
                  <a:srgbClr val="2C4258"/>
                </a:solidFill>
                <a:latin typeface="SansSerif"/>
              </a:rPr>
              <a:t>AI Intelligent Dialogue &amp; Context Memory</a:t>
            </a:r>
            <a:endParaRPr lang="en-US" sz="3200" b="1" i="0">
              <a:solidFill>
                <a:srgbClr val="2C4258"/>
              </a:solidFill>
              <a:latin typeface="SansSerif"/>
            </a:endParaRPr>
          </a:p>
        </p:txBody>
      </p:sp>
      <p:sp>
        <p:nvSpPr>
          <p:cNvPr id="24" name="TextBox 24"/>
          <p:cNvSpPr txBox="1"/>
          <p:nvPr/>
        </p:nvSpPr>
        <p:spPr>
          <a:xfrm>
            <a:off x="1270000" y="1054100"/>
            <a:ext cx="4317365" cy="240665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1300" b="1" i="0">
                <a:solidFill>
                  <a:srgbClr val="8C9CAE"/>
                </a:solidFill>
                <a:latin typeface="SansSerif"/>
              </a:rPr>
              <a:t>ENHANCED NATURAL LANGUAGE PROCESSING</a:t>
            </a:r>
            <a:endParaRPr lang="en-US" sz="1300" b="1" i="0">
              <a:solidFill>
                <a:srgbClr val="8C9CAE"/>
              </a:solidFill>
              <a:latin typeface="SansSerif"/>
            </a:endParaRPr>
          </a:p>
        </p:txBody>
      </p:sp>
      <p:sp>
        <p:nvSpPr>
          <p:cNvPr id="25" name="TextBox 25"/>
          <p:cNvSpPr txBox="1"/>
          <p:nvPr/>
        </p:nvSpPr>
        <p:spPr>
          <a:xfrm>
            <a:off x="2006600" y="2260600"/>
            <a:ext cx="2688590" cy="31369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1800" b="1" i="0">
                <a:solidFill>
                  <a:srgbClr val="2C4258"/>
                </a:solidFill>
                <a:latin typeface="SansSerif"/>
              </a:rPr>
              <a:t>Multilingual Support</a:t>
            </a:r>
            <a:endParaRPr lang="en-US" sz="1800" b="1" i="0">
              <a:solidFill>
                <a:srgbClr val="2C4258"/>
              </a:solidFill>
              <a:latin typeface="SansSerif"/>
            </a:endParaRPr>
          </a:p>
        </p:txBody>
      </p:sp>
      <p:sp>
        <p:nvSpPr>
          <p:cNvPr id="26" name="TextBox 26"/>
          <p:cNvSpPr txBox="1"/>
          <p:nvPr/>
        </p:nvSpPr>
        <p:spPr>
          <a:xfrm>
            <a:off x="1320800" y="2794000"/>
            <a:ext cx="3467417" cy="800417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pPr>
              <a:spcAft>
                <a:spcPct val="0"/>
              </a:spcAft>
            </a:pPr>
            <a:r>
              <a:rPr lang="en-US" sz="1350" b="0" i="0">
                <a:solidFill>
                  <a:srgbClr val="5A6673"/>
                </a:solidFill>
                <a:latin typeface="SansSerif"/>
              </a:rPr>
              <a:t>Recognizes and responds in the user's</a:t>
            </a:r>
            <a:endParaRPr lang="en-US" sz="1350" b="0" i="0">
              <a:solidFill>
                <a:srgbClr val="5A6673"/>
              </a:solidFill>
              <a:latin typeface="SansSerif"/>
            </a:endParaRPr>
          </a:p>
          <a:p>
            <a:pPr>
              <a:spcBef>
                <a:spcPts val="500"/>
              </a:spcBef>
              <a:spcAft>
                <a:spcPct val="0"/>
              </a:spcAft>
            </a:pPr>
            <a:r>
              <a:rPr lang="en-US" sz="1350" b="0" i="0">
                <a:solidFill>
                  <a:srgbClr val="5A6673"/>
                </a:solidFill>
                <a:latin typeface="SansSerif"/>
              </a:rPr>
              <a:t>input language, providing a seamless</a:t>
            </a:r>
            <a:endParaRPr lang="en-US" sz="1350" b="0" i="0">
              <a:solidFill>
                <a:srgbClr val="5A6673"/>
              </a:solidFill>
              <a:latin typeface="SansSerif"/>
            </a:endParaRPr>
          </a:p>
          <a:p>
            <a:pPr>
              <a:spcBef>
                <a:spcPts val="500"/>
              </a:spcBef>
              <a:spcAft>
                <a:spcPct val="0"/>
              </a:spcAft>
            </a:pPr>
            <a:r>
              <a:rPr lang="en-US" sz="1350" b="0" i="0">
                <a:solidFill>
                  <a:srgbClr val="5A6673"/>
                </a:solidFill>
                <a:latin typeface="SansSerif"/>
              </a:rPr>
              <a:t>communication experience.</a:t>
            </a:r>
            <a:endParaRPr lang="en-US" sz="1350" b="0" i="0">
              <a:solidFill>
                <a:srgbClr val="5A6673"/>
              </a:solidFill>
              <a:latin typeface="SansSerif"/>
            </a:endParaRPr>
          </a:p>
        </p:txBody>
      </p:sp>
      <p:sp>
        <p:nvSpPr>
          <p:cNvPr id="27" name="TextBox 27"/>
          <p:cNvSpPr txBox="1"/>
          <p:nvPr/>
        </p:nvSpPr>
        <p:spPr>
          <a:xfrm>
            <a:off x="6896100" y="2260600"/>
            <a:ext cx="2523490" cy="31369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1800" b="1" i="0">
                <a:solidFill>
                  <a:srgbClr val="2C4258"/>
                </a:solidFill>
                <a:latin typeface="SansSerif"/>
              </a:rPr>
              <a:t>Context Awareness</a:t>
            </a:r>
            <a:endParaRPr lang="en-US" sz="1800" b="1" i="0">
              <a:solidFill>
                <a:srgbClr val="2C4258"/>
              </a:solidFill>
              <a:latin typeface="SansSerif"/>
            </a:endParaRPr>
          </a:p>
        </p:txBody>
      </p:sp>
      <p:sp>
        <p:nvSpPr>
          <p:cNvPr id="28" name="TextBox 28"/>
          <p:cNvSpPr txBox="1"/>
          <p:nvPr/>
        </p:nvSpPr>
        <p:spPr>
          <a:xfrm>
            <a:off x="6210300" y="2794000"/>
            <a:ext cx="3213417" cy="800417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pPr>
              <a:spcAft>
                <a:spcPct val="0"/>
              </a:spcAft>
            </a:pPr>
            <a:r>
              <a:rPr lang="en-US" sz="1350" b="0" i="0">
                <a:solidFill>
                  <a:srgbClr val="5A6673"/>
                </a:solidFill>
                <a:latin typeface="SansSerif"/>
              </a:rPr>
              <a:t>Uses Redis for history, enabling long</a:t>
            </a:r>
            <a:endParaRPr lang="en-US" sz="1350" b="0" i="0">
              <a:solidFill>
                <a:srgbClr val="5A6673"/>
              </a:solidFill>
              <a:latin typeface="SansSerif"/>
            </a:endParaRPr>
          </a:p>
          <a:p>
            <a:pPr>
              <a:spcBef>
                <a:spcPts val="500"/>
              </a:spcBef>
              <a:spcAft>
                <a:spcPct val="0"/>
              </a:spcAft>
            </a:pPr>
            <a:r>
              <a:rPr lang="en-US" sz="1350" b="0" i="0">
                <a:solidFill>
                  <a:srgbClr val="5A6673"/>
                </a:solidFill>
                <a:latin typeface="SansSerif"/>
              </a:rPr>
              <a:t>&amp; short-term memory to understand</a:t>
            </a:r>
            <a:endParaRPr lang="en-US" sz="1350" b="0" i="0">
              <a:solidFill>
                <a:srgbClr val="5A6673"/>
              </a:solidFill>
              <a:latin typeface="SansSerif"/>
            </a:endParaRPr>
          </a:p>
          <a:p>
            <a:pPr>
              <a:spcBef>
                <a:spcPts val="500"/>
              </a:spcBef>
              <a:spcAft>
                <a:spcPct val="0"/>
              </a:spcAft>
            </a:pPr>
            <a:r>
              <a:rPr lang="en-US" sz="1350" b="0" i="0">
                <a:solidFill>
                  <a:srgbClr val="5A6673"/>
                </a:solidFill>
                <a:latin typeface="SansSerif"/>
              </a:rPr>
              <a:t>continuous conversational intent.</a:t>
            </a:r>
            <a:endParaRPr lang="en-US" sz="1350" b="0" i="0">
              <a:solidFill>
                <a:srgbClr val="5A6673"/>
              </a:solidFill>
              <a:latin typeface="SansSerif"/>
            </a:endParaRPr>
          </a:p>
        </p:txBody>
      </p:sp>
      <p:sp>
        <p:nvSpPr>
          <p:cNvPr id="29" name="TextBox 29"/>
          <p:cNvSpPr txBox="1"/>
          <p:nvPr/>
        </p:nvSpPr>
        <p:spPr>
          <a:xfrm>
            <a:off x="11785600" y="2260600"/>
            <a:ext cx="2675890" cy="31369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1800" b="1" i="0">
                <a:solidFill>
                  <a:srgbClr val="2C4258"/>
                </a:solidFill>
                <a:latin typeface="SansSerif"/>
              </a:rPr>
              <a:t>Intelligent Assistant</a:t>
            </a:r>
            <a:endParaRPr lang="en-US" sz="1800" b="1" i="0">
              <a:solidFill>
                <a:srgbClr val="2C4258"/>
              </a:solidFill>
              <a:latin typeface="SansSerif"/>
            </a:endParaRPr>
          </a:p>
        </p:txBody>
      </p:sp>
      <p:sp>
        <p:nvSpPr>
          <p:cNvPr id="30" name="TextBox 30"/>
          <p:cNvSpPr txBox="1"/>
          <p:nvPr/>
        </p:nvSpPr>
        <p:spPr>
          <a:xfrm>
            <a:off x="11099800" y="2794000"/>
            <a:ext cx="3302318" cy="800417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pPr>
              <a:spcAft>
                <a:spcPct val="0"/>
              </a:spcAft>
            </a:pPr>
            <a:r>
              <a:rPr lang="en-US" sz="1350" b="0" i="0">
                <a:solidFill>
                  <a:srgbClr val="5A6673"/>
                </a:solidFill>
                <a:latin typeface="SansSerif"/>
              </a:rPr>
              <a:t>Customizes personalized study plans</a:t>
            </a:r>
            <a:endParaRPr lang="en-US" sz="1350" b="0" i="0">
              <a:solidFill>
                <a:srgbClr val="5A6673"/>
              </a:solidFill>
              <a:latin typeface="SansSerif"/>
            </a:endParaRPr>
          </a:p>
          <a:p>
            <a:pPr>
              <a:spcBef>
                <a:spcPts val="500"/>
              </a:spcBef>
              <a:spcAft>
                <a:spcPct val="0"/>
              </a:spcAft>
            </a:pPr>
            <a:r>
              <a:rPr lang="en-US" sz="1350" b="0" i="0">
                <a:solidFill>
                  <a:srgbClr val="5A6673"/>
                </a:solidFill>
                <a:latin typeface="SansSerif"/>
              </a:rPr>
              <a:t>based on students' specific majors</a:t>
            </a:r>
            <a:endParaRPr lang="en-US" sz="1350" b="0" i="0">
              <a:solidFill>
                <a:srgbClr val="5A6673"/>
              </a:solidFill>
              <a:latin typeface="SansSerif"/>
            </a:endParaRPr>
          </a:p>
          <a:p>
            <a:pPr>
              <a:spcBef>
                <a:spcPts val="500"/>
              </a:spcBef>
              <a:spcAft>
                <a:spcPct val="0"/>
              </a:spcAft>
            </a:pPr>
            <a:r>
              <a:rPr lang="en-US" sz="1350" b="0" i="0">
                <a:solidFill>
                  <a:srgbClr val="5A6673"/>
                </a:solidFill>
                <a:latin typeface="SansSerif"/>
              </a:rPr>
              <a:t>and future learning objectives.</a:t>
            </a:r>
            <a:endParaRPr lang="en-US" sz="1350" b="0" i="0">
              <a:solidFill>
                <a:srgbClr val="5A6673"/>
              </a:solidFill>
              <a:latin typeface="SansSerif"/>
            </a:endParaRPr>
          </a:p>
        </p:txBody>
      </p:sp>
      <p:sp>
        <p:nvSpPr>
          <p:cNvPr id="31" name="TextBox 31"/>
          <p:cNvSpPr txBox="1"/>
          <p:nvPr/>
        </p:nvSpPr>
        <p:spPr>
          <a:xfrm>
            <a:off x="1193800" y="4102100"/>
            <a:ext cx="1927860" cy="21336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1200" b="1" i="0">
                <a:solidFill>
                  <a:srgbClr val="8C9CAE"/>
                </a:solidFill>
                <a:latin typeface="SansSerif"/>
              </a:rPr>
              <a:t>APP DEMONSTRATION</a:t>
            </a:r>
            <a:endParaRPr lang="en-US" sz="1200" b="1" i="0">
              <a:solidFill>
                <a:srgbClr val="8C9CAE"/>
              </a:solidFill>
              <a:latin typeface="SansSerif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6256000" cy="9144000"/>
          </a:xfrm>
          <a:custGeom>
            <a:avLst/>
            <a:gdLst/>
            <a:ahLst/>
            <a:cxnLst/>
            <a:rect l="l" t="t" r="r" b="b"/>
            <a:pathLst>
              <a:path w="16256000" h="9144000">
                <a:moveTo>
                  <a:pt x="0" y="0"/>
                </a:moveTo>
                <a:lnTo>
                  <a:pt x="16256000" y="0"/>
                </a:lnTo>
                <a:lnTo>
                  <a:pt x="16256000" y="9144000"/>
                </a:lnTo>
                <a:lnTo>
                  <a:pt x="0" y="9144000"/>
                </a:lnTo>
                <a:lnTo>
                  <a:pt x="0" y="0"/>
                </a:lnTo>
                <a:close/>
              </a:path>
            </a:pathLst>
          </a:custGeom>
          <a:solidFill>
            <a:srgbClr val="F4F5F7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13335000" y="-889000"/>
            <a:ext cx="3810000" cy="3810000"/>
          </a:xfrm>
          <a:custGeom>
            <a:avLst/>
            <a:gdLst/>
            <a:ahLst/>
            <a:cxnLst/>
            <a:rect l="l" t="t" r="r" b="b"/>
            <a:pathLst>
              <a:path w="3810000" h="3810000">
                <a:moveTo>
                  <a:pt x="3810000" y="1905000"/>
                </a:moveTo>
                <a:cubicBezTo>
                  <a:pt x="3810000" y="2957102"/>
                  <a:pt x="2957102" y="3810000"/>
                  <a:pt x="1905000" y="3810000"/>
                </a:cubicBezTo>
                <a:cubicBezTo>
                  <a:pt x="852898" y="3810000"/>
                  <a:pt x="0" y="2957102"/>
                  <a:pt x="0" y="1905000"/>
                </a:cubicBezTo>
                <a:cubicBezTo>
                  <a:pt x="0" y="852898"/>
                  <a:pt x="852898" y="0"/>
                  <a:pt x="1905000" y="0"/>
                </a:cubicBezTo>
                <a:cubicBezTo>
                  <a:pt x="2957102" y="0"/>
                  <a:pt x="3810000" y="852898"/>
                  <a:pt x="3810000" y="1905000"/>
                </a:cubicBezTo>
                <a:close/>
              </a:path>
            </a:pathLst>
          </a:custGeom>
          <a:solidFill>
            <a:srgbClr val="E5D9C5">
              <a:alpha val="20000"/>
            </a:srgbClr>
          </a:solidFill>
          <a:ln>
            <a:noFill/>
          </a:ln>
        </p:spPr>
      </p:sp>
      <p:sp>
        <p:nvSpPr>
          <p:cNvPr id="4" name="Freeform 4"/>
          <p:cNvSpPr/>
          <p:nvPr/>
        </p:nvSpPr>
        <p:spPr>
          <a:xfrm>
            <a:off x="1016000" y="1778000"/>
            <a:ext cx="1270000" cy="0"/>
          </a:xfrm>
          <a:custGeom>
            <a:avLst/>
            <a:gdLst/>
            <a:ahLst/>
            <a:cxnLst/>
            <a:rect l="l" t="t" r="r" b="b"/>
            <a:pathLst>
              <a:path w="1270000">
                <a:moveTo>
                  <a:pt x="0" y="0"/>
                </a:moveTo>
                <a:lnTo>
                  <a:pt x="1270000" y="0"/>
                </a:lnTo>
              </a:path>
            </a:pathLst>
          </a:custGeom>
          <a:noFill/>
          <a:ln w="38100">
            <a:solidFill>
              <a:srgbClr val="3B5B78"/>
            </a:solidFill>
          </a:ln>
        </p:spPr>
      </p:sp>
      <p:sp>
        <p:nvSpPr>
          <p:cNvPr id="5" name="Freeform 5"/>
          <p:cNvSpPr/>
          <p:nvPr/>
        </p:nvSpPr>
        <p:spPr>
          <a:xfrm>
            <a:off x="1016000" y="2413000"/>
            <a:ext cx="4445000" cy="1905000"/>
          </a:xfrm>
          <a:custGeom>
            <a:avLst/>
            <a:gdLst/>
            <a:ahLst/>
            <a:cxnLst/>
            <a:rect l="l" t="t" r="r" b="b"/>
            <a:pathLst>
              <a:path w="4445000" h="1905000">
                <a:moveTo>
                  <a:pt x="0" y="101600"/>
                </a:moveTo>
                <a:lnTo>
                  <a:pt x="0" y="1803400"/>
                </a:lnTo>
                <a:cubicBezTo>
                  <a:pt x="0" y="1859512"/>
                  <a:pt x="45488" y="1905000"/>
                  <a:pt x="101600" y="1905000"/>
                </a:cubicBezTo>
                <a:lnTo>
                  <a:pt x="4343400" y="1905000"/>
                </a:lnTo>
                <a:cubicBezTo>
                  <a:pt x="4399512" y="1905000"/>
                  <a:pt x="4445000" y="1859512"/>
                  <a:pt x="4445000" y="1803400"/>
                </a:cubicBezTo>
                <a:lnTo>
                  <a:pt x="4445000" y="101600"/>
                </a:lnTo>
                <a:cubicBezTo>
                  <a:pt x="4445000" y="45488"/>
                  <a:pt x="4399512" y="0"/>
                  <a:pt x="4343400" y="0"/>
                </a:cubicBezTo>
                <a:lnTo>
                  <a:pt x="101600" y="0"/>
                </a:lnTo>
                <a:cubicBezTo>
                  <a:pt x="45488" y="0"/>
                  <a:pt x="0" y="45488"/>
                  <a:pt x="0" y="101600"/>
                </a:cubicBezTo>
                <a:close/>
              </a:path>
            </a:pathLst>
          </a:custGeom>
          <a:solidFill>
            <a:srgbClr val="FFFFFF">
              <a:alpha val="80000"/>
            </a:srgbClr>
          </a:solidFill>
          <a:ln>
            <a:noFill/>
          </a:ln>
        </p:spPr>
      </p:sp>
      <p:sp>
        <p:nvSpPr>
          <p:cNvPr id="6" name="Freeform 6"/>
          <p:cNvSpPr/>
          <p:nvPr/>
        </p:nvSpPr>
        <p:spPr>
          <a:xfrm>
            <a:off x="1295400" y="26924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457200" y="228600"/>
                </a:moveTo>
                <a:cubicBezTo>
                  <a:pt x="457200" y="354852"/>
                  <a:pt x="354852" y="457200"/>
                  <a:pt x="228600" y="457200"/>
                </a:cubicBezTo>
                <a:cubicBezTo>
                  <a:pt x="102348" y="457200"/>
                  <a:pt x="0" y="354852"/>
                  <a:pt x="0" y="228600"/>
                </a:cubicBezTo>
                <a:cubicBezTo>
                  <a:pt x="0" y="102348"/>
                  <a:pt x="102348" y="0"/>
                  <a:pt x="228600" y="0"/>
                </a:cubicBezTo>
                <a:cubicBezTo>
                  <a:pt x="354852" y="0"/>
                  <a:pt x="457200" y="102348"/>
                  <a:pt x="457200" y="228600"/>
                </a:cubicBezTo>
                <a:close/>
              </a:path>
            </a:pathLst>
          </a:custGeom>
          <a:solidFill>
            <a:srgbClr val="E5D9C5">
              <a:alpha val="40000"/>
            </a:srgbClr>
          </a:solidFill>
          <a:ln>
            <a:noFill/>
          </a:ln>
        </p:spPr>
      </p:sp>
      <p:sp>
        <p:nvSpPr>
          <p:cNvPr id="7" name="Freeform 7"/>
          <p:cNvSpPr/>
          <p:nvPr/>
        </p:nvSpPr>
        <p:spPr>
          <a:xfrm>
            <a:off x="1422400" y="2844800"/>
            <a:ext cx="203200" cy="152400"/>
          </a:xfrm>
          <a:custGeom>
            <a:avLst/>
            <a:gdLst/>
            <a:ahLst/>
            <a:cxnLst/>
            <a:rect l="l" t="t" r="r" b="b"/>
            <a:pathLst>
              <a:path w="203200" h="152400">
                <a:moveTo>
                  <a:pt x="0" y="76200"/>
                </a:moveTo>
                <a:lnTo>
                  <a:pt x="76200" y="152400"/>
                </a:lnTo>
                <a:lnTo>
                  <a:pt x="203200" y="0"/>
                </a:lnTo>
              </a:path>
            </a:pathLst>
          </a:custGeom>
          <a:noFill/>
          <a:ln w="31750">
            <a:solidFill>
              <a:srgbClr val="2E5C55"/>
            </a:solidFill>
          </a:ln>
        </p:spPr>
      </p:sp>
      <p:sp>
        <p:nvSpPr>
          <p:cNvPr id="8" name="Freeform 8"/>
          <p:cNvSpPr/>
          <p:nvPr/>
        </p:nvSpPr>
        <p:spPr>
          <a:xfrm>
            <a:off x="5905500" y="2413000"/>
            <a:ext cx="4445000" cy="1905000"/>
          </a:xfrm>
          <a:custGeom>
            <a:avLst/>
            <a:gdLst/>
            <a:ahLst/>
            <a:cxnLst/>
            <a:rect l="l" t="t" r="r" b="b"/>
            <a:pathLst>
              <a:path w="4445000" h="1905000">
                <a:moveTo>
                  <a:pt x="0" y="101600"/>
                </a:moveTo>
                <a:lnTo>
                  <a:pt x="0" y="1803400"/>
                </a:lnTo>
                <a:cubicBezTo>
                  <a:pt x="0" y="1859512"/>
                  <a:pt x="45488" y="1905000"/>
                  <a:pt x="101600" y="1905000"/>
                </a:cubicBezTo>
                <a:lnTo>
                  <a:pt x="4343400" y="1905000"/>
                </a:lnTo>
                <a:cubicBezTo>
                  <a:pt x="4399512" y="1905000"/>
                  <a:pt x="4445000" y="1859512"/>
                  <a:pt x="4445000" y="1803400"/>
                </a:cubicBezTo>
                <a:lnTo>
                  <a:pt x="4445000" y="101600"/>
                </a:lnTo>
                <a:cubicBezTo>
                  <a:pt x="4445000" y="45488"/>
                  <a:pt x="4399512" y="0"/>
                  <a:pt x="4343400" y="0"/>
                </a:cubicBezTo>
                <a:lnTo>
                  <a:pt x="101600" y="0"/>
                </a:lnTo>
                <a:cubicBezTo>
                  <a:pt x="45488" y="0"/>
                  <a:pt x="0" y="45488"/>
                  <a:pt x="0" y="101600"/>
                </a:cubicBezTo>
                <a:close/>
              </a:path>
            </a:pathLst>
          </a:custGeom>
          <a:solidFill>
            <a:srgbClr val="FFFFFF">
              <a:alpha val="80000"/>
            </a:srgbClr>
          </a:solidFill>
          <a:ln>
            <a:noFill/>
          </a:ln>
        </p:spPr>
      </p:sp>
      <p:sp>
        <p:nvSpPr>
          <p:cNvPr id="9" name="Freeform 9"/>
          <p:cNvSpPr/>
          <p:nvPr/>
        </p:nvSpPr>
        <p:spPr>
          <a:xfrm>
            <a:off x="6184900" y="26924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457200" y="228600"/>
                </a:moveTo>
                <a:cubicBezTo>
                  <a:pt x="457200" y="354852"/>
                  <a:pt x="354852" y="457200"/>
                  <a:pt x="228600" y="457200"/>
                </a:cubicBezTo>
                <a:cubicBezTo>
                  <a:pt x="102348" y="457200"/>
                  <a:pt x="0" y="354852"/>
                  <a:pt x="0" y="228600"/>
                </a:cubicBezTo>
                <a:cubicBezTo>
                  <a:pt x="0" y="102348"/>
                  <a:pt x="102348" y="0"/>
                  <a:pt x="228600" y="0"/>
                </a:cubicBezTo>
                <a:cubicBezTo>
                  <a:pt x="354852" y="0"/>
                  <a:pt x="457200" y="102348"/>
                  <a:pt x="457200" y="228600"/>
                </a:cubicBezTo>
                <a:close/>
              </a:path>
            </a:pathLst>
          </a:custGeom>
          <a:solidFill>
            <a:srgbClr val="E5D9C5">
              <a:alpha val="40000"/>
            </a:srgbClr>
          </a:solidFill>
          <a:ln>
            <a:noFill/>
          </a:ln>
        </p:spPr>
      </p:sp>
      <p:sp>
        <p:nvSpPr>
          <p:cNvPr id="10" name="Freeform 10"/>
          <p:cNvSpPr/>
          <p:nvPr/>
        </p:nvSpPr>
        <p:spPr>
          <a:xfrm>
            <a:off x="6311900" y="2819400"/>
            <a:ext cx="203200" cy="203200"/>
          </a:xfrm>
          <a:custGeom>
            <a:avLst/>
            <a:gdLst/>
            <a:ahLst/>
            <a:cxnLst/>
            <a:rect l="l" t="t" r="r" b="b"/>
            <a:pathLst>
              <a:path w="203200" h="203200">
                <a:moveTo>
                  <a:pt x="203200" y="101600"/>
                </a:moveTo>
                <a:cubicBezTo>
                  <a:pt x="203200" y="157712"/>
                  <a:pt x="157712" y="203200"/>
                  <a:pt x="101600" y="203200"/>
                </a:cubicBezTo>
                <a:cubicBezTo>
                  <a:pt x="45488" y="203200"/>
                  <a:pt x="0" y="157712"/>
                  <a:pt x="0" y="101600"/>
                </a:cubicBezTo>
                <a:cubicBezTo>
                  <a:pt x="0" y="45488"/>
                  <a:pt x="45488" y="0"/>
                  <a:pt x="101600" y="0"/>
                </a:cubicBezTo>
                <a:cubicBezTo>
                  <a:pt x="157712" y="0"/>
                  <a:pt x="203200" y="45488"/>
                  <a:pt x="203200" y="101600"/>
                </a:cubicBezTo>
                <a:close/>
              </a:path>
            </a:pathLst>
          </a:custGeom>
          <a:noFill/>
          <a:ln w="25400">
            <a:solidFill>
              <a:srgbClr val="2E5C55"/>
            </a:solidFill>
          </a:ln>
        </p:spPr>
      </p:sp>
      <p:sp>
        <p:nvSpPr>
          <p:cNvPr id="11" name="Freeform 11"/>
          <p:cNvSpPr/>
          <p:nvPr/>
        </p:nvSpPr>
        <p:spPr>
          <a:xfrm>
            <a:off x="6489700" y="2997200"/>
            <a:ext cx="76200" cy="76200"/>
          </a:xfrm>
          <a:custGeom>
            <a:avLst/>
            <a:gdLst/>
            <a:ahLst/>
            <a:cxnLst/>
            <a:rect l="l" t="t" r="r" b="b"/>
            <a:pathLst>
              <a:path w="76200" h="76200">
                <a:moveTo>
                  <a:pt x="0" y="0"/>
                </a:moveTo>
                <a:lnTo>
                  <a:pt x="76200" y="76200"/>
                </a:lnTo>
              </a:path>
            </a:pathLst>
          </a:custGeom>
          <a:noFill/>
          <a:ln w="25400">
            <a:solidFill>
              <a:srgbClr val="2E5C55"/>
            </a:solidFill>
          </a:ln>
        </p:spPr>
      </p:sp>
      <p:sp>
        <p:nvSpPr>
          <p:cNvPr id="12" name="Freeform 12"/>
          <p:cNvSpPr/>
          <p:nvPr/>
        </p:nvSpPr>
        <p:spPr>
          <a:xfrm>
            <a:off x="10795000" y="2413000"/>
            <a:ext cx="4445000" cy="1905000"/>
          </a:xfrm>
          <a:custGeom>
            <a:avLst/>
            <a:gdLst/>
            <a:ahLst/>
            <a:cxnLst/>
            <a:rect l="l" t="t" r="r" b="b"/>
            <a:pathLst>
              <a:path w="4445000" h="1905000">
                <a:moveTo>
                  <a:pt x="0" y="101600"/>
                </a:moveTo>
                <a:lnTo>
                  <a:pt x="0" y="1803400"/>
                </a:lnTo>
                <a:cubicBezTo>
                  <a:pt x="0" y="1859512"/>
                  <a:pt x="45488" y="1905000"/>
                  <a:pt x="101600" y="1905000"/>
                </a:cubicBezTo>
                <a:lnTo>
                  <a:pt x="4343400" y="1905000"/>
                </a:lnTo>
                <a:cubicBezTo>
                  <a:pt x="4399512" y="1905000"/>
                  <a:pt x="4445000" y="1859512"/>
                  <a:pt x="4445000" y="1803400"/>
                </a:cubicBezTo>
                <a:lnTo>
                  <a:pt x="4445000" y="101600"/>
                </a:lnTo>
                <a:cubicBezTo>
                  <a:pt x="4445000" y="45488"/>
                  <a:pt x="4399512" y="0"/>
                  <a:pt x="4343400" y="0"/>
                </a:cubicBezTo>
                <a:lnTo>
                  <a:pt x="101600" y="0"/>
                </a:lnTo>
                <a:cubicBezTo>
                  <a:pt x="45488" y="0"/>
                  <a:pt x="0" y="45488"/>
                  <a:pt x="0" y="101600"/>
                </a:cubicBezTo>
                <a:close/>
              </a:path>
            </a:pathLst>
          </a:custGeom>
          <a:solidFill>
            <a:srgbClr val="FFFFFF">
              <a:alpha val="80000"/>
            </a:srgbClr>
          </a:solidFill>
          <a:ln>
            <a:noFill/>
          </a:ln>
        </p:spPr>
      </p:sp>
      <p:sp>
        <p:nvSpPr>
          <p:cNvPr id="13" name="Freeform 13"/>
          <p:cNvSpPr/>
          <p:nvPr/>
        </p:nvSpPr>
        <p:spPr>
          <a:xfrm>
            <a:off x="11074400" y="26924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457200" y="228600"/>
                </a:moveTo>
                <a:cubicBezTo>
                  <a:pt x="457200" y="354852"/>
                  <a:pt x="354852" y="457200"/>
                  <a:pt x="228600" y="457200"/>
                </a:cubicBezTo>
                <a:cubicBezTo>
                  <a:pt x="102348" y="457200"/>
                  <a:pt x="0" y="354852"/>
                  <a:pt x="0" y="228600"/>
                </a:cubicBezTo>
                <a:cubicBezTo>
                  <a:pt x="0" y="102348"/>
                  <a:pt x="102348" y="0"/>
                  <a:pt x="228600" y="0"/>
                </a:cubicBezTo>
                <a:cubicBezTo>
                  <a:pt x="354852" y="0"/>
                  <a:pt x="457200" y="102348"/>
                  <a:pt x="457200" y="228600"/>
                </a:cubicBezTo>
                <a:close/>
              </a:path>
            </a:pathLst>
          </a:custGeom>
          <a:solidFill>
            <a:srgbClr val="E5D9C5">
              <a:alpha val="40000"/>
            </a:srgbClr>
          </a:solidFill>
          <a:ln>
            <a:noFill/>
          </a:ln>
        </p:spPr>
      </p:sp>
      <p:sp>
        <p:nvSpPr>
          <p:cNvPr id="14" name="Freeform 14"/>
          <p:cNvSpPr/>
          <p:nvPr/>
        </p:nvSpPr>
        <p:spPr>
          <a:xfrm>
            <a:off x="11201400" y="2844800"/>
            <a:ext cx="203200" cy="152400"/>
          </a:xfrm>
          <a:custGeom>
            <a:avLst/>
            <a:gdLst/>
            <a:ahLst/>
            <a:cxnLst/>
            <a:rect l="l" t="t" r="r" b="b"/>
            <a:pathLst>
              <a:path w="203200" h="152400">
                <a:moveTo>
                  <a:pt x="0" y="25400"/>
                </a:moveTo>
                <a:lnTo>
                  <a:pt x="0" y="127000"/>
                </a:lnTo>
                <a:cubicBezTo>
                  <a:pt x="0" y="141028"/>
                  <a:pt x="11372" y="152400"/>
                  <a:pt x="25400" y="152400"/>
                </a:cubicBezTo>
                <a:lnTo>
                  <a:pt x="177800" y="152400"/>
                </a:lnTo>
                <a:cubicBezTo>
                  <a:pt x="191828" y="152400"/>
                  <a:pt x="203200" y="141028"/>
                  <a:pt x="203200" y="127000"/>
                </a:cubicBezTo>
                <a:lnTo>
                  <a:pt x="203200" y="25400"/>
                </a:lnTo>
                <a:cubicBezTo>
                  <a:pt x="203200" y="11372"/>
                  <a:pt x="191828" y="0"/>
                  <a:pt x="177800" y="0"/>
                </a:cubicBezTo>
                <a:lnTo>
                  <a:pt x="25400" y="0"/>
                </a:lnTo>
                <a:cubicBezTo>
                  <a:pt x="11372" y="0"/>
                  <a:pt x="0" y="11372"/>
                  <a:pt x="0" y="25400"/>
                </a:cubicBezTo>
                <a:close/>
              </a:path>
            </a:pathLst>
          </a:custGeom>
          <a:noFill/>
          <a:ln w="25400">
            <a:solidFill>
              <a:srgbClr val="2E5C55"/>
            </a:solidFill>
          </a:ln>
        </p:spPr>
      </p:sp>
      <p:sp>
        <p:nvSpPr>
          <p:cNvPr id="15" name="Freeform 15"/>
          <p:cNvSpPr/>
          <p:nvPr/>
        </p:nvSpPr>
        <p:spPr>
          <a:xfrm>
            <a:off x="11252200" y="2997200"/>
            <a:ext cx="76200" cy="50800"/>
          </a:xfrm>
          <a:custGeom>
            <a:avLst/>
            <a:gdLst/>
            <a:ahLst/>
            <a:cxnLst/>
            <a:rect l="l" t="t" r="r" b="b"/>
            <a:pathLst>
              <a:path w="76200" h="50800">
                <a:moveTo>
                  <a:pt x="25400" y="0"/>
                </a:moveTo>
                <a:lnTo>
                  <a:pt x="0" y="50800"/>
                </a:lnTo>
                <a:lnTo>
                  <a:pt x="76200" y="0"/>
                </a:lnTo>
              </a:path>
            </a:pathLst>
          </a:custGeom>
          <a:noFill/>
          <a:ln w="25400">
            <a:solidFill>
              <a:srgbClr val="2E5C55"/>
            </a:solidFill>
          </a:ln>
        </p:spPr>
      </p:sp>
      <p:pic>
        <p:nvPicPr>
          <p:cNvPr id="16" name="Picture 16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1700" y="4749800"/>
            <a:ext cx="14452600" cy="4102100"/>
          </a:xfrm>
          <a:prstGeom prst="rect">
            <a:avLst/>
          </a:prstGeom>
        </p:spPr>
      </p:pic>
      <p:sp>
        <p:nvSpPr>
          <p:cNvPr id="17" name="Freeform 17"/>
          <p:cNvSpPr/>
          <p:nvPr/>
        </p:nvSpPr>
        <p:spPr>
          <a:xfrm>
            <a:off x="1016000" y="8890000"/>
            <a:ext cx="14224000" cy="0"/>
          </a:xfrm>
          <a:custGeom>
            <a:avLst/>
            <a:gdLst/>
            <a:ahLst/>
            <a:cxnLst/>
            <a:rect l="l" t="t" r="r" b="b"/>
            <a:pathLst>
              <a:path w="14224000">
                <a:moveTo>
                  <a:pt x="0" y="0"/>
                </a:moveTo>
                <a:lnTo>
                  <a:pt x="14224000" y="0"/>
                </a:lnTo>
              </a:path>
            </a:pathLst>
          </a:custGeom>
          <a:noFill/>
          <a:ln w="6350">
            <a:solidFill>
              <a:srgbClr val="3B5B78">
                <a:alpha val="20000"/>
              </a:srgbClr>
            </a:solidFill>
          </a:ln>
        </p:spPr>
      </p:sp>
      <p:sp>
        <p:nvSpPr>
          <p:cNvPr id="18" name="TextBox 18"/>
          <p:cNvSpPr txBox="1"/>
          <p:nvPr/>
        </p:nvSpPr>
        <p:spPr>
          <a:xfrm>
            <a:off x="1016000" y="596900"/>
            <a:ext cx="2172970" cy="24257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1400" b="0" i="0">
                <a:solidFill>
                  <a:srgbClr val="3B5B78">
                    <a:alpha val="50196"/>
                  </a:srgbClr>
                </a:solidFill>
                <a:latin typeface="Arial" panose="020B0604020202020204"/>
              </a:rPr>
              <a:t>09 / FEATURE OVERVIEW</a:t>
            </a:r>
            <a:endParaRPr lang="en-US" sz="1400" b="0" i="0">
              <a:solidFill>
                <a:srgbClr val="3B5B78">
                  <a:alpha val="50196"/>
                </a:srgbClr>
              </a:solidFill>
              <a:latin typeface="Arial" panose="020B0604020202020204"/>
            </a:endParaRPr>
          </a:p>
        </p:txBody>
      </p:sp>
      <p:sp>
        <p:nvSpPr>
          <p:cNvPr id="19" name="TextBox 19"/>
          <p:cNvSpPr txBox="1"/>
          <p:nvPr/>
        </p:nvSpPr>
        <p:spPr>
          <a:xfrm>
            <a:off x="1016000" y="1041400"/>
            <a:ext cx="8120380" cy="60198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3600" b="1" i="0">
                <a:solidFill>
                  <a:srgbClr val="3B5B78"/>
                </a:solidFill>
                <a:latin typeface="Arial" panose="020B0604020202020204"/>
              </a:rPr>
              <a:t>Task Management &amp; Event Discovery</a:t>
            </a:r>
            <a:endParaRPr lang="en-US" sz="3600" b="1" i="0">
              <a:solidFill>
                <a:srgbClr val="3B5B78"/>
              </a:solidFill>
              <a:latin typeface="Arial" panose="020B0604020202020204"/>
            </a:endParaRPr>
          </a:p>
        </p:txBody>
      </p:sp>
      <p:sp>
        <p:nvSpPr>
          <p:cNvPr id="20" name="TextBox 20"/>
          <p:cNvSpPr txBox="1"/>
          <p:nvPr/>
        </p:nvSpPr>
        <p:spPr>
          <a:xfrm>
            <a:off x="1968500" y="2743200"/>
            <a:ext cx="1752600" cy="34290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2000" b="1" i="0">
                <a:solidFill>
                  <a:srgbClr val="3B5B78"/>
                </a:solidFill>
                <a:latin typeface="Arial" panose="020B0604020202020204"/>
              </a:rPr>
              <a:t>Task Tracking</a:t>
            </a:r>
            <a:endParaRPr lang="en-US" sz="2000" b="1" i="0">
              <a:solidFill>
                <a:srgbClr val="3B5B78"/>
              </a:solidFill>
              <a:latin typeface="Arial" panose="020B0604020202020204"/>
            </a:endParaRPr>
          </a:p>
        </p:txBody>
      </p:sp>
      <p:sp>
        <p:nvSpPr>
          <p:cNvPr id="21" name="TextBox 21"/>
          <p:cNvSpPr txBox="1"/>
          <p:nvPr/>
        </p:nvSpPr>
        <p:spPr>
          <a:xfrm>
            <a:off x="1524000" y="3314700"/>
            <a:ext cx="3775075" cy="612775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pPr>
              <a:spcAft>
                <a:spcPct val="0"/>
              </a:spcAft>
            </a:pPr>
            <a:r>
              <a:rPr lang="en-US" sz="1500" b="0" i="0">
                <a:solidFill>
                  <a:srgbClr val="4A4A4A">
                    <a:alpha val="90196"/>
                  </a:srgbClr>
                </a:solidFill>
                <a:latin typeface="Arial" panose="020B0604020202020204"/>
              </a:rPr>
              <a:t>Supports /add, /list, /done commands</a:t>
            </a:r>
            <a:endParaRPr lang="en-US" sz="1500" b="0" i="0">
              <a:solidFill>
                <a:srgbClr val="4A4A4A">
                  <a:alpha val="90196"/>
                </a:srgbClr>
              </a:solidFill>
              <a:latin typeface="Arial" panose="020B0604020202020204"/>
            </a:endParaRPr>
          </a:p>
          <a:p>
            <a:pPr>
              <a:spcBef>
                <a:spcPts val="1000"/>
              </a:spcBef>
              <a:spcAft>
                <a:spcPct val="0"/>
              </a:spcAft>
            </a:pPr>
            <a:r>
              <a:rPr lang="en-US" sz="1500" b="0" i="0">
                <a:solidFill>
                  <a:srgbClr val="4A4A4A">
                    <a:alpha val="90196"/>
                  </a:srgbClr>
                </a:solidFill>
                <a:latin typeface="Arial" panose="020B0604020202020204"/>
              </a:rPr>
              <a:t>Helping students manage deadlines efficiently</a:t>
            </a:r>
            <a:endParaRPr lang="en-US" sz="1500" b="0" i="0">
              <a:solidFill>
                <a:srgbClr val="4A4A4A">
                  <a:alpha val="90196"/>
                </a:srgbClr>
              </a:solidFill>
              <a:latin typeface="Arial" panose="020B0604020202020204"/>
            </a:endParaRPr>
          </a:p>
        </p:txBody>
      </p:sp>
      <p:sp>
        <p:nvSpPr>
          <p:cNvPr id="22" name="TextBox 22"/>
          <p:cNvSpPr txBox="1"/>
          <p:nvPr/>
        </p:nvSpPr>
        <p:spPr>
          <a:xfrm>
            <a:off x="6858000" y="2743200"/>
            <a:ext cx="1993900" cy="34290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2000" b="1" i="0">
                <a:solidFill>
                  <a:srgbClr val="3B5B78"/>
                </a:solidFill>
                <a:latin typeface="Arial" panose="020B0604020202020204"/>
              </a:rPr>
              <a:t>Event Discovery</a:t>
            </a:r>
            <a:endParaRPr lang="en-US" sz="2000" b="1" i="0">
              <a:solidFill>
                <a:srgbClr val="3B5B78"/>
              </a:solidFill>
              <a:latin typeface="Arial" panose="020B0604020202020204"/>
            </a:endParaRPr>
          </a:p>
        </p:txBody>
      </p:sp>
      <p:sp>
        <p:nvSpPr>
          <p:cNvPr id="23" name="TextBox 23"/>
          <p:cNvSpPr txBox="1"/>
          <p:nvPr/>
        </p:nvSpPr>
        <p:spPr>
          <a:xfrm>
            <a:off x="6413500" y="3314700"/>
            <a:ext cx="3368675" cy="612775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pPr>
              <a:spcAft>
                <a:spcPct val="0"/>
              </a:spcAft>
            </a:pPr>
            <a:r>
              <a:rPr lang="en-US" sz="1500" b="0" i="0">
                <a:solidFill>
                  <a:srgbClr val="4A4A4A">
                    <a:alpha val="90196"/>
                  </a:srgbClr>
                </a:solidFill>
                <a:latin typeface="Arial" panose="020B0604020202020204"/>
              </a:rPr>
              <a:t>Browse events via /events command</a:t>
            </a:r>
            <a:endParaRPr lang="en-US" sz="1500" b="0" i="0">
              <a:solidFill>
                <a:srgbClr val="4A4A4A">
                  <a:alpha val="90196"/>
                </a:srgbClr>
              </a:solidFill>
              <a:latin typeface="Arial" panose="020B0604020202020204"/>
            </a:endParaRPr>
          </a:p>
          <a:p>
            <a:pPr>
              <a:spcBef>
                <a:spcPts val="1000"/>
              </a:spcBef>
              <a:spcAft>
                <a:spcPct val="0"/>
              </a:spcAft>
            </a:pPr>
            <a:r>
              <a:rPr lang="en-US" sz="1500" b="0" i="0">
                <a:solidFill>
                  <a:srgbClr val="4A4A4A">
                    <a:alpha val="90196"/>
                  </a:srgbClr>
                </a:solidFill>
                <a:latin typeface="Arial" panose="020B0604020202020204"/>
              </a:rPr>
              <a:t>Quick access by tags like #tech, #sports</a:t>
            </a:r>
            <a:endParaRPr lang="en-US" sz="1500" b="0" i="0">
              <a:solidFill>
                <a:srgbClr val="4A4A4A">
                  <a:alpha val="90196"/>
                </a:srgbClr>
              </a:solidFill>
              <a:latin typeface="Arial" panose="020B0604020202020204"/>
            </a:endParaRPr>
          </a:p>
        </p:txBody>
      </p:sp>
      <p:sp>
        <p:nvSpPr>
          <p:cNvPr id="24" name="TextBox 24"/>
          <p:cNvSpPr txBox="1"/>
          <p:nvPr/>
        </p:nvSpPr>
        <p:spPr>
          <a:xfrm>
            <a:off x="11747500" y="2743200"/>
            <a:ext cx="1739900" cy="34290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2000" b="1" i="0">
                <a:solidFill>
                  <a:srgbClr val="3B5B78"/>
                </a:solidFill>
                <a:latin typeface="Arial" panose="020B0604020202020204"/>
              </a:rPr>
              <a:t>Interaction UX</a:t>
            </a:r>
            <a:endParaRPr lang="en-US" sz="2000" b="1" i="0">
              <a:solidFill>
                <a:srgbClr val="3B5B78"/>
              </a:solidFill>
              <a:latin typeface="Arial" panose="020B0604020202020204"/>
            </a:endParaRPr>
          </a:p>
        </p:txBody>
      </p:sp>
      <p:sp>
        <p:nvSpPr>
          <p:cNvPr id="25" name="TextBox 25"/>
          <p:cNvSpPr txBox="1"/>
          <p:nvPr/>
        </p:nvSpPr>
        <p:spPr>
          <a:xfrm>
            <a:off x="11303000" y="3314700"/>
            <a:ext cx="3216275" cy="612775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pPr>
              <a:spcAft>
                <a:spcPct val="0"/>
              </a:spcAft>
            </a:pPr>
            <a:r>
              <a:rPr lang="en-US" sz="1500" b="0" i="0">
                <a:solidFill>
                  <a:srgbClr val="4A4A4A">
                    <a:alpha val="90196"/>
                  </a:srgbClr>
                </a:solidFill>
                <a:latin typeface="Arial" panose="020B0604020202020204"/>
              </a:rPr>
              <a:t>Intuitive UI based on Telegram native</a:t>
            </a:r>
            <a:endParaRPr lang="en-US" sz="1500" b="0" i="0">
              <a:solidFill>
                <a:srgbClr val="4A4A4A">
                  <a:alpha val="90196"/>
                </a:srgbClr>
              </a:solidFill>
              <a:latin typeface="Arial" panose="020B0604020202020204"/>
            </a:endParaRPr>
          </a:p>
          <a:p>
            <a:pPr>
              <a:spcBef>
                <a:spcPts val="1000"/>
              </a:spcBef>
              <a:spcAft>
                <a:spcPct val="0"/>
              </a:spcAft>
            </a:pPr>
            <a:r>
              <a:rPr lang="en-US" sz="1500" b="0" i="0">
                <a:solidFill>
                  <a:srgbClr val="4A4A4A">
                    <a:alpha val="90196"/>
                  </a:srgbClr>
                </a:solidFill>
                <a:latin typeface="Arial" panose="020B0604020202020204"/>
              </a:rPr>
              <a:t>components for streamlined navigation</a:t>
            </a:r>
            <a:endParaRPr lang="en-US" sz="1500" b="0" i="0">
              <a:solidFill>
                <a:srgbClr val="4A4A4A">
                  <a:alpha val="90196"/>
                </a:srgbClr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6256000" cy="9144000"/>
          </a:xfrm>
          <a:custGeom>
            <a:avLst/>
            <a:gdLst/>
            <a:ahLst/>
            <a:cxnLst/>
            <a:rect l="l" t="t" r="r" b="b"/>
            <a:pathLst>
              <a:path w="16256000" h="9144000">
                <a:moveTo>
                  <a:pt x="0" y="0"/>
                </a:moveTo>
                <a:lnTo>
                  <a:pt x="16256000" y="0"/>
                </a:lnTo>
                <a:lnTo>
                  <a:pt x="16256000" y="9144000"/>
                </a:lnTo>
                <a:lnTo>
                  <a:pt x="0" y="9144000"/>
                </a:lnTo>
                <a:lnTo>
                  <a:pt x="0" y="0"/>
                </a:lnTo>
                <a:close/>
              </a:path>
            </a:pathLst>
          </a:custGeom>
          <a:solidFill>
            <a:srgbClr val="F4F5F7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12446000" y="-1270000"/>
            <a:ext cx="5080000" cy="5080000"/>
          </a:xfrm>
          <a:custGeom>
            <a:avLst/>
            <a:gdLst/>
            <a:ahLst/>
            <a:cxnLst/>
            <a:rect l="l" t="t" r="r" b="b"/>
            <a:pathLst>
              <a:path w="5080000" h="5080000">
                <a:moveTo>
                  <a:pt x="5080000" y="2540000"/>
                </a:moveTo>
                <a:cubicBezTo>
                  <a:pt x="5080000" y="3942803"/>
                  <a:pt x="3942803" y="5080000"/>
                  <a:pt x="2540000" y="5080000"/>
                </a:cubicBezTo>
                <a:cubicBezTo>
                  <a:pt x="1137197" y="5080000"/>
                  <a:pt x="0" y="3942803"/>
                  <a:pt x="0" y="2540000"/>
                </a:cubicBezTo>
                <a:cubicBezTo>
                  <a:pt x="0" y="1137197"/>
                  <a:pt x="1137197" y="0"/>
                  <a:pt x="2540000" y="0"/>
                </a:cubicBezTo>
                <a:cubicBezTo>
                  <a:pt x="3942803" y="0"/>
                  <a:pt x="5080000" y="1137197"/>
                  <a:pt x="5080000" y="2540000"/>
                </a:cubicBezTo>
                <a:close/>
              </a:path>
            </a:pathLst>
          </a:custGeom>
          <a:solidFill>
            <a:srgbClr val="E5D9C5">
              <a:alpha val="20000"/>
            </a:srgbClr>
          </a:solidFill>
          <a:ln>
            <a:noFill/>
          </a:ln>
        </p:spPr>
      </p:sp>
      <p:sp>
        <p:nvSpPr>
          <p:cNvPr id="4" name="Freeform 4"/>
          <p:cNvSpPr/>
          <p:nvPr/>
        </p:nvSpPr>
        <p:spPr>
          <a:xfrm>
            <a:off x="13970000" y="-762000"/>
            <a:ext cx="3048000" cy="3048000"/>
          </a:xfrm>
          <a:custGeom>
            <a:avLst/>
            <a:gdLst/>
            <a:ahLst/>
            <a:cxnLst/>
            <a:rect l="l" t="t" r="r" b="b"/>
            <a:pathLst>
              <a:path w="3048000" h="3048000">
                <a:moveTo>
                  <a:pt x="3048000" y="1524000"/>
                </a:moveTo>
                <a:cubicBezTo>
                  <a:pt x="3048000" y="2365682"/>
                  <a:pt x="2365682" y="3048000"/>
                  <a:pt x="1524000" y="3048000"/>
                </a:cubicBezTo>
                <a:cubicBezTo>
                  <a:pt x="682318" y="3048000"/>
                  <a:pt x="0" y="2365682"/>
                  <a:pt x="0" y="1524000"/>
                </a:cubicBezTo>
                <a:cubicBezTo>
                  <a:pt x="0" y="682318"/>
                  <a:pt x="682318" y="0"/>
                  <a:pt x="1524000" y="0"/>
                </a:cubicBezTo>
                <a:cubicBezTo>
                  <a:pt x="2365682" y="0"/>
                  <a:pt x="3048000" y="682318"/>
                  <a:pt x="3048000" y="1524000"/>
                </a:cubicBezTo>
                <a:close/>
              </a:path>
            </a:pathLst>
          </a:custGeom>
          <a:solidFill>
            <a:srgbClr val="2E5C55">
              <a:alpha val="3137"/>
            </a:srgbClr>
          </a:solidFill>
          <a:ln>
            <a:noFill/>
          </a:ln>
        </p:spPr>
      </p:sp>
      <p:sp>
        <p:nvSpPr>
          <p:cNvPr id="5" name="Freeform 5"/>
          <p:cNvSpPr/>
          <p:nvPr/>
        </p:nvSpPr>
        <p:spPr>
          <a:xfrm>
            <a:off x="1016000" y="1651000"/>
            <a:ext cx="1016000" cy="0"/>
          </a:xfrm>
          <a:custGeom>
            <a:avLst/>
            <a:gdLst/>
            <a:ahLst/>
            <a:cxnLst/>
            <a:rect l="l" t="t" r="r" b="b"/>
            <a:pathLst>
              <a:path w="1016000">
                <a:moveTo>
                  <a:pt x="0" y="0"/>
                </a:moveTo>
                <a:lnTo>
                  <a:pt x="1016000" y="0"/>
                </a:lnTo>
              </a:path>
            </a:pathLst>
          </a:custGeom>
          <a:noFill/>
          <a:ln w="50800">
            <a:solidFill>
              <a:srgbClr val="2E5C55"/>
            </a:solidFill>
          </a:ln>
        </p:spPr>
      </p:sp>
      <p:sp>
        <p:nvSpPr>
          <p:cNvPr id="6" name="Freeform 6"/>
          <p:cNvSpPr/>
          <p:nvPr/>
        </p:nvSpPr>
        <p:spPr>
          <a:xfrm>
            <a:off x="1016000" y="2032000"/>
            <a:ext cx="6858000" cy="2286000"/>
          </a:xfrm>
          <a:custGeom>
            <a:avLst/>
            <a:gdLst/>
            <a:ahLst/>
            <a:cxnLst/>
            <a:rect l="l" t="t" r="r" b="b"/>
            <a:pathLst>
              <a:path w="6858000" h="2286000">
                <a:moveTo>
                  <a:pt x="0" y="152400"/>
                </a:moveTo>
                <a:lnTo>
                  <a:pt x="0" y="2133600"/>
                </a:lnTo>
                <a:cubicBezTo>
                  <a:pt x="0" y="2217768"/>
                  <a:pt x="68232" y="2286000"/>
                  <a:pt x="152400" y="2286000"/>
                </a:cubicBezTo>
                <a:lnTo>
                  <a:pt x="6705600" y="2286000"/>
                </a:lnTo>
                <a:cubicBezTo>
                  <a:pt x="6789768" y="2286000"/>
                  <a:pt x="6858000" y="2217768"/>
                  <a:pt x="6858000" y="2133600"/>
                </a:cubicBezTo>
                <a:lnTo>
                  <a:pt x="6858000" y="152400"/>
                </a:lnTo>
                <a:cubicBezTo>
                  <a:pt x="6858000" y="68232"/>
                  <a:pt x="6789768" y="0"/>
                  <a:pt x="6705600" y="0"/>
                </a:cubicBezTo>
                <a:lnTo>
                  <a:pt x="152400" y="0"/>
                </a:lnTo>
                <a:cubicBezTo>
                  <a:pt x="68232" y="0"/>
                  <a:pt x="0" y="68232"/>
                  <a:pt x="0" y="152400"/>
                </a:cubicBezTo>
                <a:close/>
              </a:path>
            </a:pathLst>
          </a:custGeom>
          <a:solidFill>
            <a:srgbClr val="FFFFFF"/>
          </a:solidFill>
          <a:ln w="12700">
            <a:solidFill>
              <a:srgbClr val="EAECEE"/>
            </a:solidFill>
          </a:ln>
          <a:effectLst>
            <a:outerShdw blurRad="355600" dist="76200" dir="5400000" rotWithShape="0">
              <a:srgbClr val="000000">
                <a:alpha val="3922"/>
              </a:srgbClr>
            </a:outerShdw>
          </a:effectLst>
        </p:spPr>
      </p:sp>
      <p:sp>
        <p:nvSpPr>
          <p:cNvPr id="7" name="Freeform 7"/>
          <p:cNvSpPr/>
          <p:nvPr/>
        </p:nvSpPr>
        <p:spPr>
          <a:xfrm>
            <a:off x="1244600" y="2324100"/>
            <a:ext cx="558800" cy="558800"/>
          </a:xfrm>
          <a:custGeom>
            <a:avLst/>
            <a:gdLst/>
            <a:ahLst/>
            <a:cxnLst/>
            <a:rect l="l" t="t" r="r" b="b"/>
            <a:pathLst>
              <a:path w="558800" h="558800">
                <a:moveTo>
                  <a:pt x="558800" y="279400"/>
                </a:moveTo>
                <a:cubicBezTo>
                  <a:pt x="558800" y="433708"/>
                  <a:pt x="433708" y="558800"/>
                  <a:pt x="279400" y="558800"/>
                </a:cubicBezTo>
                <a:cubicBezTo>
                  <a:pt x="125092" y="558800"/>
                  <a:pt x="0" y="433708"/>
                  <a:pt x="0" y="279400"/>
                </a:cubicBezTo>
                <a:cubicBezTo>
                  <a:pt x="0" y="125092"/>
                  <a:pt x="125092" y="0"/>
                  <a:pt x="279400" y="0"/>
                </a:cubicBezTo>
                <a:cubicBezTo>
                  <a:pt x="433708" y="0"/>
                  <a:pt x="558800" y="125092"/>
                  <a:pt x="558800" y="279400"/>
                </a:cubicBezTo>
                <a:close/>
              </a:path>
            </a:pathLst>
          </a:custGeom>
          <a:solidFill>
            <a:srgbClr val="E5D9C5">
              <a:alpha val="40000"/>
            </a:srgbClr>
          </a:solidFill>
          <a:ln>
            <a:noFill/>
          </a:ln>
        </p:spPr>
      </p:sp>
      <p:sp>
        <p:nvSpPr>
          <p:cNvPr id="8" name="Freeform 8"/>
          <p:cNvSpPr/>
          <p:nvPr/>
        </p:nvSpPr>
        <p:spPr>
          <a:xfrm>
            <a:off x="1384300" y="24511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27000" h="127000">
                <a:moveTo>
                  <a:pt x="127000" y="63500"/>
                </a:moveTo>
                <a:cubicBezTo>
                  <a:pt x="127000" y="98570"/>
                  <a:pt x="98570" y="127000"/>
                  <a:pt x="63500" y="127000"/>
                </a:cubicBezTo>
                <a:cubicBezTo>
                  <a:pt x="28430" y="127000"/>
                  <a:pt x="0" y="98570"/>
                  <a:pt x="0" y="63500"/>
                </a:cubicBezTo>
                <a:cubicBezTo>
                  <a:pt x="0" y="28430"/>
                  <a:pt x="28430" y="0"/>
                  <a:pt x="63500" y="0"/>
                </a:cubicBezTo>
                <a:cubicBezTo>
                  <a:pt x="98570" y="0"/>
                  <a:pt x="127000" y="28430"/>
                  <a:pt x="127000" y="63500"/>
                </a:cubicBezTo>
                <a:close/>
              </a:path>
            </a:pathLst>
          </a:custGeom>
          <a:noFill/>
          <a:ln w="25400">
            <a:solidFill>
              <a:srgbClr val="2E5C55"/>
            </a:solidFill>
          </a:ln>
        </p:spPr>
      </p:sp>
      <p:sp>
        <p:nvSpPr>
          <p:cNvPr id="9" name="Freeform 9"/>
          <p:cNvSpPr/>
          <p:nvPr/>
        </p:nvSpPr>
        <p:spPr>
          <a:xfrm>
            <a:off x="1320800" y="2590800"/>
            <a:ext cx="228600" cy="127000"/>
          </a:xfrm>
          <a:custGeom>
            <a:avLst/>
            <a:gdLst/>
            <a:ahLst/>
            <a:cxnLst/>
            <a:rect l="l" t="t" r="r" b="b"/>
            <a:pathLst>
              <a:path w="228600" h="127000">
                <a:moveTo>
                  <a:pt x="0" y="127000"/>
                </a:moveTo>
                <a:cubicBezTo>
                  <a:pt x="0" y="50800"/>
                  <a:pt x="50800" y="0"/>
                  <a:pt x="127000" y="0"/>
                </a:cubicBezTo>
                <a:cubicBezTo>
                  <a:pt x="165100" y="0"/>
                  <a:pt x="203200" y="19050"/>
                  <a:pt x="228600" y="44450"/>
                </a:cubicBezTo>
              </a:path>
            </a:pathLst>
          </a:custGeom>
          <a:noFill/>
          <a:ln w="25400">
            <a:solidFill>
              <a:srgbClr val="2E5C55"/>
            </a:solidFill>
          </a:ln>
        </p:spPr>
      </p:sp>
      <p:sp>
        <p:nvSpPr>
          <p:cNvPr id="10" name="Freeform 10"/>
          <p:cNvSpPr/>
          <p:nvPr/>
        </p:nvSpPr>
        <p:spPr>
          <a:xfrm>
            <a:off x="1574800" y="2514600"/>
            <a:ext cx="101600" cy="101600"/>
          </a:xfrm>
          <a:custGeom>
            <a:avLst/>
            <a:gdLst/>
            <a:ahLst/>
            <a:cxnLst/>
            <a:rect l="l" t="t" r="r" b="b"/>
            <a:pathLst>
              <a:path w="101600" h="101600">
                <a:moveTo>
                  <a:pt x="101600" y="50800"/>
                </a:moveTo>
                <a:cubicBezTo>
                  <a:pt x="101600" y="78856"/>
                  <a:pt x="78856" y="101600"/>
                  <a:pt x="50800" y="101600"/>
                </a:cubicBezTo>
                <a:cubicBezTo>
                  <a:pt x="22744" y="101600"/>
                  <a:pt x="0" y="78856"/>
                  <a:pt x="0" y="50800"/>
                </a:cubicBezTo>
                <a:cubicBezTo>
                  <a:pt x="0" y="22744"/>
                  <a:pt x="22744" y="0"/>
                  <a:pt x="50800" y="0"/>
                </a:cubicBezTo>
                <a:cubicBezTo>
                  <a:pt x="78856" y="0"/>
                  <a:pt x="101600" y="22744"/>
                  <a:pt x="101600" y="50800"/>
                </a:cubicBezTo>
                <a:close/>
              </a:path>
            </a:pathLst>
          </a:custGeom>
          <a:noFill/>
          <a:ln w="25400">
            <a:solidFill>
              <a:srgbClr val="2E5C55"/>
            </a:solidFill>
          </a:ln>
        </p:spPr>
      </p:sp>
      <p:sp>
        <p:nvSpPr>
          <p:cNvPr id="11" name="Freeform 11"/>
          <p:cNvSpPr/>
          <p:nvPr/>
        </p:nvSpPr>
        <p:spPr>
          <a:xfrm>
            <a:off x="1562100" y="2628900"/>
            <a:ext cx="127000" cy="88900"/>
          </a:xfrm>
          <a:custGeom>
            <a:avLst/>
            <a:gdLst/>
            <a:ahLst/>
            <a:cxnLst/>
            <a:rect l="l" t="t" r="r" b="b"/>
            <a:pathLst>
              <a:path w="127000" h="88900">
                <a:moveTo>
                  <a:pt x="0" y="88900"/>
                </a:moveTo>
                <a:cubicBezTo>
                  <a:pt x="0" y="38100"/>
                  <a:pt x="25400" y="0"/>
                  <a:pt x="63500" y="0"/>
                </a:cubicBezTo>
                <a:cubicBezTo>
                  <a:pt x="101600" y="0"/>
                  <a:pt x="127000" y="25400"/>
                  <a:pt x="127000" y="88900"/>
                </a:cubicBezTo>
              </a:path>
            </a:pathLst>
          </a:custGeom>
          <a:noFill/>
          <a:ln w="25400">
            <a:solidFill>
              <a:srgbClr val="2E5C55"/>
            </a:solidFill>
          </a:ln>
        </p:spPr>
      </p:sp>
      <p:sp>
        <p:nvSpPr>
          <p:cNvPr id="12" name="Freeform 12"/>
          <p:cNvSpPr/>
          <p:nvPr/>
        </p:nvSpPr>
        <p:spPr>
          <a:xfrm>
            <a:off x="1397000" y="3048000"/>
            <a:ext cx="965200" cy="330200"/>
          </a:xfrm>
          <a:custGeom>
            <a:avLst/>
            <a:gdLst/>
            <a:ahLst/>
            <a:cxnLst/>
            <a:rect l="l" t="t" r="r" b="b"/>
            <a:pathLst>
              <a:path w="965200" h="330200">
                <a:moveTo>
                  <a:pt x="0" y="76200"/>
                </a:moveTo>
                <a:lnTo>
                  <a:pt x="0" y="254000"/>
                </a:lnTo>
                <a:cubicBezTo>
                  <a:pt x="0" y="296084"/>
                  <a:pt x="34116" y="330200"/>
                  <a:pt x="76200" y="330200"/>
                </a:cubicBezTo>
                <a:lnTo>
                  <a:pt x="889000" y="330200"/>
                </a:lnTo>
                <a:cubicBezTo>
                  <a:pt x="931084" y="330200"/>
                  <a:pt x="965200" y="296084"/>
                  <a:pt x="965200" y="254000"/>
                </a:cubicBezTo>
                <a:lnTo>
                  <a:pt x="965200" y="76200"/>
                </a:lnTo>
                <a:cubicBezTo>
                  <a:pt x="965200" y="34116"/>
                  <a:pt x="931084" y="0"/>
                  <a:pt x="889000" y="0"/>
                </a:cubicBezTo>
                <a:lnTo>
                  <a:pt x="76200" y="0"/>
                </a:lnTo>
                <a:cubicBezTo>
                  <a:pt x="34116" y="0"/>
                  <a:pt x="0" y="34116"/>
                  <a:pt x="0" y="76200"/>
                </a:cubicBezTo>
                <a:close/>
              </a:path>
            </a:pathLst>
          </a:custGeom>
          <a:solidFill>
            <a:srgbClr val="EEF2F5"/>
          </a:solidFill>
          <a:ln>
            <a:noFill/>
          </a:ln>
        </p:spPr>
      </p:sp>
      <p:sp>
        <p:nvSpPr>
          <p:cNvPr id="13" name="Freeform 13"/>
          <p:cNvSpPr/>
          <p:nvPr/>
        </p:nvSpPr>
        <p:spPr>
          <a:xfrm>
            <a:off x="2489200" y="3048000"/>
            <a:ext cx="889000" cy="330200"/>
          </a:xfrm>
          <a:custGeom>
            <a:avLst/>
            <a:gdLst/>
            <a:ahLst/>
            <a:cxnLst/>
            <a:rect l="l" t="t" r="r" b="b"/>
            <a:pathLst>
              <a:path w="889000" h="330200">
                <a:moveTo>
                  <a:pt x="0" y="76200"/>
                </a:moveTo>
                <a:lnTo>
                  <a:pt x="0" y="254000"/>
                </a:lnTo>
                <a:cubicBezTo>
                  <a:pt x="0" y="296084"/>
                  <a:pt x="34116" y="330200"/>
                  <a:pt x="76200" y="330200"/>
                </a:cubicBezTo>
                <a:lnTo>
                  <a:pt x="812800" y="330200"/>
                </a:lnTo>
                <a:cubicBezTo>
                  <a:pt x="854884" y="330200"/>
                  <a:pt x="889000" y="296084"/>
                  <a:pt x="889000" y="254000"/>
                </a:cubicBezTo>
                <a:lnTo>
                  <a:pt x="889000" y="76200"/>
                </a:lnTo>
                <a:cubicBezTo>
                  <a:pt x="889000" y="34116"/>
                  <a:pt x="854884" y="0"/>
                  <a:pt x="812800" y="0"/>
                </a:cubicBezTo>
                <a:lnTo>
                  <a:pt x="76200" y="0"/>
                </a:lnTo>
                <a:cubicBezTo>
                  <a:pt x="34116" y="0"/>
                  <a:pt x="0" y="34116"/>
                  <a:pt x="0" y="76200"/>
                </a:cubicBezTo>
                <a:close/>
              </a:path>
            </a:pathLst>
          </a:custGeom>
          <a:solidFill>
            <a:srgbClr val="EEF2F5"/>
          </a:solidFill>
          <a:ln>
            <a:noFill/>
          </a:ln>
        </p:spPr>
      </p:sp>
      <p:sp>
        <p:nvSpPr>
          <p:cNvPr id="14" name="Freeform 14"/>
          <p:cNvSpPr/>
          <p:nvPr/>
        </p:nvSpPr>
        <p:spPr>
          <a:xfrm>
            <a:off x="8382000" y="2032000"/>
            <a:ext cx="6858000" cy="2286000"/>
          </a:xfrm>
          <a:custGeom>
            <a:avLst/>
            <a:gdLst/>
            <a:ahLst/>
            <a:cxnLst/>
            <a:rect l="l" t="t" r="r" b="b"/>
            <a:pathLst>
              <a:path w="6858000" h="2286000">
                <a:moveTo>
                  <a:pt x="0" y="152400"/>
                </a:moveTo>
                <a:lnTo>
                  <a:pt x="0" y="2133600"/>
                </a:lnTo>
                <a:cubicBezTo>
                  <a:pt x="0" y="2217768"/>
                  <a:pt x="68232" y="2286000"/>
                  <a:pt x="152400" y="2286000"/>
                </a:cubicBezTo>
                <a:lnTo>
                  <a:pt x="6705600" y="2286000"/>
                </a:lnTo>
                <a:cubicBezTo>
                  <a:pt x="6789768" y="2286000"/>
                  <a:pt x="6858000" y="2217768"/>
                  <a:pt x="6858000" y="2133600"/>
                </a:cubicBezTo>
                <a:lnTo>
                  <a:pt x="6858000" y="152400"/>
                </a:lnTo>
                <a:cubicBezTo>
                  <a:pt x="6858000" y="68232"/>
                  <a:pt x="6789768" y="0"/>
                  <a:pt x="6705600" y="0"/>
                </a:cubicBezTo>
                <a:lnTo>
                  <a:pt x="152400" y="0"/>
                </a:lnTo>
                <a:cubicBezTo>
                  <a:pt x="68232" y="0"/>
                  <a:pt x="0" y="68232"/>
                  <a:pt x="0" y="152400"/>
                </a:cubicBezTo>
                <a:close/>
              </a:path>
            </a:pathLst>
          </a:custGeom>
          <a:solidFill>
            <a:srgbClr val="FFFFFF"/>
          </a:solidFill>
          <a:ln w="12700">
            <a:solidFill>
              <a:srgbClr val="EAECEE"/>
            </a:solidFill>
          </a:ln>
          <a:effectLst>
            <a:outerShdw blurRad="355600" dist="76200" dir="5400000" rotWithShape="0">
              <a:srgbClr val="000000">
                <a:alpha val="3922"/>
              </a:srgbClr>
            </a:outerShdw>
          </a:effectLst>
        </p:spPr>
      </p:sp>
      <p:sp>
        <p:nvSpPr>
          <p:cNvPr id="15" name="Freeform 15"/>
          <p:cNvSpPr/>
          <p:nvPr/>
        </p:nvSpPr>
        <p:spPr>
          <a:xfrm>
            <a:off x="8610600" y="2324100"/>
            <a:ext cx="558800" cy="558800"/>
          </a:xfrm>
          <a:custGeom>
            <a:avLst/>
            <a:gdLst/>
            <a:ahLst/>
            <a:cxnLst/>
            <a:rect l="l" t="t" r="r" b="b"/>
            <a:pathLst>
              <a:path w="558800" h="558800">
                <a:moveTo>
                  <a:pt x="558800" y="279400"/>
                </a:moveTo>
                <a:cubicBezTo>
                  <a:pt x="558800" y="433708"/>
                  <a:pt x="433708" y="558800"/>
                  <a:pt x="279400" y="558800"/>
                </a:cubicBezTo>
                <a:cubicBezTo>
                  <a:pt x="125092" y="558800"/>
                  <a:pt x="0" y="433708"/>
                  <a:pt x="0" y="279400"/>
                </a:cubicBezTo>
                <a:cubicBezTo>
                  <a:pt x="0" y="125092"/>
                  <a:pt x="125092" y="0"/>
                  <a:pt x="279400" y="0"/>
                </a:cubicBezTo>
                <a:cubicBezTo>
                  <a:pt x="433708" y="0"/>
                  <a:pt x="558800" y="125092"/>
                  <a:pt x="558800" y="279400"/>
                </a:cubicBezTo>
                <a:close/>
              </a:path>
            </a:pathLst>
          </a:custGeom>
          <a:solidFill>
            <a:srgbClr val="E5D9C5">
              <a:alpha val="40000"/>
            </a:srgbClr>
          </a:solidFill>
          <a:ln>
            <a:noFill/>
          </a:ln>
        </p:spPr>
      </p:sp>
      <p:sp>
        <p:nvSpPr>
          <p:cNvPr id="16" name="Freeform 16"/>
          <p:cNvSpPr/>
          <p:nvPr/>
        </p:nvSpPr>
        <p:spPr>
          <a:xfrm>
            <a:off x="8712200" y="2476500"/>
            <a:ext cx="355600" cy="254000"/>
          </a:xfrm>
          <a:custGeom>
            <a:avLst/>
            <a:gdLst/>
            <a:ahLst/>
            <a:cxnLst/>
            <a:rect l="l" t="t" r="r" b="b"/>
            <a:pathLst>
              <a:path w="355600" h="254000">
                <a:moveTo>
                  <a:pt x="0" y="50800"/>
                </a:moveTo>
                <a:lnTo>
                  <a:pt x="0" y="203200"/>
                </a:lnTo>
                <a:cubicBezTo>
                  <a:pt x="0" y="231256"/>
                  <a:pt x="22744" y="254000"/>
                  <a:pt x="50800" y="254000"/>
                </a:cubicBezTo>
                <a:lnTo>
                  <a:pt x="304800" y="254000"/>
                </a:lnTo>
                <a:cubicBezTo>
                  <a:pt x="332856" y="254000"/>
                  <a:pt x="355600" y="231256"/>
                  <a:pt x="355600" y="203200"/>
                </a:cubicBezTo>
                <a:lnTo>
                  <a:pt x="355600" y="50800"/>
                </a:lnTo>
                <a:cubicBezTo>
                  <a:pt x="355600" y="22744"/>
                  <a:pt x="332856" y="0"/>
                  <a:pt x="304800" y="0"/>
                </a:cubicBezTo>
                <a:lnTo>
                  <a:pt x="50800" y="0"/>
                </a:lnTo>
                <a:cubicBezTo>
                  <a:pt x="22744" y="0"/>
                  <a:pt x="0" y="22744"/>
                  <a:pt x="0" y="50800"/>
                </a:cubicBezTo>
                <a:close/>
              </a:path>
            </a:pathLst>
          </a:custGeom>
          <a:noFill/>
          <a:ln w="25400">
            <a:solidFill>
              <a:srgbClr val="2E5C55"/>
            </a:solidFill>
          </a:ln>
        </p:spPr>
      </p:sp>
      <p:sp>
        <p:nvSpPr>
          <p:cNvPr id="17" name="Freeform 17"/>
          <p:cNvSpPr/>
          <p:nvPr/>
        </p:nvSpPr>
        <p:spPr>
          <a:xfrm>
            <a:off x="8763000" y="2552700"/>
            <a:ext cx="254000" cy="101600"/>
          </a:xfrm>
          <a:custGeom>
            <a:avLst/>
            <a:gdLst/>
            <a:ahLst/>
            <a:cxnLst/>
            <a:rect l="l" t="t" r="r" b="b"/>
            <a:pathLst>
              <a:path w="254000" h="101600">
                <a:moveTo>
                  <a:pt x="0" y="50800"/>
                </a:moveTo>
                <a:lnTo>
                  <a:pt x="63500" y="50800"/>
                </a:lnTo>
                <a:lnTo>
                  <a:pt x="101600" y="0"/>
                </a:lnTo>
                <a:lnTo>
                  <a:pt x="152400" y="101600"/>
                </a:lnTo>
                <a:lnTo>
                  <a:pt x="190500" y="50800"/>
                </a:lnTo>
                <a:lnTo>
                  <a:pt x="254000" y="50800"/>
                </a:lnTo>
              </a:path>
            </a:pathLst>
          </a:custGeom>
          <a:noFill/>
          <a:ln w="25400">
            <a:solidFill>
              <a:srgbClr val="2E5C55"/>
            </a:solidFill>
          </a:ln>
        </p:spPr>
      </p:sp>
      <p:sp>
        <p:nvSpPr>
          <p:cNvPr id="18" name="Freeform 18"/>
          <p:cNvSpPr/>
          <p:nvPr/>
        </p:nvSpPr>
        <p:spPr>
          <a:xfrm>
            <a:off x="8763000" y="3048000"/>
            <a:ext cx="965200" cy="330200"/>
          </a:xfrm>
          <a:custGeom>
            <a:avLst/>
            <a:gdLst/>
            <a:ahLst/>
            <a:cxnLst/>
            <a:rect l="l" t="t" r="r" b="b"/>
            <a:pathLst>
              <a:path w="965200" h="330200">
                <a:moveTo>
                  <a:pt x="0" y="76200"/>
                </a:moveTo>
                <a:lnTo>
                  <a:pt x="0" y="254000"/>
                </a:lnTo>
                <a:cubicBezTo>
                  <a:pt x="0" y="296084"/>
                  <a:pt x="34116" y="330200"/>
                  <a:pt x="76200" y="330200"/>
                </a:cubicBezTo>
                <a:lnTo>
                  <a:pt x="889000" y="330200"/>
                </a:lnTo>
                <a:cubicBezTo>
                  <a:pt x="931084" y="330200"/>
                  <a:pt x="965200" y="296084"/>
                  <a:pt x="965200" y="254000"/>
                </a:cubicBezTo>
                <a:lnTo>
                  <a:pt x="965200" y="76200"/>
                </a:lnTo>
                <a:cubicBezTo>
                  <a:pt x="965200" y="34116"/>
                  <a:pt x="931084" y="0"/>
                  <a:pt x="889000" y="0"/>
                </a:cubicBezTo>
                <a:lnTo>
                  <a:pt x="76200" y="0"/>
                </a:lnTo>
                <a:cubicBezTo>
                  <a:pt x="34116" y="0"/>
                  <a:pt x="0" y="34116"/>
                  <a:pt x="0" y="76200"/>
                </a:cubicBezTo>
                <a:close/>
              </a:path>
            </a:pathLst>
          </a:custGeom>
          <a:solidFill>
            <a:srgbClr val="EEF2F5"/>
          </a:solidFill>
          <a:ln>
            <a:noFill/>
          </a:ln>
        </p:spPr>
      </p:sp>
      <p:sp>
        <p:nvSpPr>
          <p:cNvPr id="19" name="Freeform 19"/>
          <p:cNvSpPr/>
          <p:nvPr/>
        </p:nvSpPr>
        <p:spPr>
          <a:xfrm>
            <a:off x="9855200" y="3048000"/>
            <a:ext cx="889000" cy="330200"/>
          </a:xfrm>
          <a:custGeom>
            <a:avLst/>
            <a:gdLst/>
            <a:ahLst/>
            <a:cxnLst/>
            <a:rect l="l" t="t" r="r" b="b"/>
            <a:pathLst>
              <a:path w="889000" h="330200">
                <a:moveTo>
                  <a:pt x="0" y="76200"/>
                </a:moveTo>
                <a:lnTo>
                  <a:pt x="0" y="254000"/>
                </a:lnTo>
                <a:cubicBezTo>
                  <a:pt x="0" y="296084"/>
                  <a:pt x="34116" y="330200"/>
                  <a:pt x="76200" y="330200"/>
                </a:cubicBezTo>
                <a:lnTo>
                  <a:pt x="812800" y="330200"/>
                </a:lnTo>
                <a:cubicBezTo>
                  <a:pt x="854884" y="330200"/>
                  <a:pt x="889000" y="296084"/>
                  <a:pt x="889000" y="254000"/>
                </a:cubicBezTo>
                <a:lnTo>
                  <a:pt x="889000" y="76200"/>
                </a:lnTo>
                <a:cubicBezTo>
                  <a:pt x="889000" y="34116"/>
                  <a:pt x="854884" y="0"/>
                  <a:pt x="812800" y="0"/>
                </a:cubicBezTo>
                <a:lnTo>
                  <a:pt x="76200" y="0"/>
                </a:lnTo>
                <a:cubicBezTo>
                  <a:pt x="34116" y="0"/>
                  <a:pt x="0" y="34116"/>
                  <a:pt x="0" y="76200"/>
                </a:cubicBezTo>
                <a:close/>
              </a:path>
            </a:pathLst>
          </a:custGeom>
          <a:solidFill>
            <a:srgbClr val="EEF2F5"/>
          </a:solidFill>
          <a:ln>
            <a:noFill/>
          </a:ln>
        </p:spPr>
      </p:sp>
      <p:sp>
        <p:nvSpPr>
          <p:cNvPr id="20" name="Freeform 20"/>
          <p:cNvSpPr/>
          <p:nvPr/>
        </p:nvSpPr>
        <p:spPr>
          <a:xfrm>
            <a:off x="1016000" y="4762500"/>
            <a:ext cx="14224000" cy="3810000"/>
          </a:xfrm>
          <a:custGeom>
            <a:avLst/>
            <a:gdLst/>
            <a:ahLst/>
            <a:cxnLst/>
            <a:rect l="l" t="t" r="r" b="b"/>
            <a:pathLst>
              <a:path w="14224000" h="3810000">
                <a:moveTo>
                  <a:pt x="0" y="152400"/>
                </a:moveTo>
                <a:lnTo>
                  <a:pt x="0" y="3657600"/>
                </a:lnTo>
                <a:cubicBezTo>
                  <a:pt x="0" y="3741768"/>
                  <a:pt x="68232" y="3810000"/>
                  <a:pt x="152400" y="3810000"/>
                </a:cubicBezTo>
                <a:lnTo>
                  <a:pt x="14071600" y="3810000"/>
                </a:lnTo>
                <a:cubicBezTo>
                  <a:pt x="14155768" y="3810000"/>
                  <a:pt x="14224000" y="3741768"/>
                  <a:pt x="14224000" y="3657600"/>
                </a:cubicBezTo>
                <a:lnTo>
                  <a:pt x="14224000" y="152400"/>
                </a:lnTo>
                <a:cubicBezTo>
                  <a:pt x="14224000" y="68232"/>
                  <a:pt x="14155768" y="0"/>
                  <a:pt x="14071600" y="0"/>
                </a:cubicBezTo>
                <a:lnTo>
                  <a:pt x="152400" y="0"/>
                </a:lnTo>
                <a:cubicBezTo>
                  <a:pt x="68232" y="0"/>
                  <a:pt x="0" y="68232"/>
                  <a:pt x="0" y="152400"/>
                </a:cubicBezTo>
                <a:close/>
              </a:path>
            </a:pathLst>
          </a:custGeom>
          <a:solidFill>
            <a:srgbClr val="FFFFFF"/>
          </a:solidFill>
          <a:ln w="12700">
            <a:solidFill>
              <a:srgbClr val="EAECEE"/>
            </a:solidFill>
          </a:ln>
          <a:effectLst>
            <a:outerShdw blurRad="355600" dist="76200" dir="5400000" rotWithShape="0">
              <a:srgbClr val="000000">
                <a:alpha val="3922"/>
              </a:srgbClr>
            </a:outerShdw>
          </a:effectLst>
        </p:spPr>
      </p:sp>
      <p:pic>
        <p:nvPicPr>
          <p:cNvPr id="21" name="Picture 2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16000" y="4749800"/>
            <a:ext cx="14224000" cy="3835400"/>
          </a:xfrm>
          <a:prstGeom prst="rect">
            <a:avLst/>
          </a:prstGeom>
        </p:spPr>
      </p:pic>
      <p:sp>
        <p:nvSpPr>
          <p:cNvPr id="22" name="TextBox 22"/>
          <p:cNvSpPr txBox="1"/>
          <p:nvPr/>
        </p:nvSpPr>
        <p:spPr>
          <a:xfrm>
            <a:off x="1016000" y="533400"/>
            <a:ext cx="2719070" cy="24257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1400" b="0" i="0">
                <a:solidFill>
                  <a:srgbClr val="88929A"/>
                </a:solidFill>
                <a:latin typeface="SansSerif"/>
              </a:rPr>
              <a:t>CORE FUNCTIONS / PLATFORM</a:t>
            </a:r>
            <a:endParaRPr lang="en-US" sz="1400" b="0" i="0">
              <a:solidFill>
                <a:srgbClr val="88929A"/>
              </a:solidFill>
              <a:latin typeface="SansSerif"/>
            </a:endParaRPr>
          </a:p>
        </p:txBody>
      </p:sp>
      <p:sp>
        <p:nvSpPr>
          <p:cNvPr id="23" name="TextBox 23"/>
          <p:cNvSpPr txBox="1"/>
          <p:nvPr/>
        </p:nvSpPr>
        <p:spPr>
          <a:xfrm>
            <a:off x="1016000" y="850900"/>
            <a:ext cx="10795000" cy="68580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4000" b="1" i="0">
                <a:solidFill>
                  <a:srgbClr val="1D332F"/>
                </a:solidFill>
                <a:latin typeface="SansSerif"/>
              </a:rPr>
              <a:t>Study Matching &amp; System Monitoring</a:t>
            </a:r>
            <a:endParaRPr lang="en-US" sz="4000" b="1" i="0">
              <a:solidFill>
                <a:srgbClr val="1D332F"/>
              </a:solidFill>
              <a:latin typeface="SansSerif"/>
            </a:endParaRPr>
          </a:p>
        </p:txBody>
      </p:sp>
      <p:sp>
        <p:nvSpPr>
          <p:cNvPr id="24" name="TextBox 24"/>
          <p:cNvSpPr txBox="1"/>
          <p:nvPr/>
        </p:nvSpPr>
        <p:spPr>
          <a:xfrm>
            <a:off x="1968500" y="2438400"/>
            <a:ext cx="3089910" cy="38481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2200" b="1" i="0">
                <a:solidFill>
                  <a:srgbClr val="1D332F"/>
                </a:solidFill>
                <a:latin typeface="SansSerif"/>
              </a:rPr>
              <a:t>Precision Matching</a:t>
            </a:r>
            <a:endParaRPr lang="en-US" sz="2200" b="1" i="0">
              <a:solidFill>
                <a:srgbClr val="1D332F"/>
              </a:solidFill>
              <a:latin typeface="SansSerif"/>
            </a:endParaRPr>
          </a:p>
        </p:txBody>
      </p:sp>
      <p:sp>
        <p:nvSpPr>
          <p:cNvPr id="25" name="TextBox 25"/>
          <p:cNvSpPr txBox="1"/>
          <p:nvPr/>
        </p:nvSpPr>
        <p:spPr>
          <a:xfrm>
            <a:off x="1524000" y="3111500"/>
            <a:ext cx="737870" cy="24257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1400" b="1" i="0">
                <a:solidFill>
                  <a:srgbClr val="3B5B78"/>
                </a:solidFill>
                <a:latin typeface="SansSerif"/>
              </a:rPr>
              <a:t>/profile</a:t>
            </a:r>
            <a:endParaRPr lang="en-US" sz="1400" b="1" i="0">
              <a:solidFill>
                <a:srgbClr val="3B5B78"/>
              </a:solidFill>
              <a:latin typeface="SansSerif"/>
            </a:endParaRPr>
          </a:p>
        </p:txBody>
      </p:sp>
      <p:sp>
        <p:nvSpPr>
          <p:cNvPr id="26" name="TextBox 26"/>
          <p:cNvSpPr txBox="1"/>
          <p:nvPr/>
        </p:nvSpPr>
        <p:spPr>
          <a:xfrm>
            <a:off x="2597150" y="3111500"/>
            <a:ext cx="699770" cy="24257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1400" b="1" i="0">
                <a:solidFill>
                  <a:srgbClr val="3B5B78"/>
                </a:solidFill>
                <a:latin typeface="SansSerif"/>
              </a:rPr>
              <a:t>/match</a:t>
            </a:r>
            <a:endParaRPr lang="en-US" sz="1400" b="1" i="0">
              <a:solidFill>
                <a:srgbClr val="3B5B78"/>
              </a:solidFill>
              <a:latin typeface="SansSerif"/>
            </a:endParaRPr>
          </a:p>
        </p:txBody>
      </p:sp>
      <p:sp>
        <p:nvSpPr>
          <p:cNvPr id="27" name="TextBox 27"/>
          <p:cNvSpPr txBox="1"/>
          <p:nvPr/>
        </p:nvSpPr>
        <p:spPr>
          <a:xfrm>
            <a:off x="1397000" y="3556000"/>
            <a:ext cx="5440680" cy="57658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pPr>
              <a:spcAft>
                <a:spcPct val="0"/>
              </a:spcAft>
            </a:pPr>
            <a:r>
              <a:rPr lang="en-US" sz="1600" b="0" i="0">
                <a:solidFill>
                  <a:srgbClr val="5D6A68"/>
                </a:solidFill>
                <a:latin typeface="SansSerif"/>
              </a:rPr>
              <a:t>Users configure interests and courses via commands,</a:t>
            </a:r>
            <a:endParaRPr lang="en-US" sz="1600" b="0" i="0">
              <a:solidFill>
                <a:srgbClr val="5D6A68"/>
              </a:solidFill>
              <a:latin typeface="SansSerif"/>
            </a:endParaRPr>
          </a:p>
          <a:p>
            <a:pPr>
              <a:spcBef>
                <a:spcPts val="500"/>
              </a:spcBef>
              <a:spcAft>
                <a:spcPct val="0"/>
              </a:spcAft>
            </a:pPr>
            <a:r>
              <a:rPr lang="en-US" sz="1600" b="0" i="0">
                <a:solidFill>
                  <a:srgbClr val="5D6A68"/>
                </a:solidFill>
                <a:latin typeface="SansSerif"/>
              </a:rPr>
              <a:t>enabling the system to find compatible study partners.</a:t>
            </a:r>
            <a:endParaRPr lang="en-US" sz="1600" b="0" i="0">
              <a:solidFill>
                <a:srgbClr val="5D6A68"/>
              </a:solidFill>
              <a:latin typeface="SansSerif"/>
            </a:endParaRPr>
          </a:p>
        </p:txBody>
      </p:sp>
      <p:sp>
        <p:nvSpPr>
          <p:cNvPr id="28" name="TextBox 28"/>
          <p:cNvSpPr txBox="1"/>
          <p:nvPr/>
        </p:nvSpPr>
        <p:spPr>
          <a:xfrm>
            <a:off x="9334500" y="2438400"/>
            <a:ext cx="4004310" cy="38481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2200" b="1" i="0">
                <a:solidFill>
                  <a:srgbClr val="1D332F"/>
                </a:solidFill>
                <a:latin typeface="SansSerif"/>
              </a:rPr>
              <a:t>Operations &amp; Monitoring</a:t>
            </a:r>
            <a:endParaRPr lang="en-US" sz="2200" b="1" i="0">
              <a:solidFill>
                <a:srgbClr val="1D332F"/>
              </a:solidFill>
              <a:latin typeface="SansSerif"/>
            </a:endParaRPr>
          </a:p>
        </p:txBody>
      </p:sp>
      <p:sp>
        <p:nvSpPr>
          <p:cNvPr id="29" name="TextBox 29"/>
          <p:cNvSpPr txBox="1"/>
          <p:nvPr/>
        </p:nvSpPr>
        <p:spPr>
          <a:xfrm>
            <a:off x="8902700" y="3111500"/>
            <a:ext cx="712470" cy="24257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1400" b="1" i="0">
                <a:solidFill>
                  <a:srgbClr val="3B5B78"/>
                </a:solidFill>
                <a:latin typeface="SansSerif"/>
              </a:rPr>
              <a:t>/health</a:t>
            </a:r>
            <a:endParaRPr lang="en-US" sz="1400" b="1" i="0">
              <a:solidFill>
                <a:srgbClr val="3B5B78"/>
              </a:solidFill>
              <a:latin typeface="SansSerif"/>
            </a:endParaRPr>
          </a:p>
        </p:txBody>
      </p:sp>
      <p:sp>
        <p:nvSpPr>
          <p:cNvPr id="30" name="TextBox 30"/>
          <p:cNvSpPr txBox="1"/>
          <p:nvPr/>
        </p:nvSpPr>
        <p:spPr>
          <a:xfrm>
            <a:off x="10020300" y="3111500"/>
            <a:ext cx="585470" cy="24257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1400" b="1" i="0">
                <a:solidFill>
                  <a:srgbClr val="3B5B78"/>
                </a:solidFill>
                <a:latin typeface="SansSerif"/>
              </a:rPr>
              <a:t>/stats</a:t>
            </a:r>
            <a:endParaRPr lang="en-US" sz="1400" b="1" i="0">
              <a:solidFill>
                <a:srgbClr val="3B5B78"/>
              </a:solidFill>
              <a:latin typeface="SansSerif"/>
            </a:endParaRPr>
          </a:p>
        </p:txBody>
      </p:sp>
      <p:sp>
        <p:nvSpPr>
          <p:cNvPr id="31" name="TextBox 31"/>
          <p:cNvSpPr txBox="1"/>
          <p:nvPr/>
        </p:nvSpPr>
        <p:spPr>
          <a:xfrm>
            <a:off x="8763000" y="3556000"/>
            <a:ext cx="5529580" cy="57658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pPr>
              <a:spcAft>
                <a:spcPct val="0"/>
              </a:spcAft>
            </a:pPr>
            <a:r>
              <a:rPr lang="en-US" sz="1600" b="0" i="0">
                <a:solidFill>
                  <a:srgbClr val="5D6A68"/>
                </a:solidFill>
                <a:latin typeface="SansSerif"/>
              </a:rPr>
              <a:t>Real-time health checks for Redis and LLM connections,</a:t>
            </a:r>
            <a:endParaRPr lang="en-US" sz="1600" b="0" i="0">
              <a:solidFill>
                <a:srgbClr val="5D6A68"/>
              </a:solidFill>
              <a:latin typeface="SansSerif"/>
            </a:endParaRPr>
          </a:p>
          <a:p>
            <a:pPr>
              <a:spcBef>
                <a:spcPts val="500"/>
              </a:spcBef>
              <a:spcAft>
                <a:spcPct val="0"/>
              </a:spcAft>
            </a:pPr>
            <a:r>
              <a:rPr lang="en-US" sz="1600" b="0" i="0">
                <a:solidFill>
                  <a:srgbClr val="5D6A68"/>
                </a:solidFill>
                <a:latin typeface="SansSerif"/>
              </a:rPr>
              <a:t>tracking stats and latency to ensure high availability.</a:t>
            </a:r>
            <a:endParaRPr lang="en-US" sz="1600" b="0" i="0">
              <a:solidFill>
                <a:srgbClr val="5D6A68"/>
              </a:solidFill>
              <a:latin typeface="SansSerif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6256000" cy="9144000"/>
          </a:xfrm>
          <a:custGeom>
            <a:avLst/>
            <a:gdLst/>
            <a:ahLst/>
            <a:cxnLst/>
            <a:rect l="l" t="t" r="r" b="b"/>
            <a:pathLst>
              <a:path w="16256000" h="9144000">
                <a:moveTo>
                  <a:pt x="0" y="0"/>
                </a:moveTo>
                <a:lnTo>
                  <a:pt x="16256000" y="0"/>
                </a:lnTo>
                <a:lnTo>
                  <a:pt x="16256000" y="9144000"/>
                </a:lnTo>
                <a:lnTo>
                  <a:pt x="0" y="9144000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rgbClr val="F4F5F7"/>
              </a:gs>
              <a:gs pos="100000">
                <a:srgbClr val="EAECEF"/>
              </a:gs>
            </a:gsLst>
            <a:lin ang="2700000" scaled="1"/>
          </a:gra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10160000" y="-1905000"/>
            <a:ext cx="7620000" cy="7620000"/>
          </a:xfrm>
          <a:custGeom>
            <a:avLst/>
            <a:gdLst/>
            <a:ahLst/>
            <a:cxnLst/>
            <a:rect l="l" t="t" r="r" b="b"/>
            <a:pathLst>
              <a:path w="7620000" h="7620000">
                <a:moveTo>
                  <a:pt x="7620000" y="3810000"/>
                </a:moveTo>
                <a:cubicBezTo>
                  <a:pt x="7620000" y="5914205"/>
                  <a:pt x="5914205" y="7620000"/>
                  <a:pt x="3810000" y="7620000"/>
                </a:cubicBezTo>
                <a:cubicBezTo>
                  <a:pt x="1705795" y="7620000"/>
                  <a:pt x="0" y="5914205"/>
                  <a:pt x="0" y="3810000"/>
                </a:cubicBezTo>
                <a:cubicBezTo>
                  <a:pt x="0" y="1705795"/>
                  <a:pt x="1705795" y="0"/>
                  <a:pt x="3810000" y="0"/>
                </a:cubicBezTo>
                <a:cubicBezTo>
                  <a:pt x="5914205" y="0"/>
                  <a:pt x="7620000" y="1705795"/>
                  <a:pt x="7620000" y="3810000"/>
                </a:cubicBezTo>
                <a:close/>
              </a:path>
            </a:pathLst>
          </a:custGeom>
          <a:solidFill>
            <a:srgbClr val="E5D9C5">
              <a:alpha val="12157"/>
            </a:srgbClr>
          </a:solidFill>
          <a:ln>
            <a:noFill/>
          </a:ln>
        </p:spPr>
      </p:sp>
      <p:sp>
        <p:nvSpPr>
          <p:cNvPr id="4" name="Freeform 4"/>
          <p:cNvSpPr/>
          <p:nvPr/>
        </p:nvSpPr>
        <p:spPr>
          <a:xfrm>
            <a:off x="13169631" y="6184631"/>
            <a:ext cx="1854738" cy="1854738"/>
          </a:xfrm>
          <a:custGeom>
            <a:avLst/>
            <a:gdLst/>
            <a:ahLst/>
            <a:cxnLst/>
            <a:rect l="l" t="t" r="r" b="b"/>
            <a:pathLst>
              <a:path w="1854738" h="1854738">
                <a:moveTo>
                  <a:pt x="375406" y="43182"/>
                </a:moveTo>
                <a:lnTo>
                  <a:pt x="7261" y="1417115"/>
                </a:lnTo>
                <a:cubicBezTo>
                  <a:pt x="0" y="1444215"/>
                  <a:pt x="16082" y="1472071"/>
                  <a:pt x="43182" y="1479332"/>
                </a:cubicBezTo>
                <a:lnTo>
                  <a:pt x="1417115" y="1847477"/>
                </a:lnTo>
                <a:cubicBezTo>
                  <a:pt x="1444215" y="1854738"/>
                  <a:pt x="1472071" y="1838656"/>
                  <a:pt x="1479332" y="1811556"/>
                </a:cubicBezTo>
                <a:lnTo>
                  <a:pt x="1847477" y="437623"/>
                </a:lnTo>
                <a:cubicBezTo>
                  <a:pt x="1854738" y="410523"/>
                  <a:pt x="1838656" y="382667"/>
                  <a:pt x="1811556" y="375406"/>
                </a:cubicBezTo>
                <a:lnTo>
                  <a:pt x="437623" y="7261"/>
                </a:lnTo>
                <a:cubicBezTo>
                  <a:pt x="410523" y="0"/>
                  <a:pt x="382667" y="16082"/>
                  <a:pt x="375406" y="43182"/>
                </a:cubicBezTo>
                <a:close/>
              </a:path>
            </a:pathLst>
          </a:custGeom>
          <a:solidFill>
            <a:srgbClr val="2E5C55">
              <a:alpha val="3137"/>
            </a:srgbClr>
          </a:solidFill>
          <a:ln>
            <a:noFill/>
          </a:ln>
        </p:spPr>
      </p:sp>
      <p:sp>
        <p:nvSpPr>
          <p:cNvPr id="5" name="Freeform 5"/>
          <p:cNvSpPr/>
          <p:nvPr/>
        </p:nvSpPr>
        <p:spPr>
          <a:xfrm>
            <a:off x="1270000" y="7874000"/>
            <a:ext cx="1905000" cy="0"/>
          </a:xfrm>
          <a:custGeom>
            <a:avLst/>
            <a:gdLst/>
            <a:ahLst/>
            <a:cxnLst/>
            <a:rect l="l" t="t" r="r" b="b"/>
            <a:pathLst>
              <a:path w="1905000">
                <a:moveTo>
                  <a:pt x="0" y="0"/>
                </a:moveTo>
                <a:lnTo>
                  <a:pt x="1905000" y="0"/>
                </a:lnTo>
              </a:path>
            </a:pathLst>
          </a:custGeom>
          <a:noFill/>
          <a:ln w="25400">
            <a:solidFill>
              <a:srgbClr val="E5D9C5">
                <a:alpha val="80000"/>
              </a:srgbClr>
            </a:solidFill>
          </a:ln>
        </p:spPr>
      </p:sp>
      <p:sp>
        <p:nvSpPr>
          <p:cNvPr id="6" name="Freeform 6"/>
          <p:cNvSpPr/>
          <p:nvPr/>
        </p:nvSpPr>
        <p:spPr>
          <a:xfrm>
            <a:off x="635000" y="1841500"/>
            <a:ext cx="2159000" cy="2159000"/>
          </a:xfrm>
          <a:custGeom>
            <a:avLst/>
            <a:gdLst/>
            <a:ahLst/>
            <a:cxnLst/>
            <a:rect l="l" t="t" r="r" b="b"/>
            <a:pathLst>
              <a:path w="2159000" h="2159000">
                <a:moveTo>
                  <a:pt x="2159000" y="1079500"/>
                </a:moveTo>
                <a:cubicBezTo>
                  <a:pt x="2159000" y="1675691"/>
                  <a:pt x="1675691" y="2159000"/>
                  <a:pt x="1079500" y="2159000"/>
                </a:cubicBezTo>
                <a:cubicBezTo>
                  <a:pt x="483309" y="2159000"/>
                  <a:pt x="0" y="1675691"/>
                  <a:pt x="0" y="1079500"/>
                </a:cubicBezTo>
                <a:cubicBezTo>
                  <a:pt x="0" y="483309"/>
                  <a:pt x="483309" y="0"/>
                  <a:pt x="1079500" y="0"/>
                </a:cubicBezTo>
                <a:cubicBezTo>
                  <a:pt x="1675691" y="0"/>
                  <a:pt x="2159000" y="483309"/>
                  <a:pt x="2159000" y="1079500"/>
                </a:cubicBezTo>
                <a:close/>
              </a:path>
            </a:pathLst>
          </a:custGeom>
          <a:noFill/>
          <a:ln w="19050">
            <a:solidFill>
              <a:srgbClr val="E5D9C5">
                <a:alpha val="50196"/>
              </a:srgbClr>
            </a:solidFill>
          </a:ln>
        </p:spPr>
      </p:sp>
      <p:sp>
        <p:nvSpPr>
          <p:cNvPr id="7" name="Freeform 7"/>
          <p:cNvSpPr/>
          <p:nvPr/>
        </p:nvSpPr>
        <p:spPr>
          <a:xfrm>
            <a:off x="1308100" y="5905500"/>
            <a:ext cx="1016000" cy="63500"/>
          </a:xfrm>
          <a:custGeom>
            <a:avLst/>
            <a:gdLst/>
            <a:ahLst/>
            <a:cxnLst/>
            <a:rect l="l" t="t" r="r" b="b"/>
            <a:pathLst>
              <a:path w="1016000" h="63500">
                <a:moveTo>
                  <a:pt x="0" y="31750"/>
                </a:moveTo>
                <a:lnTo>
                  <a:pt x="0" y="31750"/>
                </a:lnTo>
                <a:cubicBezTo>
                  <a:pt x="0" y="49285"/>
                  <a:pt x="14215" y="63500"/>
                  <a:pt x="31750" y="63500"/>
                </a:cubicBezTo>
                <a:lnTo>
                  <a:pt x="984250" y="63500"/>
                </a:lnTo>
                <a:cubicBezTo>
                  <a:pt x="1001785" y="63500"/>
                  <a:pt x="1016000" y="49285"/>
                  <a:pt x="1016000" y="31750"/>
                </a:cubicBezTo>
                <a:lnTo>
                  <a:pt x="1016000" y="31750"/>
                </a:lnTo>
                <a:cubicBezTo>
                  <a:pt x="1016000" y="14215"/>
                  <a:pt x="1001785" y="0"/>
                  <a:pt x="984250" y="0"/>
                </a:cubicBezTo>
                <a:lnTo>
                  <a:pt x="31750" y="0"/>
                </a:lnTo>
                <a:cubicBezTo>
                  <a:pt x="14215" y="0"/>
                  <a:pt x="0" y="14215"/>
                  <a:pt x="0" y="31750"/>
                </a:cubicBezTo>
                <a:close/>
              </a:path>
            </a:pathLst>
          </a:custGeom>
          <a:solidFill>
            <a:srgbClr val="2E5C55">
              <a:alpha val="90196"/>
            </a:srgbClr>
          </a:solidFill>
          <a:ln>
            <a:noFill/>
          </a:ln>
        </p:spPr>
      </p:sp>
      <p:sp>
        <p:nvSpPr>
          <p:cNvPr id="8" name="Freeform 8"/>
          <p:cNvSpPr/>
          <p:nvPr/>
        </p:nvSpPr>
        <p:spPr>
          <a:xfrm>
            <a:off x="0" y="8636000"/>
            <a:ext cx="16256000" cy="1016000"/>
          </a:xfrm>
          <a:custGeom>
            <a:avLst/>
            <a:gdLst/>
            <a:ahLst/>
            <a:cxnLst/>
            <a:rect l="l" t="t" r="r" b="b"/>
            <a:pathLst>
              <a:path w="16256000" h="1016000">
                <a:moveTo>
                  <a:pt x="0" y="508000"/>
                </a:moveTo>
                <a:quadBezTo>
                  <a:pt x="4064000" y="0"/>
                  <a:pt x="8128000" y="508000"/>
                </a:quadBezTo>
                <a:quadBezTo>
                  <a:pt x="12192000" y="1016000"/>
                  <a:pt x="16256000" y="508000"/>
                </a:quadBezTo>
                <a:lnTo>
                  <a:pt x="16256000" y="508000"/>
                </a:lnTo>
                <a:lnTo>
                  <a:pt x="0" y="508000"/>
                </a:lnTo>
                <a:close/>
              </a:path>
            </a:pathLst>
          </a:custGeom>
          <a:solidFill>
            <a:srgbClr val="2E5C55">
              <a:alpha val="1961"/>
            </a:srgbClr>
          </a:solidFill>
          <a:ln>
            <a:noFill/>
          </a:ln>
        </p:spPr>
      </p:sp>
      <p:sp>
        <p:nvSpPr>
          <p:cNvPr id="9" name="TextBox 9"/>
          <p:cNvSpPr txBox="1"/>
          <p:nvPr/>
        </p:nvSpPr>
        <p:spPr>
          <a:xfrm>
            <a:off x="1079500" y="1041400"/>
            <a:ext cx="3835400" cy="397510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24000" b="1" i="0">
                <a:solidFill>
                  <a:srgbClr val="2E5C55">
                    <a:alpha val="3922"/>
                  </a:srgbClr>
                </a:solidFill>
                <a:latin typeface="Arial" panose="020B0604020202020204"/>
              </a:rPr>
              <a:t>04</a:t>
            </a:r>
            <a:endParaRPr lang="en-US" sz="24000" b="1" i="0">
              <a:solidFill>
                <a:srgbClr val="2E5C55">
                  <a:alpha val="3922"/>
                </a:srgbClr>
              </a:solidFill>
              <a:latin typeface="Arial" panose="020B0604020202020204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1270000" y="3962400"/>
            <a:ext cx="11821160" cy="87376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5200" b="1" i="0">
                <a:solidFill>
                  <a:srgbClr val="2E5C55"/>
                </a:solidFill>
                <a:latin typeface="Arial" panose="020B0604020202020204"/>
              </a:rPr>
              <a:t>PART 04: CLOUD INFRASTRUCTURE</a:t>
            </a:r>
            <a:endParaRPr lang="en-US" sz="5200" b="1" i="0">
              <a:solidFill>
                <a:srgbClr val="2E5C55"/>
              </a:solidFill>
              <a:latin typeface="Arial" panose="020B0604020202020204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1308100" y="5067300"/>
            <a:ext cx="7711440" cy="47244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2800" b="0" i="0">
                <a:solidFill>
                  <a:srgbClr val="556B67">
                    <a:alpha val="80000"/>
                  </a:srgbClr>
                </a:solidFill>
                <a:latin typeface="Arial" panose="020B0604020202020204"/>
              </a:rPr>
              <a:t>Elastic &amp; Scalable Cloud Resource Configuration</a:t>
            </a:r>
            <a:endParaRPr lang="en-US" sz="2800" b="0" i="0">
              <a:solidFill>
                <a:srgbClr val="556B67">
                  <a:alpha val="80000"/>
                </a:srgbClr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6256000" cy="9144000"/>
          </a:xfrm>
          <a:custGeom>
            <a:avLst/>
            <a:gdLst/>
            <a:ahLst/>
            <a:cxnLst/>
            <a:rect l="l" t="t" r="r" b="b"/>
            <a:pathLst>
              <a:path w="16256000" h="9144000">
                <a:moveTo>
                  <a:pt x="0" y="0"/>
                </a:moveTo>
                <a:lnTo>
                  <a:pt x="16256000" y="0"/>
                </a:lnTo>
                <a:lnTo>
                  <a:pt x="16256000" y="9144000"/>
                </a:lnTo>
                <a:lnTo>
                  <a:pt x="0" y="9144000"/>
                </a:lnTo>
                <a:lnTo>
                  <a:pt x="0" y="0"/>
                </a:lnTo>
                <a:close/>
              </a:path>
            </a:pathLst>
          </a:custGeom>
          <a:solidFill>
            <a:srgbClr val="F4F5F7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1016000" y="1041400"/>
            <a:ext cx="76200" cy="406400"/>
          </a:xfrm>
          <a:custGeom>
            <a:avLst/>
            <a:gdLst/>
            <a:ahLst/>
            <a:cxnLst/>
            <a:rect l="l" t="t" r="r" b="b"/>
            <a:pathLst>
              <a:path w="76200" h="406400">
                <a:moveTo>
                  <a:pt x="0" y="38100"/>
                </a:moveTo>
                <a:lnTo>
                  <a:pt x="0" y="368300"/>
                </a:lnTo>
                <a:cubicBezTo>
                  <a:pt x="0" y="389342"/>
                  <a:pt x="17058" y="406400"/>
                  <a:pt x="38100" y="406400"/>
                </a:cubicBezTo>
                <a:lnTo>
                  <a:pt x="38100" y="406400"/>
                </a:lnTo>
                <a:cubicBezTo>
                  <a:pt x="59142" y="406400"/>
                  <a:pt x="76200" y="389342"/>
                  <a:pt x="76200" y="368300"/>
                </a:cubicBezTo>
                <a:lnTo>
                  <a:pt x="76200" y="38100"/>
                </a:lnTo>
                <a:cubicBezTo>
                  <a:pt x="76200" y="17058"/>
                  <a:pt x="59142" y="0"/>
                  <a:pt x="38100" y="0"/>
                </a:cubicBezTo>
                <a:lnTo>
                  <a:pt x="38100" y="0"/>
                </a:lnTo>
                <a:cubicBezTo>
                  <a:pt x="17058" y="0"/>
                  <a:pt x="0" y="17058"/>
                  <a:pt x="0" y="38100"/>
                </a:cubicBezTo>
                <a:close/>
              </a:path>
            </a:pathLst>
          </a:custGeom>
          <a:solidFill>
            <a:srgbClr val="3B5B78"/>
          </a:solidFill>
          <a:ln>
            <a:noFill/>
          </a:ln>
        </p:spPr>
      </p:sp>
      <p:sp>
        <p:nvSpPr>
          <p:cNvPr id="4" name="Freeform 4"/>
          <p:cNvSpPr/>
          <p:nvPr/>
        </p:nvSpPr>
        <p:spPr>
          <a:xfrm>
            <a:off x="1016000" y="2032000"/>
            <a:ext cx="5588000" cy="1778000"/>
          </a:xfrm>
          <a:custGeom>
            <a:avLst/>
            <a:gdLst/>
            <a:ahLst/>
            <a:cxnLst/>
            <a:rect l="l" t="t" r="r" b="b"/>
            <a:pathLst>
              <a:path w="5588000" h="1778000">
                <a:moveTo>
                  <a:pt x="0" y="127000"/>
                </a:moveTo>
                <a:lnTo>
                  <a:pt x="0" y="1651000"/>
                </a:lnTo>
                <a:cubicBezTo>
                  <a:pt x="0" y="1721140"/>
                  <a:pt x="56860" y="1778000"/>
                  <a:pt x="127000" y="1778000"/>
                </a:cubicBezTo>
                <a:lnTo>
                  <a:pt x="5461000" y="1778000"/>
                </a:lnTo>
                <a:cubicBezTo>
                  <a:pt x="5531140" y="1778000"/>
                  <a:pt x="5588000" y="1721140"/>
                  <a:pt x="5588000" y="1651000"/>
                </a:cubicBezTo>
                <a:lnTo>
                  <a:pt x="5588000" y="127000"/>
                </a:lnTo>
                <a:cubicBezTo>
                  <a:pt x="5588000" y="56860"/>
                  <a:pt x="5531140" y="0"/>
                  <a:pt x="5461000" y="0"/>
                </a:cubicBezTo>
                <a:lnTo>
                  <a:pt x="127000" y="0"/>
                </a:lnTo>
                <a:cubicBezTo>
                  <a:pt x="56860" y="0"/>
                  <a:pt x="0" y="56860"/>
                  <a:pt x="0" y="12700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  <a:effectLst>
            <a:outerShdw blurRad="508000" dist="101600" dir="5400000" rotWithShape="0">
              <a:srgbClr val="3B5B78">
                <a:alpha val="3922"/>
              </a:srgbClr>
            </a:outerShdw>
          </a:effectLst>
        </p:spPr>
      </p:sp>
      <p:sp>
        <p:nvSpPr>
          <p:cNvPr id="5" name="Freeform 5"/>
          <p:cNvSpPr/>
          <p:nvPr/>
        </p:nvSpPr>
        <p:spPr>
          <a:xfrm>
            <a:off x="1320800" y="23368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0" y="101600"/>
                </a:moveTo>
                <a:lnTo>
                  <a:pt x="0" y="355600"/>
                </a:lnTo>
                <a:cubicBezTo>
                  <a:pt x="0" y="411712"/>
                  <a:pt x="45488" y="457200"/>
                  <a:pt x="101600" y="457200"/>
                </a:cubicBezTo>
                <a:lnTo>
                  <a:pt x="355600" y="457200"/>
                </a:lnTo>
                <a:cubicBezTo>
                  <a:pt x="411712" y="457200"/>
                  <a:pt x="457200" y="411712"/>
                  <a:pt x="457200" y="355600"/>
                </a:cubicBezTo>
                <a:lnTo>
                  <a:pt x="457200" y="101600"/>
                </a:lnTo>
                <a:cubicBezTo>
                  <a:pt x="457200" y="45488"/>
                  <a:pt x="411712" y="0"/>
                  <a:pt x="355600" y="0"/>
                </a:cubicBezTo>
                <a:lnTo>
                  <a:pt x="101600" y="0"/>
                </a:lnTo>
                <a:cubicBezTo>
                  <a:pt x="45488" y="0"/>
                  <a:pt x="0" y="45488"/>
                  <a:pt x="0" y="101600"/>
                </a:cubicBezTo>
                <a:close/>
              </a:path>
            </a:pathLst>
          </a:custGeom>
          <a:solidFill>
            <a:srgbClr val="F4F5F7"/>
          </a:solidFill>
          <a:ln>
            <a:noFill/>
          </a:ln>
        </p:spPr>
      </p:sp>
      <p:sp>
        <p:nvSpPr>
          <p:cNvPr id="6" name="Freeform 6"/>
          <p:cNvSpPr/>
          <p:nvPr/>
        </p:nvSpPr>
        <p:spPr>
          <a:xfrm>
            <a:off x="1273492" y="2278062"/>
            <a:ext cx="175577" cy="131127"/>
          </a:xfrm>
          <a:custGeom>
            <a:avLst/>
            <a:gdLst/>
            <a:ahLst/>
            <a:cxnLst/>
            <a:rect l="l" t="t" r="r" b="b"/>
            <a:pathLst>
              <a:path w="175577" h="131127">
                <a:moveTo>
                  <a:pt x="77788" y="104458"/>
                </a:moveTo>
                <a:lnTo>
                  <a:pt x="148908" y="104458"/>
                </a:lnTo>
                <a:cubicBezTo>
                  <a:pt x="163638" y="104458"/>
                  <a:pt x="175578" y="92518"/>
                  <a:pt x="175578" y="77788"/>
                </a:cubicBezTo>
                <a:cubicBezTo>
                  <a:pt x="175578" y="64705"/>
                  <a:pt x="166147" y="53825"/>
                  <a:pt x="153681" y="51530"/>
                </a:cubicBezTo>
                <a:cubicBezTo>
                  <a:pt x="150423" y="22589"/>
                  <a:pt x="125831" y="0"/>
                  <a:pt x="95568" y="0"/>
                </a:cubicBezTo>
                <a:cubicBezTo>
                  <a:pt x="69133" y="0"/>
                  <a:pt x="46855" y="17010"/>
                  <a:pt x="39036" y="40888"/>
                </a:cubicBezTo>
                <a:cubicBezTo>
                  <a:pt x="17127" y="43728"/>
                  <a:pt x="0" y="62427"/>
                  <a:pt x="0" y="85196"/>
                </a:cubicBezTo>
                <a:cubicBezTo>
                  <a:pt x="0" y="110564"/>
                  <a:pt x="20565" y="131128"/>
                  <a:pt x="45932" y="131128"/>
                </a:cubicBezTo>
                <a:lnTo>
                  <a:pt x="77788" y="131128"/>
                </a:lnTo>
                <a:lnTo>
                  <a:pt x="77788" y="104458"/>
                </a:lnTo>
                <a:close/>
              </a:path>
            </a:pathLst>
          </a:custGeom>
          <a:noFill/>
          <a:ln w="17780">
            <a:solidFill>
              <a:srgbClr val="3B5B78"/>
            </a:solidFill>
          </a:ln>
        </p:spPr>
      </p:sp>
      <p:sp>
        <p:nvSpPr>
          <p:cNvPr id="7" name="Freeform 7"/>
          <p:cNvSpPr/>
          <p:nvPr/>
        </p:nvSpPr>
        <p:spPr>
          <a:xfrm>
            <a:off x="1320800" y="2971800"/>
            <a:ext cx="4978400" cy="0"/>
          </a:xfrm>
          <a:custGeom>
            <a:avLst/>
            <a:gdLst/>
            <a:ahLst/>
            <a:cxnLst/>
            <a:rect l="l" t="t" r="r" b="b"/>
            <a:pathLst>
              <a:path w="4978400">
                <a:moveTo>
                  <a:pt x="0" y="0"/>
                </a:moveTo>
                <a:lnTo>
                  <a:pt x="4978400" y="0"/>
                </a:lnTo>
              </a:path>
            </a:pathLst>
          </a:custGeom>
          <a:noFill/>
          <a:ln w="19050">
            <a:solidFill>
              <a:srgbClr val="F3F4F6"/>
            </a:solidFill>
          </a:ln>
        </p:spPr>
      </p:sp>
      <p:sp>
        <p:nvSpPr>
          <p:cNvPr id="8" name="Freeform 8"/>
          <p:cNvSpPr/>
          <p:nvPr/>
        </p:nvSpPr>
        <p:spPr>
          <a:xfrm>
            <a:off x="1016000" y="4114800"/>
            <a:ext cx="5588000" cy="1778000"/>
          </a:xfrm>
          <a:custGeom>
            <a:avLst/>
            <a:gdLst/>
            <a:ahLst/>
            <a:cxnLst/>
            <a:rect l="l" t="t" r="r" b="b"/>
            <a:pathLst>
              <a:path w="5588000" h="1778000">
                <a:moveTo>
                  <a:pt x="0" y="127000"/>
                </a:moveTo>
                <a:lnTo>
                  <a:pt x="0" y="1651000"/>
                </a:lnTo>
                <a:cubicBezTo>
                  <a:pt x="0" y="1721140"/>
                  <a:pt x="56860" y="1778000"/>
                  <a:pt x="127000" y="1778000"/>
                </a:cubicBezTo>
                <a:lnTo>
                  <a:pt x="5461000" y="1778000"/>
                </a:lnTo>
                <a:cubicBezTo>
                  <a:pt x="5531140" y="1778000"/>
                  <a:pt x="5588000" y="1721140"/>
                  <a:pt x="5588000" y="1651000"/>
                </a:cubicBezTo>
                <a:lnTo>
                  <a:pt x="5588000" y="127000"/>
                </a:lnTo>
                <a:cubicBezTo>
                  <a:pt x="5588000" y="56860"/>
                  <a:pt x="5531140" y="0"/>
                  <a:pt x="5461000" y="0"/>
                </a:cubicBezTo>
                <a:lnTo>
                  <a:pt x="127000" y="0"/>
                </a:lnTo>
                <a:cubicBezTo>
                  <a:pt x="56860" y="0"/>
                  <a:pt x="0" y="56860"/>
                  <a:pt x="0" y="12700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  <a:effectLst>
            <a:outerShdw blurRad="508000" dist="101600" dir="5400000" rotWithShape="0">
              <a:srgbClr val="3B5B78">
                <a:alpha val="3922"/>
              </a:srgbClr>
            </a:outerShdw>
          </a:effectLst>
        </p:spPr>
      </p:sp>
      <p:sp>
        <p:nvSpPr>
          <p:cNvPr id="9" name="Freeform 9"/>
          <p:cNvSpPr/>
          <p:nvPr/>
        </p:nvSpPr>
        <p:spPr>
          <a:xfrm>
            <a:off x="1320800" y="44196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0" y="101600"/>
                </a:moveTo>
                <a:lnTo>
                  <a:pt x="0" y="355600"/>
                </a:lnTo>
                <a:cubicBezTo>
                  <a:pt x="0" y="411712"/>
                  <a:pt x="45488" y="457200"/>
                  <a:pt x="101600" y="457200"/>
                </a:cubicBezTo>
                <a:lnTo>
                  <a:pt x="355600" y="457200"/>
                </a:lnTo>
                <a:cubicBezTo>
                  <a:pt x="411712" y="457200"/>
                  <a:pt x="457200" y="411712"/>
                  <a:pt x="457200" y="355600"/>
                </a:cubicBezTo>
                <a:lnTo>
                  <a:pt x="457200" y="101600"/>
                </a:lnTo>
                <a:cubicBezTo>
                  <a:pt x="457200" y="45488"/>
                  <a:pt x="411712" y="0"/>
                  <a:pt x="355600" y="0"/>
                </a:cubicBezTo>
                <a:lnTo>
                  <a:pt x="101600" y="0"/>
                </a:lnTo>
                <a:cubicBezTo>
                  <a:pt x="45488" y="0"/>
                  <a:pt x="0" y="45488"/>
                  <a:pt x="0" y="101600"/>
                </a:cubicBezTo>
                <a:close/>
              </a:path>
            </a:pathLst>
          </a:custGeom>
          <a:solidFill>
            <a:srgbClr val="F4F5F7"/>
          </a:solidFill>
          <a:ln>
            <a:noFill/>
          </a:ln>
        </p:spPr>
      </p:sp>
      <p:sp>
        <p:nvSpPr>
          <p:cNvPr id="10" name="Freeform 10"/>
          <p:cNvSpPr/>
          <p:nvPr/>
        </p:nvSpPr>
        <p:spPr>
          <a:xfrm>
            <a:off x="1310640" y="4409440"/>
            <a:ext cx="162560" cy="162560"/>
          </a:xfrm>
          <a:custGeom>
            <a:avLst/>
            <a:gdLst/>
            <a:ahLst/>
            <a:cxnLst/>
            <a:rect l="l" t="t" r="r" b="b"/>
            <a:pathLst>
              <a:path w="162560" h="162560">
                <a:moveTo>
                  <a:pt x="0" y="30480"/>
                </a:moveTo>
                <a:cubicBezTo>
                  <a:pt x="0" y="47314"/>
                  <a:pt x="36390" y="60960"/>
                  <a:pt x="81280" y="60960"/>
                </a:cubicBezTo>
                <a:cubicBezTo>
                  <a:pt x="126170" y="60960"/>
                  <a:pt x="162560" y="47314"/>
                  <a:pt x="162560" y="30480"/>
                </a:cubicBezTo>
                <a:moveTo>
                  <a:pt x="0" y="30480"/>
                </a:moveTo>
                <a:cubicBezTo>
                  <a:pt x="0" y="13646"/>
                  <a:pt x="36390" y="0"/>
                  <a:pt x="81280" y="0"/>
                </a:cubicBezTo>
                <a:cubicBezTo>
                  <a:pt x="126170" y="0"/>
                  <a:pt x="162560" y="13646"/>
                  <a:pt x="162560" y="30480"/>
                </a:cubicBezTo>
                <a:moveTo>
                  <a:pt x="0" y="30480"/>
                </a:moveTo>
                <a:lnTo>
                  <a:pt x="0" y="132080"/>
                </a:lnTo>
                <a:cubicBezTo>
                  <a:pt x="0" y="148914"/>
                  <a:pt x="36390" y="162560"/>
                  <a:pt x="81280" y="162560"/>
                </a:cubicBezTo>
                <a:cubicBezTo>
                  <a:pt x="126170" y="162560"/>
                  <a:pt x="162560" y="148914"/>
                  <a:pt x="162560" y="132080"/>
                </a:cubicBezTo>
                <a:lnTo>
                  <a:pt x="162560" y="30480"/>
                </a:lnTo>
                <a:moveTo>
                  <a:pt x="0" y="81280"/>
                </a:moveTo>
                <a:cubicBezTo>
                  <a:pt x="0" y="98114"/>
                  <a:pt x="36390" y="111760"/>
                  <a:pt x="81280" y="111760"/>
                </a:cubicBezTo>
                <a:cubicBezTo>
                  <a:pt x="126170" y="111760"/>
                  <a:pt x="162560" y="98114"/>
                  <a:pt x="162560" y="81280"/>
                </a:cubicBezTo>
              </a:path>
            </a:pathLst>
          </a:custGeom>
          <a:noFill/>
          <a:ln w="20320">
            <a:solidFill>
              <a:srgbClr val="3B5B78"/>
            </a:solidFill>
          </a:ln>
        </p:spPr>
      </p:sp>
      <p:sp>
        <p:nvSpPr>
          <p:cNvPr id="11" name="Freeform 11"/>
          <p:cNvSpPr/>
          <p:nvPr/>
        </p:nvSpPr>
        <p:spPr>
          <a:xfrm>
            <a:off x="1320800" y="5054600"/>
            <a:ext cx="4978400" cy="0"/>
          </a:xfrm>
          <a:custGeom>
            <a:avLst/>
            <a:gdLst/>
            <a:ahLst/>
            <a:cxnLst/>
            <a:rect l="l" t="t" r="r" b="b"/>
            <a:pathLst>
              <a:path w="4978400">
                <a:moveTo>
                  <a:pt x="0" y="0"/>
                </a:moveTo>
                <a:lnTo>
                  <a:pt x="4978400" y="0"/>
                </a:lnTo>
              </a:path>
            </a:pathLst>
          </a:custGeom>
          <a:noFill/>
          <a:ln w="19050">
            <a:solidFill>
              <a:srgbClr val="F3F4F6"/>
            </a:solidFill>
          </a:ln>
        </p:spPr>
      </p:sp>
      <p:sp>
        <p:nvSpPr>
          <p:cNvPr id="12" name="Freeform 12"/>
          <p:cNvSpPr/>
          <p:nvPr/>
        </p:nvSpPr>
        <p:spPr>
          <a:xfrm>
            <a:off x="5511800" y="4673600"/>
            <a:ext cx="660400" cy="660400"/>
          </a:xfrm>
          <a:custGeom>
            <a:avLst/>
            <a:gdLst/>
            <a:ahLst/>
            <a:cxnLst/>
            <a:rect l="l" t="t" r="r" b="b"/>
            <a:pathLst>
              <a:path w="660400" h="660400">
                <a:moveTo>
                  <a:pt x="660400" y="330200"/>
                </a:moveTo>
                <a:cubicBezTo>
                  <a:pt x="660400" y="512564"/>
                  <a:pt x="512564" y="660400"/>
                  <a:pt x="330200" y="660400"/>
                </a:cubicBezTo>
                <a:cubicBezTo>
                  <a:pt x="147836" y="660400"/>
                  <a:pt x="0" y="512564"/>
                  <a:pt x="0" y="330200"/>
                </a:cubicBezTo>
                <a:cubicBezTo>
                  <a:pt x="0" y="147836"/>
                  <a:pt x="147836" y="0"/>
                  <a:pt x="330200" y="0"/>
                </a:cubicBezTo>
                <a:cubicBezTo>
                  <a:pt x="512564" y="0"/>
                  <a:pt x="660400" y="147836"/>
                  <a:pt x="660400" y="330200"/>
                </a:cubicBezTo>
                <a:close/>
              </a:path>
            </a:pathLst>
          </a:custGeom>
          <a:noFill/>
          <a:ln w="57150">
            <a:solidFill>
              <a:srgbClr val="F4F5F7"/>
            </a:solidFill>
          </a:ln>
        </p:spPr>
      </p:sp>
      <p:sp>
        <p:nvSpPr>
          <p:cNvPr id="13" name="Freeform 13"/>
          <p:cNvSpPr/>
          <p:nvPr/>
        </p:nvSpPr>
        <p:spPr>
          <a:xfrm>
            <a:off x="5511800" y="4673600"/>
            <a:ext cx="660400" cy="660400"/>
          </a:xfrm>
          <a:custGeom>
            <a:avLst/>
            <a:gdLst/>
            <a:ahLst/>
            <a:cxnLst/>
            <a:rect l="l" t="t" r="r" b="b"/>
            <a:pathLst>
              <a:path w="660400" h="660400">
                <a:moveTo>
                  <a:pt x="330200" y="0"/>
                </a:moveTo>
                <a:cubicBezTo>
                  <a:pt x="512564" y="0"/>
                  <a:pt x="660400" y="147836"/>
                  <a:pt x="660400" y="330200"/>
                </a:cubicBezTo>
                <a:cubicBezTo>
                  <a:pt x="660400" y="512564"/>
                  <a:pt x="512564" y="660400"/>
                  <a:pt x="330200" y="660400"/>
                </a:cubicBezTo>
                <a:cubicBezTo>
                  <a:pt x="147836" y="660400"/>
                  <a:pt x="0" y="512564"/>
                  <a:pt x="0" y="330200"/>
                </a:cubicBezTo>
                <a:cubicBezTo>
                  <a:pt x="0" y="147836"/>
                  <a:pt x="147836" y="0"/>
                  <a:pt x="330200" y="0"/>
                </a:cubicBezTo>
                <a:close/>
              </a:path>
            </a:pathLst>
          </a:custGeom>
          <a:noFill/>
          <a:ln w="57150">
            <a:solidFill>
              <a:srgbClr val="3B5B78"/>
            </a:solidFill>
            <a:prstDash val="dot"/>
          </a:ln>
        </p:spPr>
      </p:sp>
      <p:sp>
        <p:nvSpPr>
          <p:cNvPr id="14" name="Freeform 14"/>
          <p:cNvSpPr/>
          <p:nvPr/>
        </p:nvSpPr>
        <p:spPr>
          <a:xfrm>
            <a:off x="1016000" y="6197600"/>
            <a:ext cx="5588000" cy="1778000"/>
          </a:xfrm>
          <a:custGeom>
            <a:avLst/>
            <a:gdLst/>
            <a:ahLst/>
            <a:cxnLst/>
            <a:rect l="l" t="t" r="r" b="b"/>
            <a:pathLst>
              <a:path w="5588000" h="1778000">
                <a:moveTo>
                  <a:pt x="0" y="127000"/>
                </a:moveTo>
                <a:lnTo>
                  <a:pt x="0" y="1651000"/>
                </a:lnTo>
                <a:cubicBezTo>
                  <a:pt x="0" y="1721140"/>
                  <a:pt x="56860" y="1778000"/>
                  <a:pt x="127000" y="1778000"/>
                </a:cubicBezTo>
                <a:lnTo>
                  <a:pt x="5461000" y="1778000"/>
                </a:lnTo>
                <a:cubicBezTo>
                  <a:pt x="5531140" y="1778000"/>
                  <a:pt x="5588000" y="1721140"/>
                  <a:pt x="5588000" y="1651000"/>
                </a:cubicBezTo>
                <a:lnTo>
                  <a:pt x="5588000" y="127000"/>
                </a:lnTo>
                <a:cubicBezTo>
                  <a:pt x="5588000" y="56860"/>
                  <a:pt x="5531140" y="0"/>
                  <a:pt x="5461000" y="0"/>
                </a:cubicBezTo>
                <a:lnTo>
                  <a:pt x="127000" y="0"/>
                </a:lnTo>
                <a:cubicBezTo>
                  <a:pt x="56860" y="0"/>
                  <a:pt x="0" y="56860"/>
                  <a:pt x="0" y="12700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  <a:effectLst>
            <a:outerShdw blurRad="508000" dist="101600" dir="5400000" rotWithShape="0">
              <a:srgbClr val="3B5B78">
                <a:alpha val="3922"/>
              </a:srgbClr>
            </a:outerShdw>
          </a:effectLst>
        </p:spPr>
      </p:sp>
      <p:sp>
        <p:nvSpPr>
          <p:cNvPr id="15" name="Freeform 15"/>
          <p:cNvSpPr/>
          <p:nvPr/>
        </p:nvSpPr>
        <p:spPr>
          <a:xfrm>
            <a:off x="1320800" y="65024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0" y="101600"/>
                </a:moveTo>
                <a:lnTo>
                  <a:pt x="0" y="355600"/>
                </a:lnTo>
                <a:cubicBezTo>
                  <a:pt x="0" y="411712"/>
                  <a:pt x="45488" y="457200"/>
                  <a:pt x="101600" y="457200"/>
                </a:cubicBezTo>
                <a:lnTo>
                  <a:pt x="355600" y="457200"/>
                </a:lnTo>
                <a:cubicBezTo>
                  <a:pt x="411712" y="457200"/>
                  <a:pt x="457200" y="411712"/>
                  <a:pt x="457200" y="355600"/>
                </a:cubicBezTo>
                <a:lnTo>
                  <a:pt x="457200" y="101600"/>
                </a:lnTo>
                <a:cubicBezTo>
                  <a:pt x="457200" y="45488"/>
                  <a:pt x="411712" y="0"/>
                  <a:pt x="355600" y="0"/>
                </a:cubicBezTo>
                <a:lnTo>
                  <a:pt x="101600" y="0"/>
                </a:lnTo>
                <a:cubicBezTo>
                  <a:pt x="45488" y="0"/>
                  <a:pt x="0" y="45488"/>
                  <a:pt x="0" y="101600"/>
                </a:cubicBezTo>
                <a:close/>
              </a:path>
            </a:pathLst>
          </a:custGeom>
          <a:solidFill>
            <a:srgbClr val="F4F5F7"/>
          </a:solidFill>
          <a:ln>
            <a:noFill/>
          </a:ln>
        </p:spPr>
      </p:sp>
      <p:sp>
        <p:nvSpPr>
          <p:cNvPr id="16" name="Freeform 16"/>
          <p:cNvSpPr/>
          <p:nvPr/>
        </p:nvSpPr>
        <p:spPr>
          <a:xfrm>
            <a:off x="1300480" y="6471920"/>
            <a:ext cx="182880" cy="203200"/>
          </a:xfrm>
          <a:custGeom>
            <a:avLst/>
            <a:gdLst/>
            <a:ahLst/>
            <a:cxnLst/>
            <a:rect l="l" t="t" r="r" b="b"/>
            <a:pathLst>
              <a:path w="182880" h="203200">
                <a:moveTo>
                  <a:pt x="101600" y="0"/>
                </a:moveTo>
                <a:lnTo>
                  <a:pt x="0" y="121920"/>
                </a:lnTo>
                <a:lnTo>
                  <a:pt x="91440" y="121920"/>
                </a:lnTo>
                <a:lnTo>
                  <a:pt x="81280" y="203200"/>
                </a:lnTo>
                <a:lnTo>
                  <a:pt x="182880" y="81280"/>
                </a:lnTo>
                <a:lnTo>
                  <a:pt x="91440" y="81280"/>
                </a:lnTo>
                <a:lnTo>
                  <a:pt x="101600" y="0"/>
                </a:lnTo>
                <a:close/>
              </a:path>
            </a:pathLst>
          </a:custGeom>
          <a:noFill/>
          <a:ln w="20320">
            <a:solidFill>
              <a:srgbClr val="3B5B78"/>
            </a:solidFill>
          </a:ln>
        </p:spPr>
      </p:sp>
      <p:sp>
        <p:nvSpPr>
          <p:cNvPr id="17" name="Freeform 17"/>
          <p:cNvSpPr/>
          <p:nvPr/>
        </p:nvSpPr>
        <p:spPr>
          <a:xfrm>
            <a:off x="1320800" y="7137400"/>
            <a:ext cx="4978400" cy="0"/>
          </a:xfrm>
          <a:custGeom>
            <a:avLst/>
            <a:gdLst/>
            <a:ahLst/>
            <a:cxnLst/>
            <a:rect l="l" t="t" r="r" b="b"/>
            <a:pathLst>
              <a:path w="4978400">
                <a:moveTo>
                  <a:pt x="0" y="0"/>
                </a:moveTo>
                <a:lnTo>
                  <a:pt x="4978400" y="0"/>
                </a:lnTo>
              </a:path>
            </a:pathLst>
          </a:custGeom>
          <a:noFill/>
          <a:ln w="19050">
            <a:solidFill>
              <a:srgbClr val="F3F4F6"/>
            </a:solidFill>
          </a:ln>
        </p:spPr>
      </p:sp>
      <p:sp>
        <p:nvSpPr>
          <p:cNvPr id="18" name="Freeform 18"/>
          <p:cNvSpPr/>
          <p:nvPr/>
        </p:nvSpPr>
        <p:spPr>
          <a:xfrm>
            <a:off x="7112000" y="1066800"/>
            <a:ext cx="8128000" cy="3124200"/>
          </a:xfrm>
          <a:custGeom>
            <a:avLst/>
            <a:gdLst/>
            <a:ahLst/>
            <a:cxnLst/>
            <a:rect l="l" t="t" r="r" b="b"/>
            <a:pathLst>
              <a:path w="8128000" h="3124200">
                <a:moveTo>
                  <a:pt x="0" y="101600"/>
                </a:moveTo>
                <a:lnTo>
                  <a:pt x="0" y="3022600"/>
                </a:lnTo>
                <a:cubicBezTo>
                  <a:pt x="0" y="3078712"/>
                  <a:pt x="45488" y="3124200"/>
                  <a:pt x="101600" y="3124200"/>
                </a:cubicBezTo>
                <a:lnTo>
                  <a:pt x="8026400" y="3124200"/>
                </a:lnTo>
                <a:cubicBezTo>
                  <a:pt x="8082512" y="3124200"/>
                  <a:pt x="8128000" y="3078712"/>
                  <a:pt x="8128000" y="3022600"/>
                </a:cubicBezTo>
                <a:lnTo>
                  <a:pt x="8128000" y="101600"/>
                </a:lnTo>
                <a:cubicBezTo>
                  <a:pt x="8128000" y="45488"/>
                  <a:pt x="8082512" y="0"/>
                  <a:pt x="8026400" y="0"/>
                </a:cubicBezTo>
                <a:lnTo>
                  <a:pt x="101600" y="0"/>
                </a:lnTo>
                <a:cubicBezTo>
                  <a:pt x="45488" y="0"/>
                  <a:pt x="0" y="45488"/>
                  <a:pt x="0" y="10160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  <a:effectLst>
            <a:outerShdw blurRad="508000" dist="101600" dir="5400000" rotWithShape="0">
              <a:srgbClr val="3B5B78">
                <a:alpha val="3922"/>
              </a:srgbClr>
            </a:outerShdw>
          </a:effectLst>
        </p:spPr>
      </p:sp>
      <p:pic>
        <p:nvPicPr>
          <p:cNvPr id="19" name="Picture 19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99300" y="1054100"/>
            <a:ext cx="8153400" cy="3149600"/>
          </a:xfrm>
          <a:prstGeom prst="rect">
            <a:avLst/>
          </a:prstGeom>
        </p:spPr>
      </p:pic>
      <p:sp>
        <p:nvSpPr>
          <p:cNvPr id="20" name="Freeform 20"/>
          <p:cNvSpPr/>
          <p:nvPr/>
        </p:nvSpPr>
        <p:spPr>
          <a:xfrm>
            <a:off x="7112000" y="4826000"/>
            <a:ext cx="8128000" cy="3302000"/>
          </a:xfrm>
          <a:custGeom>
            <a:avLst/>
            <a:gdLst/>
            <a:ahLst/>
            <a:cxnLst/>
            <a:rect l="l" t="t" r="r" b="b"/>
            <a:pathLst>
              <a:path w="8128000" h="3302000">
                <a:moveTo>
                  <a:pt x="0" y="101600"/>
                </a:moveTo>
                <a:lnTo>
                  <a:pt x="0" y="3200400"/>
                </a:lnTo>
                <a:cubicBezTo>
                  <a:pt x="0" y="3256512"/>
                  <a:pt x="45488" y="3302000"/>
                  <a:pt x="101600" y="3302000"/>
                </a:cubicBezTo>
                <a:lnTo>
                  <a:pt x="8026400" y="3302000"/>
                </a:lnTo>
                <a:cubicBezTo>
                  <a:pt x="8082512" y="3302000"/>
                  <a:pt x="8128000" y="3256512"/>
                  <a:pt x="8128000" y="3200400"/>
                </a:cubicBezTo>
                <a:lnTo>
                  <a:pt x="8128000" y="101600"/>
                </a:lnTo>
                <a:cubicBezTo>
                  <a:pt x="8128000" y="45488"/>
                  <a:pt x="8082512" y="0"/>
                  <a:pt x="8026400" y="0"/>
                </a:cubicBezTo>
                <a:lnTo>
                  <a:pt x="101600" y="0"/>
                </a:lnTo>
                <a:cubicBezTo>
                  <a:pt x="45488" y="0"/>
                  <a:pt x="0" y="45488"/>
                  <a:pt x="0" y="10160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  <a:effectLst>
            <a:outerShdw blurRad="508000" dist="101600" dir="5400000" rotWithShape="0">
              <a:srgbClr val="3B5B78">
                <a:alpha val="3922"/>
              </a:srgbClr>
            </a:outerShdw>
          </a:effectLst>
        </p:spPr>
      </p:sp>
      <p:pic>
        <p:nvPicPr>
          <p:cNvPr id="21" name="Picture 2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9300" y="4813300"/>
            <a:ext cx="8153400" cy="3327400"/>
          </a:xfrm>
          <a:prstGeom prst="rect">
            <a:avLst/>
          </a:prstGeom>
        </p:spPr>
      </p:pic>
      <p:sp>
        <p:nvSpPr>
          <p:cNvPr id="22" name="TextBox 22"/>
          <p:cNvSpPr txBox="1"/>
          <p:nvPr/>
        </p:nvSpPr>
        <p:spPr>
          <a:xfrm>
            <a:off x="1320800" y="990600"/>
            <a:ext cx="6097270" cy="57277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3400" b="1" i="0">
                <a:solidFill>
                  <a:srgbClr val="3B5B78"/>
                </a:solidFill>
                <a:latin typeface="Arial" panose="020B0604020202020204"/>
              </a:rPr>
              <a:t>Cloud Database: Redis Cloud</a:t>
            </a:r>
            <a:endParaRPr lang="en-US" sz="3400" b="1" i="0">
              <a:solidFill>
                <a:srgbClr val="3B5B78"/>
              </a:solidFill>
              <a:latin typeface="Arial" panose="020B0604020202020204"/>
            </a:endParaRPr>
          </a:p>
        </p:txBody>
      </p:sp>
      <p:sp>
        <p:nvSpPr>
          <p:cNvPr id="23" name="TextBox 23"/>
          <p:cNvSpPr txBox="1"/>
          <p:nvPr/>
        </p:nvSpPr>
        <p:spPr>
          <a:xfrm>
            <a:off x="1981200" y="2425700"/>
            <a:ext cx="2790190" cy="31369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1800" b="1" i="0">
                <a:solidFill>
                  <a:srgbClr val="3B5B78"/>
                </a:solidFill>
                <a:latin typeface="SansSerif"/>
              </a:rPr>
              <a:t>Deployment Strategy</a:t>
            </a:r>
            <a:endParaRPr lang="en-US" sz="1800" b="1" i="0">
              <a:solidFill>
                <a:srgbClr val="3B5B78"/>
              </a:solidFill>
              <a:latin typeface="SansSerif"/>
            </a:endParaRPr>
          </a:p>
        </p:txBody>
      </p:sp>
      <p:sp>
        <p:nvSpPr>
          <p:cNvPr id="24" name="TextBox 24"/>
          <p:cNvSpPr txBox="1"/>
          <p:nvPr/>
        </p:nvSpPr>
        <p:spPr>
          <a:xfrm>
            <a:off x="1320800" y="3149600"/>
            <a:ext cx="4918075" cy="587375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pPr>
              <a:spcAft>
                <a:spcPct val="0"/>
              </a:spcAft>
            </a:pPr>
            <a:r>
              <a:rPr lang="en-US" sz="1500" b="0" i="0">
                <a:solidFill>
                  <a:srgbClr val="4B5563"/>
                </a:solidFill>
                <a:latin typeface="SansSerif"/>
              </a:rPr>
              <a:t>· Hosted on AWS (us-east-1) managed nodes</a:t>
            </a:r>
            <a:endParaRPr lang="en-US" sz="1500" b="0" i="0">
              <a:solidFill>
                <a:srgbClr val="4B5563"/>
              </a:solidFill>
              <a:latin typeface="SansSerif"/>
            </a:endParaRPr>
          </a:p>
          <a:p>
            <a:pPr>
              <a:spcBef>
                <a:spcPts val="800"/>
              </a:spcBef>
              <a:spcAft>
                <a:spcPct val="0"/>
              </a:spcAft>
            </a:pPr>
            <a:r>
              <a:rPr lang="en-US" sz="1500" b="0" i="0">
                <a:solidFill>
                  <a:srgbClr val="4B5563"/>
                </a:solidFill>
                <a:latin typeface="SansSerif"/>
              </a:rPr>
              <a:t>· Redis Cloud Free Tier for cost-performance balance</a:t>
            </a:r>
            <a:endParaRPr lang="en-US" sz="1500" b="0" i="0">
              <a:solidFill>
                <a:srgbClr val="4B5563"/>
              </a:solidFill>
              <a:latin typeface="SansSerif"/>
            </a:endParaRPr>
          </a:p>
        </p:txBody>
      </p:sp>
      <p:sp>
        <p:nvSpPr>
          <p:cNvPr id="25" name="TextBox 25"/>
          <p:cNvSpPr txBox="1"/>
          <p:nvPr/>
        </p:nvSpPr>
        <p:spPr>
          <a:xfrm>
            <a:off x="1981200" y="4508500"/>
            <a:ext cx="2637790" cy="31369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1800" b="1" i="0">
                <a:solidFill>
                  <a:srgbClr val="3B5B78"/>
                </a:solidFill>
                <a:latin typeface="SansSerif"/>
              </a:rPr>
              <a:t>Resource Utilization</a:t>
            </a:r>
            <a:endParaRPr lang="en-US" sz="1800" b="1" i="0">
              <a:solidFill>
                <a:srgbClr val="3B5B78"/>
              </a:solidFill>
              <a:latin typeface="SansSerif"/>
            </a:endParaRPr>
          </a:p>
        </p:txBody>
      </p:sp>
      <p:sp>
        <p:nvSpPr>
          <p:cNvPr id="26" name="TextBox 26"/>
          <p:cNvSpPr txBox="1"/>
          <p:nvPr/>
        </p:nvSpPr>
        <p:spPr>
          <a:xfrm>
            <a:off x="1320800" y="5232400"/>
            <a:ext cx="4435475" cy="587375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pPr>
              <a:spcAft>
                <a:spcPct val="0"/>
              </a:spcAft>
            </a:pPr>
            <a:r>
              <a:rPr lang="en-US" sz="1500" b="0" i="0">
                <a:solidFill>
                  <a:srgbClr val="4B5563"/>
                </a:solidFill>
                <a:latin typeface="SansSerif"/>
              </a:rPr>
              <a:t>· Memory usage is only 2.2MB (30MB quota)</a:t>
            </a:r>
            <a:endParaRPr lang="en-US" sz="1500" b="0" i="0">
              <a:solidFill>
                <a:srgbClr val="4B5563"/>
              </a:solidFill>
              <a:latin typeface="SansSerif"/>
            </a:endParaRPr>
          </a:p>
          <a:p>
            <a:pPr>
              <a:spcBef>
                <a:spcPts val="800"/>
              </a:spcBef>
              <a:spcAft>
                <a:spcPct val="0"/>
              </a:spcAft>
            </a:pPr>
            <a:r>
              <a:rPr lang="en-US" sz="1500" b="0" i="0">
                <a:solidFill>
                  <a:srgbClr val="4B5563"/>
                </a:solidFill>
                <a:latin typeface="SansSerif"/>
              </a:rPr>
              <a:t>· Utilization &lt; 10%, fully meeting current needs</a:t>
            </a:r>
            <a:endParaRPr lang="en-US" sz="1500" b="0" i="0">
              <a:solidFill>
                <a:srgbClr val="4B5563"/>
              </a:solidFill>
              <a:latin typeface="SansSerif"/>
            </a:endParaRPr>
          </a:p>
        </p:txBody>
      </p:sp>
      <p:sp>
        <p:nvSpPr>
          <p:cNvPr id="27" name="TextBox 27"/>
          <p:cNvSpPr txBox="1"/>
          <p:nvPr/>
        </p:nvSpPr>
        <p:spPr>
          <a:xfrm>
            <a:off x="5632450" y="4914900"/>
            <a:ext cx="441960" cy="21336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1200" b="1" i="0">
                <a:solidFill>
                  <a:srgbClr val="3B5B78"/>
                </a:solidFill>
                <a:latin typeface="SansSerif"/>
              </a:rPr>
              <a:t>7.5%</a:t>
            </a:r>
            <a:endParaRPr lang="en-US" sz="1200" b="1" i="0">
              <a:solidFill>
                <a:srgbClr val="3B5B78"/>
              </a:solidFill>
              <a:latin typeface="SansSerif"/>
            </a:endParaRPr>
          </a:p>
        </p:txBody>
      </p:sp>
      <p:sp>
        <p:nvSpPr>
          <p:cNvPr id="28" name="TextBox 28"/>
          <p:cNvSpPr txBox="1"/>
          <p:nvPr/>
        </p:nvSpPr>
        <p:spPr>
          <a:xfrm>
            <a:off x="1981200" y="6591300"/>
            <a:ext cx="2294890" cy="31369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1800" b="1" i="0">
                <a:solidFill>
                  <a:srgbClr val="3B5B78"/>
                </a:solidFill>
                <a:latin typeface="SansSerif"/>
              </a:rPr>
              <a:t>Core Applications</a:t>
            </a:r>
            <a:endParaRPr lang="en-US" sz="1800" b="1" i="0">
              <a:solidFill>
                <a:srgbClr val="3B5B78"/>
              </a:solidFill>
              <a:latin typeface="SansSerif"/>
            </a:endParaRPr>
          </a:p>
        </p:txBody>
      </p:sp>
      <p:sp>
        <p:nvSpPr>
          <p:cNvPr id="29" name="TextBox 29"/>
          <p:cNvSpPr txBox="1"/>
          <p:nvPr/>
        </p:nvSpPr>
        <p:spPr>
          <a:xfrm>
            <a:off x="1320800" y="7315200"/>
            <a:ext cx="4486275" cy="587375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pPr>
              <a:spcAft>
                <a:spcPct val="0"/>
              </a:spcAft>
            </a:pPr>
            <a:r>
              <a:rPr lang="en-US" sz="1500" b="0" i="0">
                <a:solidFill>
                  <a:srgbClr val="4B5563"/>
                </a:solidFill>
                <a:latin typeface="SansSerif"/>
              </a:rPr>
              <a:t>· High-performance cache for faster response</a:t>
            </a:r>
            <a:endParaRPr lang="en-US" sz="1500" b="0" i="0">
              <a:solidFill>
                <a:srgbClr val="4B5563"/>
              </a:solidFill>
              <a:latin typeface="SansSerif"/>
            </a:endParaRPr>
          </a:p>
          <a:p>
            <a:pPr>
              <a:spcBef>
                <a:spcPts val="800"/>
              </a:spcBef>
              <a:spcAft>
                <a:spcPct val="0"/>
              </a:spcAft>
            </a:pPr>
            <a:r>
              <a:rPr lang="en-US" sz="1500" b="0" i="0">
                <a:solidFill>
                  <a:srgbClr val="4B5563"/>
                </a:solidFill>
                <a:latin typeface="SansSerif"/>
              </a:rPr>
              <a:t>· Stores: Chat history, TODOs, profiles, and logs</a:t>
            </a:r>
            <a:endParaRPr lang="en-US" sz="1500" b="0" i="0">
              <a:solidFill>
                <a:srgbClr val="4B5563"/>
              </a:solidFill>
              <a:latin typeface="SansSerif"/>
            </a:endParaRPr>
          </a:p>
        </p:txBody>
      </p:sp>
      <p:sp>
        <p:nvSpPr>
          <p:cNvPr id="30" name="TextBox 30"/>
          <p:cNvSpPr txBox="1"/>
          <p:nvPr/>
        </p:nvSpPr>
        <p:spPr>
          <a:xfrm>
            <a:off x="7112000" y="774700"/>
            <a:ext cx="2158365" cy="240665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1300" b="1" i="0">
                <a:solidFill>
                  <a:srgbClr val="9CA3AF"/>
                </a:solidFill>
                <a:latin typeface="SansSerif"/>
              </a:rPr>
              <a:t>DATABASES OVERVIEW</a:t>
            </a:r>
            <a:endParaRPr lang="en-US" sz="1300" b="1" i="0">
              <a:solidFill>
                <a:srgbClr val="9CA3AF"/>
              </a:solidFill>
              <a:latin typeface="SansSerif"/>
            </a:endParaRPr>
          </a:p>
        </p:txBody>
      </p:sp>
      <p:sp>
        <p:nvSpPr>
          <p:cNvPr id="31" name="TextBox 31"/>
          <p:cNvSpPr txBox="1"/>
          <p:nvPr/>
        </p:nvSpPr>
        <p:spPr>
          <a:xfrm>
            <a:off x="7112000" y="4533900"/>
            <a:ext cx="2310765" cy="240665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1300" b="1" i="0">
                <a:solidFill>
                  <a:srgbClr val="9CA3AF"/>
                </a:solidFill>
                <a:latin typeface="SansSerif"/>
              </a:rPr>
              <a:t>PERFORMANCE METRICS</a:t>
            </a:r>
            <a:endParaRPr lang="en-US" sz="1300" b="1" i="0">
              <a:solidFill>
                <a:srgbClr val="9CA3AF"/>
              </a:solidFill>
              <a:latin typeface="SansSerif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7366000" cy="9144000"/>
          </a:xfrm>
          <a:custGeom>
            <a:avLst/>
            <a:gdLst/>
            <a:ahLst/>
            <a:cxnLst/>
            <a:rect l="l" t="t" r="r" b="b"/>
            <a:pathLst>
              <a:path w="7366000" h="9144000">
                <a:moveTo>
                  <a:pt x="0" y="0"/>
                </a:moveTo>
                <a:lnTo>
                  <a:pt x="7366000" y="0"/>
                </a:lnTo>
                <a:lnTo>
                  <a:pt x="7366000" y="9144000"/>
                </a:lnTo>
                <a:lnTo>
                  <a:pt x="0" y="9144000"/>
                </a:lnTo>
                <a:lnTo>
                  <a:pt x="0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7366000" y="0"/>
            <a:ext cx="8890000" cy="9144000"/>
          </a:xfrm>
          <a:custGeom>
            <a:avLst/>
            <a:gdLst/>
            <a:ahLst/>
            <a:cxnLst/>
            <a:rect l="l" t="t" r="r" b="b"/>
            <a:pathLst>
              <a:path w="8890000" h="9144000">
                <a:moveTo>
                  <a:pt x="0" y="0"/>
                </a:moveTo>
                <a:lnTo>
                  <a:pt x="8890000" y="0"/>
                </a:lnTo>
                <a:lnTo>
                  <a:pt x="8890000" y="9144000"/>
                </a:lnTo>
                <a:lnTo>
                  <a:pt x="0" y="9144000"/>
                </a:lnTo>
                <a:lnTo>
                  <a:pt x="0" y="0"/>
                </a:lnTo>
                <a:close/>
              </a:path>
            </a:pathLst>
          </a:custGeom>
          <a:solidFill>
            <a:srgbClr val="F4F5F7"/>
          </a:solidFill>
          <a:ln>
            <a:noFill/>
          </a:ln>
        </p:spPr>
      </p:sp>
      <p:sp>
        <p:nvSpPr>
          <p:cNvPr id="4" name="Freeform 4"/>
          <p:cNvSpPr/>
          <p:nvPr/>
        </p:nvSpPr>
        <p:spPr>
          <a:xfrm>
            <a:off x="762000" y="3429000"/>
            <a:ext cx="508000" cy="0"/>
          </a:xfrm>
          <a:custGeom>
            <a:avLst/>
            <a:gdLst/>
            <a:ahLst/>
            <a:cxnLst/>
            <a:rect l="l" t="t" r="r" b="b"/>
            <a:pathLst>
              <a:path w="508000">
                <a:moveTo>
                  <a:pt x="0" y="0"/>
                </a:moveTo>
                <a:lnTo>
                  <a:pt x="508000" y="0"/>
                </a:lnTo>
              </a:path>
            </a:pathLst>
          </a:custGeom>
          <a:noFill/>
          <a:ln w="38100">
            <a:solidFill>
              <a:srgbClr val="3B5B78"/>
            </a:solidFill>
          </a:ln>
        </p:spPr>
      </p:sp>
      <p:sp>
        <p:nvSpPr>
          <p:cNvPr id="5" name="Freeform 5"/>
          <p:cNvSpPr/>
          <p:nvPr/>
        </p:nvSpPr>
        <p:spPr>
          <a:xfrm>
            <a:off x="762000" y="3962400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0" y="127000"/>
                </a:moveTo>
                <a:lnTo>
                  <a:pt x="0" y="381000"/>
                </a:lnTo>
                <a:cubicBezTo>
                  <a:pt x="0" y="451140"/>
                  <a:pt x="56860" y="508000"/>
                  <a:pt x="127000" y="508000"/>
                </a:cubicBezTo>
                <a:lnTo>
                  <a:pt x="381000" y="508000"/>
                </a:lnTo>
                <a:cubicBezTo>
                  <a:pt x="451140" y="508000"/>
                  <a:pt x="508000" y="451140"/>
                  <a:pt x="508000" y="381000"/>
                </a:cubicBezTo>
                <a:lnTo>
                  <a:pt x="508000" y="127000"/>
                </a:lnTo>
                <a:cubicBezTo>
                  <a:pt x="508000" y="56860"/>
                  <a:pt x="451140" y="0"/>
                  <a:pt x="381000" y="0"/>
                </a:cubicBezTo>
                <a:lnTo>
                  <a:pt x="127000" y="0"/>
                </a:lnTo>
                <a:cubicBezTo>
                  <a:pt x="56860" y="0"/>
                  <a:pt x="0" y="56860"/>
                  <a:pt x="0" y="127000"/>
                </a:cubicBezTo>
                <a:close/>
              </a:path>
            </a:pathLst>
          </a:custGeom>
          <a:solidFill>
            <a:srgbClr val="EBF0F2"/>
          </a:solidFill>
          <a:ln>
            <a:noFill/>
          </a:ln>
        </p:spPr>
      </p:sp>
      <p:sp>
        <p:nvSpPr>
          <p:cNvPr id="6" name="Freeform 6"/>
          <p:cNvSpPr/>
          <p:nvPr/>
        </p:nvSpPr>
        <p:spPr>
          <a:xfrm>
            <a:off x="901700" y="4114800"/>
            <a:ext cx="228600" cy="88900"/>
          </a:xfrm>
          <a:custGeom>
            <a:avLst/>
            <a:gdLst/>
            <a:ahLst/>
            <a:cxnLst/>
            <a:rect l="l" t="t" r="r" b="b"/>
            <a:pathLst>
              <a:path w="228600" h="88900">
                <a:moveTo>
                  <a:pt x="0" y="19050"/>
                </a:moveTo>
                <a:lnTo>
                  <a:pt x="0" y="69850"/>
                </a:lnTo>
                <a:cubicBezTo>
                  <a:pt x="0" y="80371"/>
                  <a:pt x="8529" y="88900"/>
                  <a:pt x="19050" y="88900"/>
                </a:cubicBezTo>
                <a:lnTo>
                  <a:pt x="209550" y="88900"/>
                </a:lnTo>
                <a:cubicBezTo>
                  <a:pt x="220071" y="88900"/>
                  <a:pt x="228600" y="80371"/>
                  <a:pt x="228600" y="69850"/>
                </a:cubicBezTo>
                <a:lnTo>
                  <a:pt x="228600" y="19050"/>
                </a:lnTo>
                <a:cubicBezTo>
                  <a:pt x="228600" y="8529"/>
                  <a:pt x="220071" y="0"/>
                  <a:pt x="209550" y="0"/>
                </a:cubicBezTo>
                <a:lnTo>
                  <a:pt x="19050" y="0"/>
                </a:lnTo>
                <a:cubicBezTo>
                  <a:pt x="8529" y="0"/>
                  <a:pt x="0" y="8529"/>
                  <a:pt x="0" y="19050"/>
                </a:cubicBezTo>
                <a:close/>
              </a:path>
            </a:pathLst>
          </a:custGeom>
          <a:noFill/>
          <a:ln w="19050">
            <a:solidFill>
              <a:srgbClr val="3B5B78"/>
            </a:solidFill>
          </a:ln>
        </p:spPr>
      </p:sp>
      <p:sp>
        <p:nvSpPr>
          <p:cNvPr id="7" name="Freeform 7"/>
          <p:cNvSpPr/>
          <p:nvPr/>
        </p:nvSpPr>
        <p:spPr>
          <a:xfrm>
            <a:off x="901700" y="4229100"/>
            <a:ext cx="228600" cy="88900"/>
          </a:xfrm>
          <a:custGeom>
            <a:avLst/>
            <a:gdLst/>
            <a:ahLst/>
            <a:cxnLst/>
            <a:rect l="l" t="t" r="r" b="b"/>
            <a:pathLst>
              <a:path w="228600" h="88900">
                <a:moveTo>
                  <a:pt x="0" y="19050"/>
                </a:moveTo>
                <a:lnTo>
                  <a:pt x="0" y="69850"/>
                </a:lnTo>
                <a:cubicBezTo>
                  <a:pt x="0" y="80371"/>
                  <a:pt x="8529" y="88900"/>
                  <a:pt x="19050" y="88900"/>
                </a:cubicBezTo>
                <a:lnTo>
                  <a:pt x="209550" y="88900"/>
                </a:lnTo>
                <a:cubicBezTo>
                  <a:pt x="220071" y="88900"/>
                  <a:pt x="228600" y="80371"/>
                  <a:pt x="228600" y="69850"/>
                </a:cubicBezTo>
                <a:lnTo>
                  <a:pt x="228600" y="19050"/>
                </a:lnTo>
                <a:cubicBezTo>
                  <a:pt x="228600" y="8529"/>
                  <a:pt x="220071" y="0"/>
                  <a:pt x="209550" y="0"/>
                </a:cubicBezTo>
                <a:lnTo>
                  <a:pt x="19050" y="0"/>
                </a:lnTo>
                <a:cubicBezTo>
                  <a:pt x="8529" y="0"/>
                  <a:pt x="0" y="8529"/>
                  <a:pt x="0" y="19050"/>
                </a:cubicBezTo>
                <a:close/>
              </a:path>
            </a:pathLst>
          </a:custGeom>
          <a:noFill/>
          <a:ln w="19050">
            <a:solidFill>
              <a:srgbClr val="3B5B78"/>
            </a:solidFill>
          </a:ln>
        </p:spPr>
      </p:sp>
      <p:sp>
        <p:nvSpPr>
          <p:cNvPr id="8" name="Freeform 8"/>
          <p:cNvSpPr/>
          <p:nvPr/>
        </p:nvSpPr>
        <p:spPr>
          <a:xfrm>
            <a:off x="933450" y="41402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8100" h="38100">
                <a:moveTo>
                  <a:pt x="38100" y="19050"/>
                </a:moveTo>
                <a:cubicBezTo>
                  <a:pt x="38100" y="29571"/>
                  <a:pt x="29571" y="38100"/>
                  <a:pt x="19050" y="38100"/>
                </a:cubicBezTo>
                <a:cubicBezTo>
                  <a:pt x="8529" y="38100"/>
                  <a:pt x="0" y="29571"/>
                  <a:pt x="0" y="19050"/>
                </a:cubicBezTo>
                <a:cubicBezTo>
                  <a:pt x="0" y="8529"/>
                  <a:pt x="8529" y="0"/>
                  <a:pt x="19050" y="0"/>
                </a:cubicBezTo>
                <a:cubicBezTo>
                  <a:pt x="29571" y="0"/>
                  <a:pt x="38100" y="8529"/>
                  <a:pt x="38100" y="19050"/>
                </a:cubicBezTo>
                <a:close/>
              </a:path>
            </a:pathLst>
          </a:custGeom>
          <a:solidFill>
            <a:srgbClr val="3B5B78"/>
          </a:solidFill>
          <a:ln>
            <a:noFill/>
          </a:ln>
        </p:spPr>
      </p:sp>
      <p:sp>
        <p:nvSpPr>
          <p:cNvPr id="9" name="Freeform 9"/>
          <p:cNvSpPr/>
          <p:nvPr/>
        </p:nvSpPr>
        <p:spPr>
          <a:xfrm>
            <a:off x="933450" y="425450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8100" h="38100">
                <a:moveTo>
                  <a:pt x="38100" y="19050"/>
                </a:moveTo>
                <a:cubicBezTo>
                  <a:pt x="38100" y="29571"/>
                  <a:pt x="29571" y="38100"/>
                  <a:pt x="19050" y="38100"/>
                </a:cubicBezTo>
                <a:cubicBezTo>
                  <a:pt x="8529" y="38100"/>
                  <a:pt x="0" y="29571"/>
                  <a:pt x="0" y="19050"/>
                </a:cubicBezTo>
                <a:cubicBezTo>
                  <a:pt x="0" y="8529"/>
                  <a:pt x="8529" y="0"/>
                  <a:pt x="19050" y="0"/>
                </a:cubicBezTo>
                <a:cubicBezTo>
                  <a:pt x="29571" y="0"/>
                  <a:pt x="38100" y="8529"/>
                  <a:pt x="38100" y="19050"/>
                </a:cubicBezTo>
                <a:close/>
              </a:path>
            </a:pathLst>
          </a:custGeom>
          <a:solidFill>
            <a:srgbClr val="3B5B78"/>
          </a:solidFill>
          <a:ln>
            <a:noFill/>
          </a:ln>
        </p:spPr>
      </p:sp>
      <p:sp>
        <p:nvSpPr>
          <p:cNvPr id="10" name="Freeform 10"/>
          <p:cNvSpPr/>
          <p:nvPr/>
        </p:nvSpPr>
        <p:spPr>
          <a:xfrm>
            <a:off x="762000" y="5486400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0" y="127000"/>
                </a:moveTo>
                <a:lnTo>
                  <a:pt x="0" y="381000"/>
                </a:lnTo>
                <a:cubicBezTo>
                  <a:pt x="0" y="451140"/>
                  <a:pt x="56860" y="508000"/>
                  <a:pt x="127000" y="508000"/>
                </a:cubicBezTo>
                <a:lnTo>
                  <a:pt x="381000" y="508000"/>
                </a:lnTo>
                <a:cubicBezTo>
                  <a:pt x="451140" y="508000"/>
                  <a:pt x="508000" y="451140"/>
                  <a:pt x="508000" y="381000"/>
                </a:cubicBezTo>
                <a:lnTo>
                  <a:pt x="508000" y="127000"/>
                </a:lnTo>
                <a:cubicBezTo>
                  <a:pt x="508000" y="56860"/>
                  <a:pt x="451140" y="0"/>
                  <a:pt x="381000" y="0"/>
                </a:cubicBezTo>
                <a:lnTo>
                  <a:pt x="127000" y="0"/>
                </a:lnTo>
                <a:cubicBezTo>
                  <a:pt x="56860" y="0"/>
                  <a:pt x="0" y="56860"/>
                  <a:pt x="0" y="127000"/>
                </a:cubicBezTo>
                <a:close/>
              </a:path>
            </a:pathLst>
          </a:custGeom>
          <a:solidFill>
            <a:srgbClr val="EBF0F2"/>
          </a:solidFill>
          <a:ln>
            <a:noFill/>
          </a:ln>
        </p:spPr>
      </p:sp>
      <p:sp>
        <p:nvSpPr>
          <p:cNvPr id="11" name="Freeform 11"/>
          <p:cNvSpPr/>
          <p:nvPr/>
        </p:nvSpPr>
        <p:spPr>
          <a:xfrm>
            <a:off x="889000" y="5651500"/>
            <a:ext cx="63500" cy="177800"/>
          </a:xfrm>
          <a:custGeom>
            <a:avLst/>
            <a:gdLst/>
            <a:ahLst/>
            <a:cxnLst/>
            <a:rect l="l" t="t" r="r" b="b"/>
            <a:pathLst>
              <a:path w="63500" h="177800">
                <a:moveTo>
                  <a:pt x="63500" y="0"/>
                </a:moveTo>
                <a:lnTo>
                  <a:pt x="0" y="88900"/>
                </a:lnTo>
                <a:lnTo>
                  <a:pt x="63500" y="177800"/>
                </a:lnTo>
              </a:path>
            </a:pathLst>
          </a:custGeom>
          <a:noFill/>
          <a:ln w="19050">
            <a:solidFill>
              <a:srgbClr val="3B5B78"/>
            </a:solidFill>
          </a:ln>
        </p:spPr>
      </p:sp>
      <p:sp>
        <p:nvSpPr>
          <p:cNvPr id="12" name="Freeform 12"/>
          <p:cNvSpPr/>
          <p:nvPr/>
        </p:nvSpPr>
        <p:spPr>
          <a:xfrm>
            <a:off x="1079500" y="5651500"/>
            <a:ext cx="63500" cy="177800"/>
          </a:xfrm>
          <a:custGeom>
            <a:avLst/>
            <a:gdLst/>
            <a:ahLst/>
            <a:cxnLst/>
            <a:rect l="l" t="t" r="r" b="b"/>
            <a:pathLst>
              <a:path w="63500" h="177800">
                <a:moveTo>
                  <a:pt x="0" y="0"/>
                </a:moveTo>
                <a:lnTo>
                  <a:pt x="63500" y="88900"/>
                </a:lnTo>
                <a:lnTo>
                  <a:pt x="0" y="177800"/>
                </a:lnTo>
              </a:path>
            </a:pathLst>
          </a:custGeom>
          <a:noFill/>
          <a:ln w="19050">
            <a:solidFill>
              <a:srgbClr val="3B5B78"/>
            </a:solidFill>
          </a:ln>
        </p:spPr>
      </p:sp>
      <p:sp>
        <p:nvSpPr>
          <p:cNvPr id="13" name="Freeform 13"/>
          <p:cNvSpPr/>
          <p:nvPr/>
        </p:nvSpPr>
        <p:spPr>
          <a:xfrm>
            <a:off x="990600" y="5638800"/>
            <a:ext cx="50800" cy="203200"/>
          </a:xfrm>
          <a:custGeom>
            <a:avLst/>
            <a:gdLst/>
            <a:ahLst/>
            <a:cxnLst/>
            <a:rect l="l" t="t" r="r" b="b"/>
            <a:pathLst>
              <a:path w="50800" h="203200">
                <a:moveTo>
                  <a:pt x="50800" y="0"/>
                </a:moveTo>
                <a:lnTo>
                  <a:pt x="0" y="203200"/>
                </a:lnTo>
              </a:path>
            </a:pathLst>
          </a:custGeom>
          <a:noFill/>
          <a:ln w="19050">
            <a:solidFill>
              <a:srgbClr val="3B5B78"/>
            </a:solidFill>
          </a:ln>
        </p:spPr>
      </p:sp>
      <p:sp>
        <p:nvSpPr>
          <p:cNvPr id="14" name="Freeform 14"/>
          <p:cNvSpPr/>
          <p:nvPr/>
        </p:nvSpPr>
        <p:spPr>
          <a:xfrm>
            <a:off x="762000" y="7010400"/>
            <a:ext cx="508000" cy="508000"/>
          </a:xfrm>
          <a:custGeom>
            <a:avLst/>
            <a:gdLst/>
            <a:ahLst/>
            <a:cxnLst/>
            <a:rect l="l" t="t" r="r" b="b"/>
            <a:pathLst>
              <a:path w="508000" h="508000">
                <a:moveTo>
                  <a:pt x="0" y="127000"/>
                </a:moveTo>
                <a:lnTo>
                  <a:pt x="0" y="381000"/>
                </a:lnTo>
                <a:cubicBezTo>
                  <a:pt x="0" y="451140"/>
                  <a:pt x="56860" y="508000"/>
                  <a:pt x="127000" y="508000"/>
                </a:cubicBezTo>
                <a:lnTo>
                  <a:pt x="381000" y="508000"/>
                </a:lnTo>
                <a:cubicBezTo>
                  <a:pt x="451140" y="508000"/>
                  <a:pt x="508000" y="451140"/>
                  <a:pt x="508000" y="381000"/>
                </a:cubicBezTo>
                <a:lnTo>
                  <a:pt x="508000" y="127000"/>
                </a:lnTo>
                <a:cubicBezTo>
                  <a:pt x="508000" y="56860"/>
                  <a:pt x="451140" y="0"/>
                  <a:pt x="381000" y="0"/>
                </a:cubicBezTo>
                <a:lnTo>
                  <a:pt x="127000" y="0"/>
                </a:lnTo>
                <a:cubicBezTo>
                  <a:pt x="56860" y="0"/>
                  <a:pt x="0" y="56860"/>
                  <a:pt x="0" y="127000"/>
                </a:cubicBezTo>
                <a:close/>
              </a:path>
            </a:pathLst>
          </a:custGeom>
          <a:solidFill>
            <a:srgbClr val="EBF0F2"/>
          </a:solidFill>
          <a:ln>
            <a:noFill/>
          </a:ln>
        </p:spPr>
      </p:sp>
      <p:sp>
        <p:nvSpPr>
          <p:cNvPr id="15" name="Freeform 15"/>
          <p:cNvSpPr/>
          <p:nvPr/>
        </p:nvSpPr>
        <p:spPr>
          <a:xfrm>
            <a:off x="889000" y="7175500"/>
            <a:ext cx="266700" cy="177800"/>
          </a:xfrm>
          <a:custGeom>
            <a:avLst/>
            <a:gdLst/>
            <a:ahLst/>
            <a:cxnLst/>
            <a:rect l="l" t="t" r="r" b="b"/>
            <a:pathLst>
              <a:path w="266700" h="177800">
                <a:moveTo>
                  <a:pt x="0" y="88900"/>
                </a:moveTo>
                <a:lnTo>
                  <a:pt x="63500" y="88900"/>
                </a:lnTo>
                <a:lnTo>
                  <a:pt x="114300" y="0"/>
                </a:lnTo>
                <a:lnTo>
                  <a:pt x="177800" y="177800"/>
                </a:lnTo>
                <a:lnTo>
                  <a:pt x="228600" y="88900"/>
                </a:lnTo>
                <a:lnTo>
                  <a:pt x="266700" y="88900"/>
                </a:lnTo>
              </a:path>
            </a:pathLst>
          </a:custGeom>
          <a:noFill/>
          <a:ln w="19050">
            <a:solidFill>
              <a:srgbClr val="3B5B78"/>
            </a:solidFill>
          </a:ln>
        </p:spPr>
      </p:sp>
      <p:sp>
        <p:nvSpPr>
          <p:cNvPr id="16" name="Freeform 16"/>
          <p:cNvSpPr/>
          <p:nvPr/>
        </p:nvSpPr>
        <p:spPr>
          <a:xfrm>
            <a:off x="742950" y="836295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8100" h="38100">
                <a:moveTo>
                  <a:pt x="38100" y="19050"/>
                </a:moveTo>
                <a:cubicBezTo>
                  <a:pt x="38100" y="29571"/>
                  <a:pt x="29571" y="38100"/>
                  <a:pt x="19050" y="38100"/>
                </a:cubicBezTo>
                <a:cubicBezTo>
                  <a:pt x="8529" y="38100"/>
                  <a:pt x="0" y="29571"/>
                  <a:pt x="0" y="19050"/>
                </a:cubicBezTo>
                <a:cubicBezTo>
                  <a:pt x="0" y="8529"/>
                  <a:pt x="8529" y="0"/>
                  <a:pt x="19050" y="0"/>
                </a:cubicBezTo>
                <a:cubicBezTo>
                  <a:pt x="29571" y="0"/>
                  <a:pt x="38100" y="8529"/>
                  <a:pt x="38100" y="19050"/>
                </a:cubicBezTo>
                <a:close/>
              </a:path>
            </a:pathLst>
          </a:custGeom>
          <a:solidFill>
            <a:srgbClr val="3B5B78">
              <a:alpha val="40000"/>
            </a:srgbClr>
          </a:solidFill>
          <a:ln>
            <a:noFill/>
          </a:ln>
        </p:spPr>
      </p:sp>
      <p:sp>
        <p:nvSpPr>
          <p:cNvPr id="17" name="Freeform 17"/>
          <p:cNvSpPr/>
          <p:nvPr/>
        </p:nvSpPr>
        <p:spPr>
          <a:xfrm>
            <a:off x="844550" y="836295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8100" h="38100">
                <a:moveTo>
                  <a:pt x="38100" y="19050"/>
                </a:moveTo>
                <a:cubicBezTo>
                  <a:pt x="38100" y="29571"/>
                  <a:pt x="29571" y="38100"/>
                  <a:pt x="19050" y="38100"/>
                </a:cubicBezTo>
                <a:cubicBezTo>
                  <a:pt x="8529" y="38100"/>
                  <a:pt x="0" y="29571"/>
                  <a:pt x="0" y="19050"/>
                </a:cubicBezTo>
                <a:cubicBezTo>
                  <a:pt x="0" y="8529"/>
                  <a:pt x="8529" y="0"/>
                  <a:pt x="19050" y="0"/>
                </a:cubicBezTo>
                <a:cubicBezTo>
                  <a:pt x="29571" y="0"/>
                  <a:pt x="38100" y="8529"/>
                  <a:pt x="38100" y="19050"/>
                </a:cubicBezTo>
                <a:close/>
              </a:path>
            </a:pathLst>
          </a:custGeom>
          <a:solidFill>
            <a:srgbClr val="3B5B78">
              <a:alpha val="40000"/>
            </a:srgbClr>
          </a:solidFill>
          <a:ln>
            <a:noFill/>
          </a:ln>
        </p:spPr>
      </p:sp>
      <p:sp>
        <p:nvSpPr>
          <p:cNvPr id="18" name="Freeform 18"/>
          <p:cNvSpPr/>
          <p:nvPr/>
        </p:nvSpPr>
        <p:spPr>
          <a:xfrm>
            <a:off x="946150" y="836295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8100" h="38100">
                <a:moveTo>
                  <a:pt x="38100" y="19050"/>
                </a:moveTo>
                <a:cubicBezTo>
                  <a:pt x="38100" y="29571"/>
                  <a:pt x="29571" y="38100"/>
                  <a:pt x="19050" y="38100"/>
                </a:cubicBezTo>
                <a:cubicBezTo>
                  <a:pt x="8529" y="38100"/>
                  <a:pt x="0" y="29571"/>
                  <a:pt x="0" y="19050"/>
                </a:cubicBezTo>
                <a:cubicBezTo>
                  <a:pt x="0" y="8529"/>
                  <a:pt x="8529" y="0"/>
                  <a:pt x="19050" y="0"/>
                </a:cubicBezTo>
                <a:cubicBezTo>
                  <a:pt x="29571" y="0"/>
                  <a:pt x="38100" y="8529"/>
                  <a:pt x="38100" y="19050"/>
                </a:cubicBezTo>
                <a:close/>
              </a:path>
            </a:pathLst>
          </a:custGeom>
          <a:solidFill>
            <a:srgbClr val="3B5B78">
              <a:alpha val="40000"/>
            </a:srgbClr>
          </a:solidFill>
          <a:ln>
            <a:noFill/>
          </a:ln>
        </p:spPr>
      </p:sp>
      <p:sp>
        <p:nvSpPr>
          <p:cNvPr id="19" name="Freeform 19"/>
          <p:cNvSpPr/>
          <p:nvPr/>
        </p:nvSpPr>
        <p:spPr>
          <a:xfrm>
            <a:off x="1047750" y="836295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8100" h="38100">
                <a:moveTo>
                  <a:pt x="38100" y="19050"/>
                </a:moveTo>
                <a:cubicBezTo>
                  <a:pt x="38100" y="29571"/>
                  <a:pt x="29571" y="38100"/>
                  <a:pt x="19050" y="38100"/>
                </a:cubicBezTo>
                <a:cubicBezTo>
                  <a:pt x="8529" y="38100"/>
                  <a:pt x="0" y="29571"/>
                  <a:pt x="0" y="19050"/>
                </a:cubicBezTo>
                <a:cubicBezTo>
                  <a:pt x="0" y="8529"/>
                  <a:pt x="8529" y="0"/>
                  <a:pt x="19050" y="0"/>
                </a:cubicBezTo>
                <a:cubicBezTo>
                  <a:pt x="29571" y="0"/>
                  <a:pt x="38100" y="8529"/>
                  <a:pt x="38100" y="19050"/>
                </a:cubicBezTo>
                <a:close/>
              </a:path>
            </a:pathLst>
          </a:custGeom>
          <a:solidFill>
            <a:srgbClr val="3B5B78">
              <a:alpha val="40000"/>
            </a:srgbClr>
          </a:solidFill>
          <a:ln>
            <a:noFill/>
          </a:ln>
        </p:spPr>
      </p:sp>
      <p:sp>
        <p:nvSpPr>
          <p:cNvPr id="20" name="Freeform 20"/>
          <p:cNvSpPr/>
          <p:nvPr/>
        </p:nvSpPr>
        <p:spPr>
          <a:xfrm>
            <a:off x="742950" y="846455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8100" h="38100">
                <a:moveTo>
                  <a:pt x="38100" y="19050"/>
                </a:moveTo>
                <a:cubicBezTo>
                  <a:pt x="38100" y="29571"/>
                  <a:pt x="29571" y="38100"/>
                  <a:pt x="19050" y="38100"/>
                </a:cubicBezTo>
                <a:cubicBezTo>
                  <a:pt x="8529" y="38100"/>
                  <a:pt x="0" y="29571"/>
                  <a:pt x="0" y="19050"/>
                </a:cubicBezTo>
                <a:cubicBezTo>
                  <a:pt x="0" y="8529"/>
                  <a:pt x="8529" y="0"/>
                  <a:pt x="19050" y="0"/>
                </a:cubicBezTo>
                <a:cubicBezTo>
                  <a:pt x="29571" y="0"/>
                  <a:pt x="38100" y="8529"/>
                  <a:pt x="38100" y="19050"/>
                </a:cubicBezTo>
                <a:close/>
              </a:path>
            </a:pathLst>
          </a:custGeom>
          <a:solidFill>
            <a:srgbClr val="3B5B78">
              <a:alpha val="40000"/>
            </a:srgbClr>
          </a:solidFill>
          <a:ln>
            <a:noFill/>
          </a:ln>
        </p:spPr>
      </p:sp>
      <p:sp>
        <p:nvSpPr>
          <p:cNvPr id="21" name="Freeform 21"/>
          <p:cNvSpPr/>
          <p:nvPr/>
        </p:nvSpPr>
        <p:spPr>
          <a:xfrm>
            <a:off x="844550" y="846455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8100" h="38100">
                <a:moveTo>
                  <a:pt x="38100" y="19050"/>
                </a:moveTo>
                <a:cubicBezTo>
                  <a:pt x="38100" y="29571"/>
                  <a:pt x="29571" y="38100"/>
                  <a:pt x="19050" y="38100"/>
                </a:cubicBezTo>
                <a:cubicBezTo>
                  <a:pt x="8529" y="38100"/>
                  <a:pt x="0" y="29571"/>
                  <a:pt x="0" y="19050"/>
                </a:cubicBezTo>
                <a:cubicBezTo>
                  <a:pt x="0" y="8529"/>
                  <a:pt x="8529" y="0"/>
                  <a:pt x="19050" y="0"/>
                </a:cubicBezTo>
                <a:cubicBezTo>
                  <a:pt x="29571" y="0"/>
                  <a:pt x="38100" y="8529"/>
                  <a:pt x="38100" y="19050"/>
                </a:cubicBezTo>
                <a:close/>
              </a:path>
            </a:pathLst>
          </a:custGeom>
          <a:solidFill>
            <a:srgbClr val="3B5B78">
              <a:alpha val="40000"/>
            </a:srgbClr>
          </a:solidFill>
          <a:ln>
            <a:noFill/>
          </a:ln>
        </p:spPr>
      </p:sp>
      <p:sp>
        <p:nvSpPr>
          <p:cNvPr id="22" name="Freeform 22"/>
          <p:cNvSpPr/>
          <p:nvPr/>
        </p:nvSpPr>
        <p:spPr>
          <a:xfrm>
            <a:off x="946150" y="846455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8100" h="38100">
                <a:moveTo>
                  <a:pt x="38100" y="19050"/>
                </a:moveTo>
                <a:cubicBezTo>
                  <a:pt x="38100" y="29571"/>
                  <a:pt x="29571" y="38100"/>
                  <a:pt x="19050" y="38100"/>
                </a:cubicBezTo>
                <a:cubicBezTo>
                  <a:pt x="8529" y="38100"/>
                  <a:pt x="0" y="29571"/>
                  <a:pt x="0" y="19050"/>
                </a:cubicBezTo>
                <a:cubicBezTo>
                  <a:pt x="0" y="8529"/>
                  <a:pt x="8529" y="0"/>
                  <a:pt x="19050" y="0"/>
                </a:cubicBezTo>
                <a:cubicBezTo>
                  <a:pt x="29571" y="0"/>
                  <a:pt x="38100" y="8529"/>
                  <a:pt x="38100" y="19050"/>
                </a:cubicBezTo>
                <a:close/>
              </a:path>
            </a:pathLst>
          </a:custGeom>
          <a:solidFill>
            <a:srgbClr val="3B5B78">
              <a:alpha val="40000"/>
            </a:srgbClr>
          </a:solidFill>
          <a:ln>
            <a:noFill/>
          </a:ln>
        </p:spPr>
      </p:sp>
      <p:sp>
        <p:nvSpPr>
          <p:cNvPr id="23" name="Freeform 23"/>
          <p:cNvSpPr/>
          <p:nvPr/>
        </p:nvSpPr>
        <p:spPr>
          <a:xfrm>
            <a:off x="1047750" y="846455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8100" h="38100">
                <a:moveTo>
                  <a:pt x="38100" y="19050"/>
                </a:moveTo>
                <a:cubicBezTo>
                  <a:pt x="38100" y="29571"/>
                  <a:pt x="29571" y="38100"/>
                  <a:pt x="19050" y="38100"/>
                </a:cubicBezTo>
                <a:cubicBezTo>
                  <a:pt x="8529" y="38100"/>
                  <a:pt x="0" y="29571"/>
                  <a:pt x="0" y="19050"/>
                </a:cubicBezTo>
                <a:cubicBezTo>
                  <a:pt x="0" y="8529"/>
                  <a:pt x="8529" y="0"/>
                  <a:pt x="19050" y="0"/>
                </a:cubicBezTo>
                <a:cubicBezTo>
                  <a:pt x="29571" y="0"/>
                  <a:pt x="38100" y="8529"/>
                  <a:pt x="38100" y="19050"/>
                </a:cubicBezTo>
                <a:close/>
              </a:path>
            </a:pathLst>
          </a:custGeom>
          <a:solidFill>
            <a:srgbClr val="3B5B78">
              <a:alpha val="40000"/>
            </a:srgbClr>
          </a:solidFill>
          <a:ln>
            <a:noFill/>
          </a:ln>
        </p:spPr>
      </p:sp>
      <p:pic>
        <p:nvPicPr>
          <p:cNvPr id="24" name="Picture 2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28000" y="812800"/>
            <a:ext cx="7366000" cy="3594100"/>
          </a:xfrm>
          <a:prstGeom prst="rect">
            <a:avLst/>
          </a:prstGeom>
        </p:spPr>
      </p:pic>
      <p:sp>
        <p:nvSpPr>
          <p:cNvPr id="25" name="Freeform 25"/>
          <p:cNvSpPr/>
          <p:nvPr/>
        </p:nvSpPr>
        <p:spPr>
          <a:xfrm>
            <a:off x="8255000" y="889000"/>
            <a:ext cx="7112000" cy="3340100"/>
          </a:xfrm>
          <a:custGeom>
            <a:avLst/>
            <a:gdLst/>
            <a:ahLst/>
            <a:cxnLst/>
            <a:rect l="l" t="t" r="r" b="b"/>
            <a:pathLst>
              <a:path w="7112000" h="3340100">
                <a:moveTo>
                  <a:pt x="0" y="152400"/>
                </a:moveTo>
                <a:lnTo>
                  <a:pt x="0" y="3187700"/>
                </a:lnTo>
                <a:cubicBezTo>
                  <a:pt x="0" y="3271868"/>
                  <a:pt x="68232" y="3340100"/>
                  <a:pt x="152400" y="3340100"/>
                </a:cubicBezTo>
                <a:lnTo>
                  <a:pt x="6959600" y="3340100"/>
                </a:lnTo>
                <a:cubicBezTo>
                  <a:pt x="7043768" y="3340100"/>
                  <a:pt x="7112000" y="3271868"/>
                  <a:pt x="7112000" y="3187700"/>
                </a:cubicBezTo>
                <a:lnTo>
                  <a:pt x="7112000" y="152400"/>
                </a:lnTo>
                <a:cubicBezTo>
                  <a:pt x="7112000" y="68232"/>
                  <a:pt x="7043768" y="0"/>
                  <a:pt x="6959600" y="0"/>
                </a:cubicBezTo>
                <a:lnTo>
                  <a:pt x="152400" y="0"/>
                </a:lnTo>
                <a:cubicBezTo>
                  <a:pt x="68232" y="0"/>
                  <a:pt x="0" y="68232"/>
                  <a:pt x="0" y="15240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</p:sp>
      <p:pic>
        <p:nvPicPr>
          <p:cNvPr id="26" name="Picture 2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2300" y="876300"/>
            <a:ext cx="7137400" cy="3365500"/>
          </a:xfrm>
          <a:prstGeom prst="rect">
            <a:avLst/>
          </a:prstGeom>
        </p:spPr>
      </p:pic>
      <p:sp>
        <p:nvSpPr>
          <p:cNvPr id="27" name="Freeform 27"/>
          <p:cNvSpPr/>
          <p:nvPr/>
        </p:nvSpPr>
        <p:spPr>
          <a:xfrm>
            <a:off x="8509000" y="3721100"/>
            <a:ext cx="2095500" cy="304800"/>
          </a:xfrm>
          <a:custGeom>
            <a:avLst/>
            <a:gdLst/>
            <a:ahLst/>
            <a:cxnLst/>
            <a:rect l="l" t="t" r="r" b="b"/>
            <a:pathLst>
              <a:path w="2095500" h="304800">
                <a:moveTo>
                  <a:pt x="0" y="152400"/>
                </a:moveTo>
                <a:lnTo>
                  <a:pt x="0" y="152400"/>
                </a:lnTo>
                <a:cubicBezTo>
                  <a:pt x="0" y="236568"/>
                  <a:pt x="68232" y="304800"/>
                  <a:pt x="152400" y="304800"/>
                </a:cubicBezTo>
                <a:lnTo>
                  <a:pt x="1943100" y="304800"/>
                </a:lnTo>
                <a:cubicBezTo>
                  <a:pt x="2027268" y="304800"/>
                  <a:pt x="2095500" y="236568"/>
                  <a:pt x="2095500" y="152400"/>
                </a:cubicBezTo>
                <a:lnTo>
                  <a:pt x="2095500" y="152400"/>
                </a:lnTo>
                <a:cubicBezTo>
                  <a:pt x="2095500" y="68232"/>
                  <a:pt x="2027268" y="0"/>
                  <a:pt x="1943100" y="0"/>
                </a:cubicBezTo>
                <a:lnTo>
                  <a:pt x="152400" y="0"/>
                </a:lnTo>
                <a:cubicBezTo>
                  <a:pt x="68232" y="0"/>
                  <a:pt x="0" y="68232"/>
                  <a:pt x="0" y="152400"/>
                </a:cubicBezTo>
                <a:close/>
              </a:path>
            </a:pathLst>
          </a:custGeom>
          <a:solidFill>
            <a:srgbClr val="FFFFFF">
              <a:alpha val="90196"/>
            </a:srgbClr>
          </a:solidFill>
          <a:ln>
            <a:noFill/>
          </a:ln>
        </p:spPr>
      </p:sp>
      <p:sp>
        <p:nvSpPr>
          <p:cNvPr id="28" name="Freeform 28"/>
          <p:cNvSpPr/>
          <p:nvPr/>
        </p:nvSpPr>
        <p:spPr>
          <a:xfrm>
            <a:off x="8636000" y="3822700"/>
            <a:ext cx="101600" cy="101600"/>
          </a:xfrm>
          <a:custGeom>
            <a:avLst/>
            <a:gdLst/>
            <a:ahLst/>
            <a:cxnLst/>
            <a:rect l="l" t="t" r="r" b="b"/>
            <a:pathLst>
              <a:path w="101600" h="101600">
                <a:moveTo>
                  <a:pt x="101600" y="50800"/>
                </a:moveTo>
                <a:cubicBezTo>
                  <a:pt x="101600" y="78856"/>
                  <a:pt x="78856" y="101600"/>
                  <a:pt x="50800" y="101600"/>
                </a:cubicBezTo>
                <a:cubicBezTo>
                  <a:pt x="22744" y="101600"/>
                  <a:pt x="0" y="78856"/>
                  <a:pt x="0" y="50800"/>
                </a:cubicBezTo>
                <a:cubicBezTo>
                  <a:pt x="0" y="22744"/>
                  <a:pt x="22744" y="0"/>
                  <a:pt x="50800" y="0"/>
                </a:cubicBezTo>
                <a:cubicBezTo>
                  <a:pt x="78856" y="0"/>
                  <a:pt x="101600" y="22744"/>
                  <a:pt x="101600" y="50800"/>
                </a:cubicBezTo>
                <a:close/>
              </a:path>
            </a:pathLst>
          </a:custGeom>
          <a:solidFill>
            <a:srgbClr val="2E5C55"/>
          </a:solidFill>
          <a:ln>
            <a:noFill/>
          </a:ln>
        </p:spPr>
      </p:sp>
      <p:pic>
        <p:nvPicPr>
          <p:cNvPr id="29" name="Picture 29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28000" y="4838700"/>
            <a:ext cx="7366000" cy="3594100"/>
          </a:xfrm>
          <a:prstGeom prst="rect">
            <a:avLst/>
          </a:prstGeom>
        </p:spPr>
      </p:pic>
      <p:sp>
        <p:nvSpPr>
          <p:cNvPr id="30" name="Freeform 30"/>
          <p:cNvSpPr/>
          <p:nvPr/>
        </p:nvSpPr>
        <p:spPr>
          <a:xfrm>
            <a:off x="8255000" y="4914900"/>
            <a:ext cx="7112000" cy="3340100"/>
          </a:xfrm>
          <a:custGeom>
            <a:avLst/>
            <a:gdLst/>
            <a:ahLst/>
            <a:cxnLst/>
            <a:rect l="l" t="t" r="r" b="b"/>
            <a:pathLst>
              <a:path w="7112000" h="3340100">
                <a:moveTo>
                  <a:pt x="0" y="152400"/>
                </a:moveTo>
                <a:lnTo>
                  <a:pt x="0" y="3187700"/>
                </a:lnTo>
                <a:cubicBezTo>
                  <a:pt x="0" y="3271868"/>
                  <a:pt x="68232" y="3340100"/>
                  <a:pt x="152400" y="3340100"/>
                </a:cubicBezTo>
                <a:lnTo>
                  <a:pt x="6959600" y="3340100"/>
                </a:lnTo>
                <a:cubicBezTo>
                  <a:pt x="7043768" y="3340100"/>
                  <a:pt x="7112000" y="3271868"/>
                  <a:pt x="7112000" y="3187700"/>
                </a:cubicBezTo>
                <a:lnTo>
                  <a:pt x="7112000" y="152400"/>
                </a:lnTo>
                <a:cubicBezTo>
                  <a:pt x="7112000" y="68232"/>
                  <a:pt x="7043768" y="0"/>
                  <a:pt x="6959600" y="0"/>
                </a:cubicBezTo>
                <a:lnTo>
                  <a:pt x="152400" y="0"/>
                </a:lnTo>
                <a:cubicBezTo>
                  <a:pt x="68232" y="0"/>
                  <a:pt x="0" y="68232"/>
                  <a:pt x="0" y="15240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</p:sp>
      <p:pic>
        <p:nvPicPr>
          <p:cNvPr id="31" name="Picture 3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2300" y="4902200"/>
            <a:ext cx="7137400" cy="3365500"/>
          </a:xfrm>
          <a:prstGeom prst="rect">
            <a:avLst/>
          </a:prstGeom>
        </p:spPr>
      </p:pic>
      <p:sp>
        <p:nvSpPr>
          <p:cNvPr id="32" name="Freeform 32"/>
          <p:cNvSpPr/>
          <p:nvPr/>
        </p:nvSpPr>
        <p:spPr>
          <a:xfrm>
            <a:off x="8509000" y="7747000"/>
            <a:ext cx="2222500" cy="304800"/>
          </a:xfrm>
          <a:custGeom>
            <a:avLst/>
            <a:gdLst/>
            <a:ahLst/>
            <a:cxnLst/>
            <a:rect l="l" t="t" r="r" b="b"/>
            <a:pathLst>
              <a:path w="2222500" h="304800">
                <a:moveTo>
                  <a:pt x="0" y="152400"/>
                </a:moveTo>
                <a:lnTo>
                  <a:pt x="0" y="152400"/>
                </a:lnTo>
                <a:cubicBezTo>
                  <a:pt x="0" y="236568"/>
                  <a:pt x="68232" y="304800"/>
                  <a:pt x="152400" y="304800"/>
                </a:cubicBezTo>
                <a:lnTo>
                  <a:pt x="2070100" y="304800"/>
                </a:lnTo>
                <a:cubicBezTo>
                  <a:pt x="2154268" y="304800"/>
                  <a:pt x="2222500" y="236568"/>
                  <a:pt x="2222500" y="152400"/>
                </a:cubicBezTo>
                <a:lnTo>
                  <a:pt x="2222500" y="152400"/>
                </a:lnTo>
                <a:cubicBezTo>
                  <a:pt x="2222500" y="68232"/>
                  <a:pt x="2154268" y="0"/>
                  <a:pt x="2070100" y="0"/>
                </a:cubicBezTo>
                <a:lnTo>
                  <a:pt x="152400" y="0"/>
                </a:lnTo>
                <a:cubicBezTo>
                  <a:pt x="68232" y="0"/>
                  <a:pt x="0" y="68232"/>
                  <a:pt x="0" y="152400"/>
                </a:cubicBezTo>
                <a:close/>
              </a:path>
            </a:pathLst>
          </a:custGeom>
          <a:solidFill>
            <a:srgbClr val="FFFFFF">
              <a:alpha val="90196"/>
            </a:srgbClr>
          </a:solidFill>
          <a:ln>
            <a:noFill/>
          </a:ln>
        </p:spPr>
      </p:sp>
      <p:sp>
        <p:nvSpPr>
          <p:cNvPr id="33" name="Freeform 33"/>
          <p:cNvSpPr/>
          <p:nvPr/>
        </p:nvSpPr>
        <p:spPr>
          <a:xfrm>
            <a:off x="8636000" y="7848600"/>
            <a:ext cx="101600" cy="101600"/>
          </a:xfrm>
          <a:custGeom>
            <a:avLst/>
            <a:gdLst/>
            <a:ahLst/>
            <a:cxnLst/>
            <a:rect l="l" t="t" r="r" b="b"/>
            <a:pathLst>
              <a:path w="101600" h="101600">
                <a:moveTo>
                  <a:pt x="101600" y="50800"/>
                </a:moveTo>
                <a:cubicBezTo>
                  <a:pt x="101600" y="78856"/>
                  <a:pt x="78856" y="101600"/>
                  <a:pt x="50800" y="101600"/>
                </a:cubicBezTo>
                <a:cubicBezTo>
                  <a:pt x="22744" y="101600"/>
                  <a:pt x="0" y="78856"/>
                  <a:pt x="0" y="50800"/>
                </a:cubicBezTo>
                <a:cubicBezTo>
                  <a:pt x="0" y="22744"/>
                  <a:pt x="22744" y="0"/>
                  <a:pt x="50800" y="0"/>
                </a:cubicBezTo>
                <a:cubicBezTo>
                  <a:pt x="78856" y="0"/>
                  <a:pt x="101600" y="22744"/>
                  <a:pt x="101600" y="50800"/>
                </a:cubicBezTo>
                <a:close/>
              </a:path>
            </a:pathLst>
          </a:custGeom>
          <a:solidFill>
            <a:srgbClr val="2E5C55"/>
          </a:solidFill>
          <a:ln>
            <a:noFill/>
          </a:ln>
        </p:spPr>
      </p:sp>
      <p:sp>
        <p:nvSpPr>
          <p:cNvPr id="34" name="TextBox 34"/>
          <p:cNvSpPr txBox="1"/>
          <p:nvPr/>
        </p:nvSpPr>
        <p:spPr>
          <a:xfrm>
            <a:off x="762000" y="990600"/>
            <a:ext cx="2867660" cy="21336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1200" b="1" i="0">
                <a:solidFill>
                  <a:srgbClr val="3B5B78"/>
                </a:solidFill>
                <a:latin typeface="SansSerif"/>
              </a:rPr>
              <a:t>CLOUD HOSTING &amp; DEPLOYMENT</a:t>
            </a:r>
            <a:endParaRPr lang="en-US" sz="1200" b="1" i="0">
              <a:solidFill>
                <a:srgbClr val="3B5B78"/>
              </a:solidFill>
              <a:latin typeface="SansSerif"/>
            </a:endParaRPr>
          </a:p>
        </p:txBody>
      </p:sp>
      <p:sp>
        <p:nvSpPr>
          <p:cNvPr id="35" name="TextBox 35"/>
          <p:cNvSpPr txBox="1"/>
          <p:nvPr/>
        </p:nvSpPr>
        <p:spPr>
          <a:xfrm>
            <a:off x="762000" y="1295400"/>
            <a:ext cx="6794500" cy="132080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pPr>
              <a:spcAft>
                <a:spcPct val="0"/>
              </a:spcAft>
            </a:pPr>
            <a:r>
              <a:rPr lang="en-US" sz="4000" b="1" i="0">
                <a:solidFill>
                  <a:srgbClr val="2C445C"/>
                </a:solidFill>
                <a:latin typeface="SansSerif"/>
              </a:rPr>
              <a:t>Cloud Architecture</a:t>
            </a:r>
            <a:endParaRPr lang="en-US" sz="4000" b="1" i="0">
              <a:solidFill>
                <a:srgbClr val="2C445C"/>
              </a:solidFill>
              <a:latin typeface="SansSerif"/>
            </a:endParaRPr>
          </a:p>
          <a:p>
            <a:pPr>
              <a:spcBef>
                <a:spcPts val="200"/>
              </a:spcBef>
              <a:spcAft>
                <a:spcPct val="0"/>
              </a:spcAft>
            </a:pPr>
            <a:r>
              <a:rPr lang="en-US" sz="4000" b="1" i="0">
                <a:solidFill>
                  <a:srgbClr val="2C445C"/>
                </a:solidFill>
                <a:latin typeface="SansSerif"/>
              </a:rPr>
              <a:t>Deployment via Render</a:t>
            </a:r>
            <a:endParaRPr lang="en-US" sz="4000" b="1" i="0">
              <a:solidFill>
                <a:srgbClr val="2C445C"/>
              </a:solidFill>
              <a:latin typeface="SansSerif"/>
            </a:endParaRPr>
          </a:p>
        </p:txBody>
      </p:sp>
      <p:sp>
        <p:nvSpPr>
          <p:cNvPr id="36" name="TextBox 36"/>
          <p:cNvSpPr txBox="1"/>
          <p:nvPr/>
        </p:nvSpPr>
        <p:spPr>
          <a:xfrm>
            <a:off x="762000" y="2768600"/>
            <a:ext cx="6828790" cy="31369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1800" b="0" i="0">
                <a:solidFill>
                  <a:srgbClr val="666666"/>
                </a:solidFill>
                <a:latin typeface="SansSerif"/>
              </a:rPr>
              <a:t>Modern Lightweight, Automated &amp; High Availability Solution</a:t>
            </a:r>
            <a:endParaRPr lang="en-US" sz="1800" b="0" i="0">
              <a:solidFill>
                <a:srgbClr val="666666"/>
              </a:solidFill>
              <a:latin typeface="SansSerif"/>
            </a:endParaRPr>
          </a:p>
        </p:txBody>
      </p:sp>
      <p:sp>
        <p:nvSpPr>
          <p:cNvPr id="37" name="TextBox 37"/>
          <p:cNvSpPr txBox="1"/>
          <p:nvPr/>
        </p:nvSpPr>
        <p:spPr>
          <a:xfrm>
            <a:off x="1524000" y="3962400"/>
            <a:ext cx="3086100" cy="34290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2000" b="1" i="0">
                <a:solidFill>
                  <a:srgbClr val="2C445C"/>
                </a:solidFill>
                <a:latin typeface="SansSerif"/>
              </a:rPr>
              <a:t>Hosting Environment</a:t>
            </a:r>
            <a:endParaRPr lang="en-US" sz="2000" b="1" i="0">
              <a:solidFill>
                <a:srgbClr val="2C445C"/>
              </a:solidFill>
              <a:latin typeface="SansSerif"/>
            </a:endParaRPr>
          </a:p>
        </p:txBody>
      </p:sp>
      <p:sp>
        <p:nvSpPr>
          <p:cNvPr id="38" name="TextBox 38"/>
          <p:cNvSpPr txBox="1"/>
          <p:nvPr/>
        </p:nvSpPr>
        <p:spPr>
          <a:xfrm>
            <a:off x="1524000" y="4394200"/>
            <a:ext cx="4448175" cy="561975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pPr>
              <a:spcAft>
                <a:spcPct val="0"/>
              </a:spcAft>
            </a:pPr>
            <a:r>
              <a:rPr lang="en-US" sz="1500" b="0" i="0">
                <a:solidFill>
                  <a:srgbClr val="555555"/>
                </a:solidFill>
                <a:latin typeface="SansSerif"/>
              </a:rPr>
              <a:t>Utilize Render Free Tier (512MB RAM, 0.1 CPU)</a:t>
            </a:r>
            <a:endParaRPr lang="en-US" sz="1500" b="0" i="0">
              <a:solidFill>
                <a:srgbClr val="555555"/>
              </a:solidFill>
              <a:latin typeface="SansSerif"/>
            </a:endParaRPr>
          </a:p>
          <a:p>
            <a:pPr>
              <a:spcBef>
                <a:spcPts val="600"/>
              </a:spcBef>
              <a:spcAft>
                <a:spcPct val="0"/>
              </a:spcAft>
            </a:pPr>
            <a:r>
              <a:rPr lang="en-US" sz="1500" b="0" i="0">
                <a:solidFill>
                  <a:srgbClr val="555555"/>
                </a:solidFill>
                <a:latin typeface="SansSerif"/>
              </a:rPr>
              <a:t>for efficient, low-cost project operation.</a:t>
            </a:r>
            <a:endParaRPr lang="en-US" sz="1500" b="0" i="0">
              <a:solidFill>
                <a:srgbClr val="555555"/>
              </a:solidFill>
              <a:latin typeface="SansSerif"/>
            </a:endParaRPr>
          </a:p>
        </p:txBody>
      </p:sp>
      <p:sp>
        <p:nvSpPr>
          <p:cNvPr id="39" name="TextBox 39"/>
          <p:cNvSpPr txBox="1"/>
          <p:nvPr/>
        </p:nvSpPr>
        <p:spPr>
          <a:xfrm>
            <a:off x="1524000" y="5486400"/>
            <a:ext cx="3479800" cy="34290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2000" b="1" i="0">
                <a:solidFill>
                  <a:srgbClr val="2C445C"/>
                </a:solidFill>
                <a:latin typeface="SansSerif"/>
              </a:rPr>
              <a:t>Automated Deployment</a:t>
            </a:r>
            <a:endParaRPr lang="en-US" sz="2000" b="1" i="0">
              <a:solidFill>
                <a:srgbClr val="2C445C"/>
              </a:solidFill>
              <a:latin typeface="SansSerif"/>
            </a:endParaRPr>
          </a:p>
        </p:txBody>
      </p:sp>
      <p:sp>
        <p:nvSpPr>
          <p:cNvPr id="40" name="TextBox 40"/>
          <p:cNvSpPr txBox="1"/>
          <p:nvPr/>
        </p:nvSpPr>
        <p:spPr>
          <a:xfrm>
            <a:off x="1524000" y="5918200"/>
            <a:ext cx="4359275" cy="561975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pPr>
              <a:spcAft>
                <a:spcPct val="0"/>
              </a:spcAft>
            </a:pPr>
            <a:r>
              <a:rPr lang="en-US" sz="1500" b="0" i="0">
                <a:solidFill>
                  <a:srgbClr val="555555"/>
                </a:solidFill>
                <a:latin typeface="SansSerif"/>
              </a:rPr>
              <a:t>Integrated with GitHub to trigger Docker builds</a:t>
            </a:r>
            <a:endParaRPr lang="en-US" sz="1500" b="0" i="0">
              <a:solidFill>
                <a:srgbClr val="555555"/>
              </a:solidFill>
              <a:latin typeface="SansSerif"/>
            </a:endParaRPr>
          </a:p>
          <a:p>
            <a:pPr>
              <a:spcBef>
                <a:spcPts val="600"/>
              </a:spcBef>
              <a:spcAft>
                <a:spcPct val="0"/>
              </a:spcAft>
            </a:pPr>
            <a:r>
              <a:rPr lang="en-US" sz="1500" b="0" i="0">
                <a:solidFill>
                  <a:srgbClr val="555555"/>
                </a:solidFill>
                <a:latin typeface="SansSerif"/>
              </a:rPr>
              <a:t>and deployments automatically on every push.</a:t>
            </a:r>
            <a:endParaRPr lang="en-US" sz="1500" b="0" i="0">
              <a:solidFill>
                <a:srgbClr val="555555"/>
              </a:solidFill>
              <a:latin typeface="SansSerif"/>
            </a:endParaRPr>
          </a:p>
        </p:txBody>
      </p:sp>
      <p:sp>
        <p:nvSpPr>
          <p:cNvPr id="41" name="TextBox 41"/>
          <p:cNvSpPr txBox="1"/>
          <p:nvPr/>
        </p:nvSpPr>
        <p:spPr>
          <a:xfrm>
            <a:off x="1524000" y="7010400"/>
            <a:ext cx="2413000" cy="34290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2000" b="1" i="0">
                <a:solidFill>
                  <a:srgbClr val="2C445C"/>
                </a:solidFill>
                <a:latin typeface="SansSerif"/>
              </a:rPr>
              <a:t>High Availability</a:t>
            </a:r>
            <a:endParaRPr lang="en-US" sz="2000" b="1" i="0">
              <a:solidFill>
                <a:srgbClr val="2C445C"/>
              </a:solidFill>
              <a:latin typeface="SansSerif"/>
            </a:endParaRPr>
          </a:p>
        </p:txBody>
      </p:sp>
      <p:sp>
        <p:nvSpPr>
          <p:cNvPr id="42" name="TextBox 42"/>
          <p:cNvSpPr txBox="1"/>
          <p:nvPr/>
        </p:nvSpPr>
        <p:spPr>
          <a:xfrm>
            <a:off x="1524000" y="7442200"/>
            <a:ext cx="4181475" cy="561975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pPr>
              <a:spcAft>
                <a:spcPct val="0"/>
              </a:spcAft>
            </a:pPr>
            <a:r>
              <a:rPr lang="en-US" sz="1500" b="0" i="0">
                <a:solidFill>
                  <a:srgbClr val="555555"/>
                </a:solidFill>
                <a:latin typeface="SansSerif"/>
              </a:rPr>
              <a:t>HTTP Health Check mechanisms to keep the</a:t>
            </a:r>
            <a:endParaRPr lang="en-US" sz="1500" b="0" i="0">
              <a:solidFill>
                <a:srgbClr val="555555"/>
              </a:solidFill>
              <a:latin typeface="SansSerif"/>
            </a:endParaRPr>
          </a:p>
          <a:p>
            <a:pPr>
              <a:spcBef>
                <a:spcPts val="600"/>
              </a:spcBef>
              <a:spcAft>
                <a:spcPct val="0"/>
              </a:spcAft>
            </a:pPr>
            <a:r>
              <a:rPr lang="en-US" sz="1500" b="0" i="0">
                <a:solidFill>
                  <a:srgbClr val="555555"/>
                </a:solidFill>
                <a:latin typeface="SansSerif"/>
              </a:rPr>
              <a:t>free instance active and prevent hibernation.</a:t>
            </a:r>
            <a:endParaRPr lang="en-US" sz="1500" b="0" i="0">
              <a:solidFill>
                <a:srgbClr val="555555"/>
              </a:solidFill>
              <a:latin typeface="SansSerif"/>
            </a:endParaRPr>
          </a:p>
        </p:txBody>
      </p:sp>
      <p:sp>
        <p:nvSpPr>
          <p:cNvPr id="43" name="TextBox 43"/>
          <p:cNvSpPr txBox="1"/>
          <p:nvPr/>
        </p:nvSpPr>
        <p:spPr>
          <a:xfrm>
            <a:off x="8839200" y="3778250"/>
            <a:ext cx="1953260" cy="21336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1200" b="0" i="0">
                <a:solidFill>
                  <a:srgbClr val="333333"/>
                </a:solidFill>
                <a:latin typeface="SansSerif"/>
              </a:rPr>
              <a:t>Render Service Overview</a:t>
            </a:r>
            <a:endParaRPr lang="en-US" sz="1200" b="0" i="0">
              <a:solidFill>
                <a:srgbClr val="333333"/>
              </a:solidFill>
              <a:latin typeface="SansSerif"/>
            </a:endParaRPr>
          </a:p>
        </p:txBody>
      </p:sp>
      <p:sp>
        <p:nvSpPr>
          <p:cNvPr id="44" name="TextBox 44"/>
          <p:cNvSpPr txBox="1"/>
          <p:nvPr/>
        </p:nvSpPr>
        <p:spPr>
          <a:xfrm>
            <a:off x="8839200" y="7804150"/>
            <a:ext cx="2245360" cy="21336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1200" b="0" i="0">
                <a:solidFill>
                  <a:srgbClr val="333333"/>
                </a:solidFill>
                <a:latin typeface="SansSerif"/>
              </a:rPr>
              <a:t>Real-time Logs &amp; Monitoring</a:t>
            </a:r>
            <a:endParaRPr lang="en-US" sz="1200" b="0" i="0">
              <a:solidFill>
                <a:srgbClr val="333333"/>
              </a:solidFill>
              <a:latin typeface="SansSerif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6256000" cy="9144000"/>
          </a:xfrm>
          <a:custGeom>
            <a:avLst/>
            <a:gdLst/>
            <a:ahLst/>
            <a:cxnLst/>
            <a:rect l="l" t="t" r="r" b="b"/>
            <a:pathLst>
              <a:path w="16256000" h="9144000">
                <a:moveTo>
                  <a:pt x="0" y="0"/>
                </a:moveTo>
                <a:lnTo>
                  <a:pt x="16256000" y="0"/>
                </a:lnTo>
                <a:lnTo>
                  <a:pt x="16256000" y="9144000"/>
                </a:lnTo>
                <a:lnTo>
                  <a:pt x="0" y="9144000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rgbClr val="F4F5F7"/>
              </a:gs>
              <a:gs pos="100000">
                <a:srgbClr val="EAECEF"/>
              </a:gs>
            </a:gsLst>
            <a:lin ang="2700000" scaled="1"/>
          </a:gra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2032000" y="0"/>
            <a:ext cx="0" cy="9144000"/>
          </a:xfrm>
          <a:custGeom>
            <a:avLst/>
            <a:gdLst/>
            <a:ahLst/>
            <a:cxnLst/>
            <a:rect l="l" t="t" r="r" b="b"/>
            <a:pathLst>
              <a:path h="9144000">
                <a:moveTo>
                  <a:pt x="0" y="0"/>
                </a:moveTo>
                <a:lnTo>
                  <a:pt x="0" y="9144000"/>
                </a:lnTo>
              </a:path>
            </a:pathLst>
          </a:custGeom>
          <a:noFill/>
          <a:ln w="12700">
            <a:solidFill>
              <a:srgbClr val="3B5B78">
                <a:alpha val="5882"/>
              </a:srgbClr>
            </a:solidFill>
          </a:ln>
        </p:spPr>
      </p:sp>
      <p:sp>
        <p:nvSpPr>
          <p:cNvPr id="4" name="Freeform 4"/>
          <p:cNvSpPr/>
          <p:nvPr/>
        </p:nvSpPr>
        <p:spPr>
          <a:xfrm>
            <a:off x="14224000" y="0"/>
            <a:ext cx="0" cy="9144000"/>
          </a:xfrm>
          <a:custGeom>
            <a:avLst/>
            <a:gdLst/>
            <a:ahLst/>
            <a:cxnLst/>
            <a:rect l="l" t="t" r="r" b="b"/>
            <a:pathLst>
              <a:path h="9144000">
                <a:moveTo>
                  <a:pt x="0" y="0"/>
                </a:moveTo>
                <a:lnTo>
                  <a:pt x="0" y="9144000"/>
                </a:lnTo>
              </a:path>
            </a:pathLst>
          </a:custGeom>
          <a:noFill/>
          <a:ln w="12700">
            <a:solidFill>
              <a:srgbClr val="3B5B78">
                <a:alpha val="5882"/>
              </a:srgbClr>
            </a:solidFill>
          </a:ln>
        </p:spPr>
      </p:sp>
      <p:sp>
        <p:nvSpPr>
          <p:cNvPr id="5" name="Freeform 5"/>
          <p:cNvSpPr/>
          <p:nvPr/>
        </p:nvSpPr>
        <p:spPr>
          <a:xfrm>
            <a:off x="0" y="7620000"/>
            <a:ext cx="16256000" cy="0"/>
          </a:xfrm>
          <a:custGeom>
            <a:avLst/>
            <a:gdLst/>
            <a:ahLst/>
            <a:cxnLst/>
            <a:rect l="l" t="t" r="r" b="b"/>
            <a:pathLst>
              <a:path w="16256000">
                <a:moveTo>
                  <a:pt x="0" y="0"/>
                </a:moveTo>
                <a:lnTo>
                  <a:pt x="16256000" y="0"/>
                </a:lnTo>
              </a:path>
            </a:pathLst>
          </a:custGeom>
          <a:noFill/>
          <a:ln w="12700">
            <a:solidFill>
              <a:srgbClr val="3B5B78">
                <a:alpha val="5882"/>
              </a:srgbClr>
            </a:solidFill>
          </a:ln>
        </p:spPr>
      </p:sp>
      <p:sp>
        <p:nvSpPr>
          <p:cNvPr id="6" name="Freeform 6"/>
          <p:cNvSpPr/>
          <p:nvPr/>
        </p:nvSpPr>
        <p:spPr>
          <a:xfrm>
            <a:off x="-3175000" y="-3810000"/>
            <a:ext cx="8890000" cy="8890000"/>
          </a:xfrm>
          <a:custGeom>
            <a:avLst/>
            <a:gdLst/>
            <a:ahLst/>
            <a:cxnLst/>
            <a:rect l="l" t="t" r="r" b="b"/>
            <a:pathLst>
              <a:path w="8890000" h="8890000">
                <a:moveTo>
                  <a:pt x="8890000" y="4445000"/>
                </a:moveTo>
                <a:cubicBezTo>
                  <a:pt x="8890000" y="6899906"/>
                  <a:pt x="6899906" y="8890000"/>
                  <a:pt x="4445000" y="8890000"/>
                </a:cubicBezTo>
                <a:cubicBezTo>
                  <a:pt x="1990094" y="8890000"/>
                  <a:pt x="0" y="6899906"/>
                  <a:pt x="0" y="4445000"/>
                </a:cubicBezTo>
                <a:cubicBezTo>
                  <a:pt x="0" y="1990094"/>
                  <a:pt x="1990094" y="0"/>
                  <a:pt x="4445000" y="0"/>
                </a:cubicBezTo>
                <a:cubicBezTo>
                  <a:pt x="6899906" y="0"/>
                  <a:pt x="8890000" y="1990094"/>
                  <a:pt x="8890000" y="4445000"/>
                </a:cubicBezTo>
                <a:close/>
              </a:path>
            </a:pathLst>
          </a:custGeom>
          <a:solidFill>
            <a:srgbClr val="E5D9C5">
              <a:alpha val="14902"/>
            </a:srgbClr>
          </a:solidFill>
          <a:ln>
            <a:noFill/>
          </a:ln>
        </p:spPr>
      </p:sp>
      <p:sp>
        <p:nvSpPr>
          <p:cNvPr id="7" name="Freeform 7"/>
          <p:cNvSpPr/>
          <p:nvPr/>
        </p:nvSpPr>
        <p:spPr>
          <a:xfrm>
            <a:off x="8382000" y="1524000"/>
            <a:ext cx="6096000" cy="6096000"/>
          </a:xfrm>
          <a:custGeom>
            <a:avLst/>
            <a:gdLst/>
            <a:ahLst/>
            <a:cxnLst/>
            <a:rect l="l" t="t" r="r" b="b"/>
            <a:pathLst>
              <a:path w="6096000" h="6096000">
                <a:moveTo>
                  <a:pt x="6096000" y="3048000"/>
                </a:moveTo>
                <a:cubicBezTo>
                  <a:pt x="6096000" y="4731364"/>
                  <a:pt x="4731364" y="6096000"/>
                  <a:pt x="3048000" y="6096000"/>
                </a:cubicBezTo>
                <a:cubicBezTo>
                  <a:pt x="1364636" y="6096000"/>
                  <a:pt x="0" y="4731364"/>
                  <a:pt x="0" y="3048000"/>
                </a:cubicBezTo>
                <a:cubicBezTo>
                  <a:pt x="0" y="1364636"/>
                  <a:pt x="1364636" y="0"/>
                  <a:pt x="3048000" y="0"/>
                </a:cubicBezTo>
                <a:cubicBezTo>
                  <a:pt x="4731364" y="0"/>
                  <a:pt x="6096000" y="1364636"/>
                  <a:pt x="6096000" y="3048000"/>
                </a:cubicBezTo>
                <a:close/>
              </a:path>
            </a:pathLst>
          </a:custGeom>
          <a:noFill/>
          <a:ln w="12700">
            <a:solidFill>
              <a:srgbClr val="3B5B78">
                <a:alpha val="14902"/>
              </a:srgbClr>
            </a:solidFill>
            <a:prstDash val="dot"/>
          </a:ln>
        </p:spPr>
      </p:sp>
      <p:sp>
        <p:nvSpPr>
          <p:cNvPr id="8" name="Freeform 8"/>
          <p:cNvSpPr/>
          <p:nvPr/>
        </p:nvSpPr>
        <p:spPr>
          <a:xfrm>
            <a:off x="9398000" y="2540000"/>
            <a:ext cx="4064000" cy="4064000"/>
          </a:xfrm>
          <a:custGeom>
            <a:avLst/>
            <a:gdLst/>
            <a:ahLst/>
            <a:cxnLst/>
            <a:rect l="l" t="t" r="r" b="b"/>
            <a:pathLst>
              <a:path w="4064000" h="4064000">
                <a:moveTo>
                  <a:pt x="4064000" y="2032000"/>
                </a:moveTo>
                <a:cubicBezTo>
                  <a:pt x="4064000" y="3154243"/>
                  <a:pt x="3154243" y="4064000"/>
                  <a:pt x="2032000" y="4064000"/>
                </a:cubicBezTo>
                <a:cubicBezTo>
                  <a:pt x="909757" y="4064000"/>
                  <a:pt x="0" y="3154243"/>
                  <a:pt x="0" y="2032000"/>
                </a:cubicBezTo>
                <a:cubicBezTo>
                  <a:pt x="0" y="909757"/>
                  <a:pt x="909757" y="0"/>
                  <a:pt x="2032000" y="0"/>
                </a:cubicBezTo>
                <a:cubicBezTo>
                  <a:pt x="3154243" y="0"/>
                  <a:pt x="4064000" y="909757"/>
                  <a:pt x="4064000" y="2032000"/>
                </a:cubicBezTo>
                <a:close/>
              </a:path>
            </a:pathLst>
          </a:custGeom>
          <a:noFill/>
          <a:ln w="25400">
            <a:solidFill>
              <a:srgbClr val="E5D9C5">
                <a:alpha val="40000"/>
              </a:srgbClr>
            </a:solidFill>
          </a:ln>
        </p:spPr>
      </p:sp>
      <p:sp>
        <p:nvSpPr>
          <p:cNvPr id="9" name="Freeform 9"/>
          <p:cNvSpPr/>
          <p:nvPr/>
        </p:nvSpPr>
        <p:spPr>
          <a:xfrm>
            <a:off x="9906000" y="3048000"/>
            <a:ext cx="3048000" cy="3048000"/>
          </a:xfrm>
          <a:custGeom>
            <a:avLst/>
            <a:gdLst/>
            <a:ahLst/>
            <a:cxnLst/>
            <a:rect l="l" t="t" r="r" b="b"/>
            <a:pathLst>
              <a:path w="3048000" h="3048000">
                <a:moveTo>
                  <a:pt x="3048000" y="1524000"/>
                </a:moveTo>
                <a:cubicBezTo>
                  <a:pt x="3048000" y="2365682"/>
                  <a:pt x="2365682" y="3048000"/>
                  <a:pt x="1524000" y="3048000"/>
                </a:cubicBezTo>
                <a:cubicBezTo>
                  <a:pt x="682318" y="3048000"/>
                  <a:pt x="0" y="2365682"/>
                  <a:pt x="0" y="1524000"/>
                </a:cubicBezTo>
                <a:cubicBezTo>
                  <a:pt x="0" y="682318"/>
                  <a:pt x="682318" y="0"/>
                  <a:pt x="1524000" y="0"/>
                </a:cubicBezTo>
                <a:cubicBezTo>
                  <a:pt x="2365682" y="0"/>
                  <a:pt x="3048000" y="682318"/>
                  <a:pt x="3048000" y="1524000"/>
                </a:cubicBezTo>
                <a:close/>
              </a:path>
            </a:pathLst>
          </a:custGeom>
          <a:noFill/>
          <a:ln w="12700">
            <a:solidFill>
              <a:srgbClr val="3B5B78">
                <a:alpha val="20000"/>
              </a:srgbClr>
            </a:solidFill>
          </a:ln>
        </p:spPr>
      </p:sp>
      <p:sp>
        <p:nvSpPr>
          <p:cNvPr id="10" name="Freeform 10"/>
          <p:cNvSpPr/>
          <p:nvPr/>
        </p:nvSpPr>
        <p:spPr>
          <a:xfrm>
            <a:off x="10660126" y="3683000"/>
            <a:ext cx="1539748" cy="1778000"/>
          </a:xfrm>
          <a:custGeom>
            <a:avLst/>
            <a:gdLst/>
            <a:ahLst/>
            <a:cxnLst/>
            <a:rect l="l" t="t" r="r" b="b"/>
            <a:pathLst>
              <a:path w="1539748" h="1778000">
                <a:moveTo>
                  <a:pt x="769874" y="0"/>
                </a:moveTo>
                <a:lnTo>
                  <a:pt x="1539748" y="444500"/>
                </a:lnTo>
                <a:lnTo>
                  <a:pt x="1539748" y="1333500"/>
                </a:lnTo>
                <a:lnTo>
                  <a:pt x="769874" y="1778000"/>
                </a:lnTo>
                <a:lnTo>
                  <a:pt x="0" y="1333500"/>
                </a:lnTo>
                <a:lnTo>
                  <a:pt x="0" y="444500"/>
                </a:lnTo>
                <a:close/>
              </a:path>
            </a:pathLst>
          </a:custGeom>
          <a:noFill/>
          <a:ln w="25400">
            <a:solidFill>
              <a:srgbClr val="3B5B78">
                <a:alpha val="30196"/>
              </a:srgbClr>
            </a:solidFill>
          </a:ln>
        </p:spPr>
      </p:sp>
      <p:sp>
        <p:nvSpPr>
          <p:cNvPr id="11" name="Freeform 11"/>
          <p:cNvSpPr/>
          <p:nvPr/>
        </p:nvSpPr>
        <p:spPr>
          <a:xfrm>
            <a:off x="11112500" y="4343400"/>
            <a:ext cx="635000" cy="457200"/>
          </a:xfrm>
          <a:custGeom>
            <a:avLst/>
            <a:gdLst/>
            <a:ahLst/>
            <a:cxnLst/>
            <a:rect l="l" t="t" r="r" b="b"/>
            <a:pathLst>
              <a:path w="635000" h="457200">
                <a:moveTo>
                  <a:pt x="0" y="228600"/>
                </a:moveTo>
                <a:cubicBezTo>
                  <a:pt x="0" y="0"/>
                  <a:pt x="317500" y="0"/>
                  <a:pt x="317500" y="228600"/>
                </a:cubicBezTo>
                <a:cubicBezTo>
                  <a:pt x="317500" y="457200"/>
                  <a:pt x="635000" y="457200"/>
                  <a:pt x="635000" y="228600"/>
                </a:cubicBezTo>
                <a:cubicBezTo>
                  <a:pt x="635000" y="0"/>
                  <a:pt x="317500" y="0"/>
                  <a:pt x="317500" y="228600"/>
                </a:cubicBezTo>
                <a:cubicBezTo>
                  <a:pt x="317500" y="457200"/>
                  <a:pt x="0" y="457200"/>
                  <a:pt x="0" y="228600"/>
                </a:cubicBezTo>
                <a:close/>
              </a:path>
            </a:pathLst>
          </a:custGeom>
          <a:noFill/>
          <a:ln w="19050">
            <a:solidFill>
              <a:srgbClr val="3B5B78">
                <a:alpha val="50196"/>
              </a:srgbClr>
            </a:solidFill>
          </a:ln>
        </p:spPr>
      </p:sp>
      <p:sp>
        <p:nvSpPr>
          <p:cNvPr id="12" name="Freeform 12"/>
          <p:cNvSpPr/>
          <p:nvPr/>
        </p:nvSpPr>
        <p:spPr>
          <a:xfrm>
            <a:off x="2032000" y="3810000"/>
            <a:ext cx="1016000" cy="50800"/>
          </a:xfrm>
          <a:custGeom>
            <a:avLst/>
            <a:gdLst/>
            <a:ahLst/>
            <a:cxnLst/>
            <a:rect l="l" t="t" r="r" b="b"/>
            <a:pathLst>
              <a:path w="1016000" h="50800">
                <a:moveTo>
                  <a:pt x="0" y="25400"/>
                </a:moveTo>
                <a:lnTo>
                  <a:pt x="0" y="25400"/>
                </a:lnTo>
                <a:cubicBezTo>
                  <a:pt x="0" y="39428"/>
                  <a:pt x="11372" y="50800"/>
                  <a:pt x="25400" y="50800"/>
                </a:cubicBezTo>
                <a:lnTo>
                  <a:pt x="990600" y="50800"/>
                </a:lnTo>
                <a:cubicBezTo>
                  <a:pt x="1004628" y="50800"/>
                  <a:pt x="1016000" y="39428"/>
                  <a:pt x="1016000" y="25400"/>
                </a:cubicBezTo>
                <a:lnTo>
                  <a:pt x="1016000" y="25400"/>
                </a:lnTo>
                <a:cubicBezTo>
                  <a:pt x="1016000" y="11372"/>
                  <a:pt x="1004628" y="0"/>
                  <a:pt x="990600" y="0"/>
                </a:cubicBezTo>
                <a:lnTo>
                  <a:pt x="25400" y="0"/>
                </a:lnTo>
                <a:cubicBezTo>
                  <a:pt x="11372" y="0"/>
                  <a:pt x="0" y="11372"/>
                  <a:pt x="0" y="25400"/>
                </a:cubicBezTo>
                <a:close/>
              </a:path>
            </a:pathLst>
          </a:custGeom>
          <a:solidFill>
            <a:srgbClr val="3B5B78">
              <a:alpha val="80000"/>
            </a:srgbClr>
          </a:solidFill>
          <a:ln>
            <a:noFill/>
          </a:ln>
        </p:spPr>
      </p:sp>
      <p:sp>
        <p:nvSpPr>
          <p:cNvPr id="13" name="TextBox 13"/>
          <p:cNvSpPr txBox="1"/>
          <p:nvPr/>
        </p:nvSpPr>
        <p:spPr>
          <a:xfrm>
            <a:off x="1524000" y="1930400"/>
            <a:ext cx="5448300" cy="562610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34000" b="1" i="0">
                <a:solidFill>
                  <a:srgbClr val="3B5B78">
                    <a:alpha val="3137"/>
                  </a:srgbClr>
                </a:solidFill>
                <a:latin typeface="Arial" panose="020B0604020202020204"/>
              </a:rPr>
              <a:t>05</a:t>
            </a:r>
            <a:endParaRPr lang="en-US" sz="34000" b="1" i="0">
              <a:solidFill>
                <a:srgbClr val="3B5B78">
                  <a:alpha val="3137"/>
                </a:srgbClr>
              </a:solidFill>
              <a:latin typeface="Arial" panose="020B0604020202020204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2032000" y="3213100"/>
            <a:ext cx="1240790" cy="31369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1800" b="1" i="0">
                <a:solidFill>
                  <a:srgbClr val="3B5B78">
                    <a:alpha val="60000"/>
                  </a:srgbClr>
                </a:solidFill>
                <a:latin typeface="Arial" panose="020B0604020202020204"/>
              </a:rPr>
              <a:t>PART FIVE</a:t>
            </a:r>
            <a:endParaRPr lang="en-US" sz="1800" b="1" i="0">
              <a:solidFill>
                <a:srgbClr val="3B5B78">
                  <a:alpha val="60000"/>
                </a:srgbClr>
              </a:solidFill>
              <a:latin typeface="Arial" panose="020B0604020202020204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2032000" y="4267200"/>
            <a:ext cx="8218170" cy="90297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5400" b="1" i="0">
                <a:solidFill>
                  <a:srgbClr val="3B5B78"/>
                </a:solidFill>
                <a:latin typeface="Arial" panose="020B0604020202020204"/>
              </a:rPr>
              <a:t>Containerization &amp; CI/CD</a:t>
            </a:r>
            <a:endParaRPr lang="en-US" sz="5400" b="1" i="0">
              <a:solidFill>
                <a:srgbClr val="3B5B78"/>
              </a:solidFill>
              <a:latin typeface="Arial" panose="020B0604020202020204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2082800" y="5372100"/>
            <a:ext cx="4376420" cy="40132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2400" b="0" i="0">
                <a:solidFill>
                  <a:srgbClr val="5A7184">
                    <a:alpha val="80000"/>
                  </a:srgbClr>
                </a:solidFill>
                <a:latin typeface="Arial" panose="020B0604020202020204"/>
              </a:rPr>
              <a:t>Standardized Delivery Workflow</a:t>
            </a:r>
            <a:endParaRPr lang="en-US" sz="2400" b="0" i="0">
              <a:solidFill>
                <a:srgbClr val="5A7184">
                  <a:alpha val="80000"/>
                </a:srgbClr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6256000" cy="9144000"/>
          </a:xfrm>
          <a:custGeom>
            <a:avLst/>
            <a:gdLst/>
            <a:ahLst/>
            <a:cxnLst/>
            <a:rect l="l" t="t" r="r" b="b"/>
            <a:pathLst>
              <a:path w="16256000" h="9144000">
                <a:moveTo>
                  <a:pt x="0" y="0"/>
                </a:moveTo>
                <a:lnTo>
                  <a:pt x="16256000" y="0"/>
                </a:lnTo>
                <a:lnTo>
                  <a:pt x="16256000" y="9144000"/>
                </a:lnTo>
                <a:lnTo>
                  <a:pt x="0" y="9144000"/>
                </a:lnTo>
                <a:lnTo>
                  <a:pt x="0" y="0"/>
                </a:lnTo>
                <a:close/>
              </a:path>
            </a:pathLst>
          </a:custGeom>
          <a:solidFill>
            <a:srgbClr val="F4F5F7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1016000" y="1524000"/>
            <a:ext cx="1016000" cy="0"/>
          </a:xfrm>
          <a:custGeom>
            <a:avLst/>
            <a:gdLst/>
            <a:ahLst/>
            <a:cxnLst/>
            <a:rect l="l" t="t" r="r" b="b"/>
            <a:pathLst>
              <a:path w="1016000">
                <a:moveTo>
                  <a:pt x="0" y="0"/>
                </a:moveTo>
                <a:lnTo>
                  <a:pt x="1016000" y="0"/>
                </a:lnTo>
              </a:path>
            </a:pathLst>
          </a:custGeom>
          <a:noFill/>
          <a:ln w="38100">
            <a:solidFill>
              <a:srgbClr val="3B5B78"/>
            </a:solidFill>
          </a:ln>
        </p:spPr>
      </p:sp>
      <p:sp>
        <p:nvSpPr>
          <p:cNvPr id="4" name="Freeform 4"/>
          <p:cNvSpPr/>
          <p:nvPr/>
        </p:nvSpPr>
        <p:spPr>
          <a:xfrm>
            <a:off x="1016000" y="2286000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381000" y="190500"/>
                </a:moveTo>
                <a:cubicBezTo>
                  <a:pt x="381000" y="295710"/>
                  <a:pt x="295710" y="381000"/>
                  <a:pt x="190500" y="381000"/>
                </a:cubicBezTo>
                <a:cubicBezTo>
                  <a:pt x="85290" y="381000"/>
                  <a:pt x="0" y="295710"/>
                  <a:pt x="0" y="190500"/>
                </a:cubicBezTo>
                <a:cubicBezTo>
                  <a:pt x="0" y="85290"/>
                  <a:pt x="85290" y="0"/>
                  <a:pt x="190500" y="0"/>
                </a:cubicBezTo>
                <a:cubicBezTo>
                  <a:pt x="295710" y="0"/>
                  <a:pt x="381000" y="85290"/>
                  <a:pt x="381000" y="190500"/>
                </a:cubicBezTo>
                <a:close/>
              </a:path>
            </a:pathLst>
          </a:custGeom>
          <a:solidFill>
            <a:srgbClr val="3B5B78">
              <a:alpha val="10196"/>
            </a:srgbClr>
          </a:solidFill>
          <a:ln>
            <a:noFill/>
          </a:ln>
        </p:spPr>
      </p:sp>
      <p:sp>
        <p:nvSpPr>
          <p:cNvPr id="5" name="Freeform 5"/>
          <p:cNvSpPr/>
          <p:nvPr/>
        </p:nvSpPr>
        <p:spPr>
          <a:xfrm>
            <a:off x="1143000" y="2413000"/>
            <a:ext cx="127000" cy="127000"/>
          </a:xfrm>
          <a:custGeom>
            <a:avLst/>
            <a:gdLst/>
            <a:ahLst/>
            <a:cxnLst/>
            <a:rect l="l" t="t" r="r" b="b"/>
            <a:pathLst>
              <a:path w="127000" h="127000">
                <a:moveTo>
                  <a:pt x="0" y="0"/>
                </a:moveTo>
                <a:lnTo>
                  <a:pt x="127000" y="0"/>
                </a:lnTo>
                <a:lnTo>
                  <a:pt x="127000" y="127000"/>
                </a:lnTo>
                <a:lnTo>
                  <a:pt x="0" y="127000"/>
                </a:lnTo>
                <a:close/>
              </a:path>
            </a:pathLst>
          </a:custGeom>
          <a:noFill/>
          <a:ln w="19050">
            <a:solidFill>
              <a:srgbClr val="3B5B78"/>
            </a:solidFill>
          </a:ln>
        </p:spPr>
      </p:sp>
      <p:sp>
        <p:nvSpPr>
          <p:cNvPr id="6" name="Freeform 6"/>
          <p:cNvSpPr/>
          <p:nvPr/>
        </p:nvSpPr>
        <p:spPr>
          <a:xfrm>
            <a:off x="1016000" y="4064000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381000" y="190500"/>
                </a:moveTo>
                <a:cubicBezTo>
                  <a:pt x="381000" y="295710"/>
                  <a:pt x="295710" y="381000"/>
                  <a:pt x="190500" y="381000"/>
                </a:cubicBezTo>
                <a:cubicBezTo>
                  <a:pt x="85290" y="381000"/>
                  <a:pt x="0" y="295710"/>
                  <a:pt x="0" y="190500"/>
                </a:cubicBezTo>
                <a:cubicBezTo>
                  <a:pt x="0" y="85290"/>
                  <a:pt x="85290" y="0"/>
                  <a:pt x="190500" y="0"/>
                </a:cubicBezTo>
                <a:cubicBezTo>
                  <a:pt x="295710" y="0"/>
                  <a:pt x="381000" y="85290"/>
                  <a:pt x="381000" y="190500"/>
                </a:cubicBezTo>
                <a:close/>
              </a:path>
            </a:pathLst>
          </a:custGeom>
          <a:solidFill>
            <a:srgbClr val="3B5B78">
              <a:alpha val="10196"/>
            </a:srgbClr>
          </a:solidFill>
          <a:ln>
            <a:noFill/>
          </a:ln>
        </p:spPr>
      </p:sp>
      <p:sp>
        <p:nvSpPr>
          <p:cNvPr id="7" name="Freeform 7"/>
          <p:cNvSpPr/>
          <p:nvPr/>
        </p:nvSpPr>
        <p:spPr>
          <a:xfrm>
            <a:off x="1117600" y="4165600"/>
            <a:ext cx="177800" cy="177800"/>
          </a:xfrm>
          <a:custGeom>
            <a:avLst/>
            <a:gdLst/>
            <a:ahLst/>
            <a:cxnLst/>
            <a:rect l="l" t="t" r="r" b="b"/>
            <a:pathLst>
              <a:path w="177800" h="177800">
                <a:moveTo>
                  <a:pt x="0" y="88900"/>
                </a:moveTo>
                <a:lnTo>
                  <a:pt x="88900" y="0"/>
                </a:lnTo>
                <a:lnTo>
                  <a:pt x="177800" y="88900"/>
                </a:lnTo>
                <a:lnTo>
                  <a:pt x="88900" y="177800"/>
                </a:lnTo>
                <a:close/>
              </a:path>
            </a:pathLst>
          </a:custGeom>
          <a:noFill/>
          <a:ln w="19050">
            <a:solidFill>
              <a:srgbClr val="3B5B78"/>
            </a:solidFill>
          </a:ln>
        </p:spPr>
      </p:sp>
      <p:sp>
        <p:nvSpPr>
          <p:cNvPr id="8" name="Freeform 8"/>
          <p:cNvSpPr/>
          <p:nvPr/>
        </p:nvSpPr>
        <p:spPr>
          <a:xfrm>
            <a:off x="1016000" y="5842000"/>
            <a:ext cx="381000" cy="381000"/>
          </a:xfrm>
          <a:custGeom>
            <a:avLst/>
            <a:gdLst/>
            <a:ahLst/>
            <a:cxnLst/>
            <a:rect l="l" t="t" r="r" b="b"/>
            <a:pathLst>
              <a:path w="381000" h="381000">
                <a:moveTo>
                  <a:pt x="381000" y="190500"/>
                </a:moveTo>
                <a:cubicBezTo>
                  <a:pt x="381000" y="295710"/>
                  <a:pt x="295710" y="381000"/>
                  <a:pt x="190500" y="381000"/>
                </a:cubicBezTo>
                <a:cubicBezTo>
                  <a:pt x="85290" y="381000"/>
                  <a:pt x="0" y="295710"/>
                  <a:pt x="0" y="190500"/>
                </a:cubicBezTo>
                <a:cubicBezTo>
                  <a:pt x="0" y="85290"/>
                  <a:pt x="85290" y="0"/>
                  <a:pt x="190500" y="0"/>
                </a:cubicBezTo>
                <a:cubicBezTo>
                  <a:pt x="295710" y="0"/>
                  <a:pt x="381000" y="85290"/>
                  <a:pt x="381000" y="190500"/>
                </a:cubicBezTo>
                <a:close/>
              </a:path>
            </a:pathLst>
          </a:custGeom>
          <a:solidFill>
            <a:srgbClr val="3B5B78">
              <a:alpha val="10196"/>
            </a:srgbClr>
          </a:solidFill>
          <a:ln>
            <a:noFill/>
          </a:ln>
        </p:spPr>
      </p:sp>
      <p:sp>
        <p:nvSpPr>
          <p:cNvPr id="9" name="Freeform 9"/>
          <p:cNvSpPr/>
          <p:nvPr/>
        </p:nvSpPr>
        <p:spPr>
          <a:xfrm>
            <a:off x="1143000" y="5943600"/>
            <a:ext cx="127000" cy="177800"/>
          </a:xfrm>
          <a:custGeom>
            <a:avLst/>
            <a:gdLst/>
            <a:ahLst/>
            <a:cxnLst/>
            <a:rect l="l" t="t" r="r" b="b"/>
            <a:pathLst>
              <a:path w="127000" h="177800">
                <a:moveTo>
                  <a:pt x="0" y="50800"/>
                </a:moveTo>
                <a:quadBezTo>
                  <a:pt x="63500" y="0"/>
                  <a:pt x="127000" y="50800"/>
                </a:quadBezTo>
                <a:lnTo>
                  <a:pt x="127000" y="127000"/>
                </a:lnTo>
                <a:quadBezTo>
                  <a:pt x="63500" y="177800"/>
                  <a:pt x="0" y="127000"/>
                </a:quadBezTo>
                <a:close/>
              </a:path>
            </a:pathLst>
          </a:custGeom>
          <a:noFill/>
          <a:ln w="19050">
            <a:solidFill>
              <a:srgbClr val="3B5B78"/>
            </a:solidFill>
          </a:ln>
        </p:spPr>
      </p:sp>
      <p:pic>
        <p:nvPicPr>
          <p:cNvPr id="10" name="Picture 1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20000" y="1866900"/>
            <a:ext cx="7874000" cy="5867400"/>
          </a:xfrm>
          <a:prstGeom prst="rect">
            <a:avLst/>
          </a:prstGeom>
        </p:spPr>
      </p:pic>
      <p:sp>
        <p:nvSpPr>
          <p:cNvPr id="11" name="Freeform 11"/>
          <p:cNvSpPr/>
          <p:nvPr/>
        </p:nvSpPr>
        <p:spPr>
          <a:xfrm>
            <a:off x="0" y="9042400"/>
            <a:ext cx="16256000" cy="101600"/>
          </a:xfrm>
          <a:custGeom>
            <a:avLst/>
            <a:gdLst/>
            <a:ahLst/>
            <a:cxnLst/>
            <a:rect l="l" t="t" r="r" b="b"/>
            <a:pathLst>
              <a:path w="16256000" h="101600">
                <a:moveTo>
                  <a:pt x="0" y="0"/>
                </a:moveTo>
                <a:lnTo>
                  <a:pt x="16256000" y="0"/>
                </a:lnTo>
                <a:lnTo>
                  <a:pt x="16256000" y="101600"/>
                </a:lnTo>
                <a:lnTo>
                  <a:pt x="0" y="101600"/>
                </a:lnTo>
                <a:lnTo>
                  <a:pt x="0" y="0"/>
                </a:lnTo>
                <a:close/>
              </a:path>
            </a:pathLst>
          </a:custGeom>
          <a:solidFill>
            <a:srgbClr val="3B5B78">
              <a:alpha val="80000"/>
            </a:srgbClr>
          </a:solidFill>
          <a:ln>
            <a:noFill/>
          </a:ln>
        </p:spPr>
      </p:sp>
      <p:sp>
        <p:nvSpPr>
          <p:cNvPr id="12" name="TextBox 12"/>
          <p:cNvSpPr txBox="1"/>
          <p:nvPr/>
        </p:nvSpPr>
        <p:spPr>
          <a:xfrm>
            <a:off x="12598400" y="596900"/>
            <a:ext cx="2668270" cy="24257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1400" b="0" i="0">
                <a:solidFill>
                  <a:srgbClr val="3B5B78">
                    <a:alpha val="50196"/>
                  </a:srgbClr>
                </a:solidFill>
                <a:latin typeface="Arial" panose="020B0604020202020204"/>
              </a:rPr>
              <a:t>15 / Containerization Technology</a:t>
            </a:r>
            <a:endParaRPr lang="en-US" sz="1400" b="0" i="0">
              <a:solidFill>
                <a:srgbClr val="3B5B78">
                  <a:alpha val="50196"/>
                </a:srgbClr>
              </a:solidFill>
              <a:latin typeface="Arial" panose="020B0604020202020204"/>
            </a:endParaRPr>
          </a:p>
        </p:txBody>
      </p:sp>
      <p:sp>
        <p:nvSpPr>
          <p:cNvPr id="13" name="TextBox 13"/>
          <p:cNvSpPr txBox="1"/>
          <p:nvPr/>
        </p:nvSpPr>
        <p:spPr>
          <a:xfrm>
            <a:off x="1016000" y="850900"/>
            <a:ext cx="7345680" cy="60198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3600" b="1" i="0">
                <a:solidFill>
                  <a:srgbClr val="3B5B78"/>
                </a:solidFill>
                <a:latin typeface="Arial" panose="020B0604020202020204"/>
              </a:rPr>
              <a:t>Containerization Practice: Docker</a:t>
            </a:r>
            <a:endParaRPr lang="en-US" sz="3600" b="1" i="0">
              <a:solidFill>
                <a:srgbClr val="3B5B78"/>
              </a:solidFill>
              <a:latin typeface="Arial" panose="020B0604020202020204"/>
            </a:endParaRPr>
          </a:p>
        </p:txBody>
      </p:sp>
      <p:sp>
        <p:nvSpPr>
          <p:cNvPr id="14" name="TextBox 14"/>
          <p:cNvSpPr txBox="1"/>
          <p:nvPr/>
        </p:nvSpPr>
        <p:spPr>
          <a:xfrm>
            <a:off x="1587500" y="2311400"/>
            <a:ext cx="3382010" cy="37211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2200" b="1" i="0">
                <a:solidFill>
                  <a:srgbClr val="3B5B78"/>
                </a:solidFill>
                <a:latin typeface="Arial" panose="020B0604020202020204"/>
              </a:rPr>
              <a:t>Environment Consistency</a:t>
            </a:r>
            <a:endParaRPr lang="en-US" sz="2200" b="1" i="0">
              <a:solidFill>
                <a:srgbClr val="3B5B78"/>
              </a:solidFill>
              <a:latin typeface="Arial" panose="020B0604020202020204"/>
            </a:endParaRPr>
          </a:p>
        </p:txBody>
      </p:sp>
      <p:sp>
        <p:nvSpPr>
          <p:cNvPr id="15" name="TextBox 15"/>
          <p:cNvSpPr txBox="1"/>
          <p:nvPr/>
        </p:nvSpPr>
        <p:spPr>
          <a:xfrm>
            <a:off x="1587500" y="2794000"/>
            <a:ext cx="3294380" cy="62738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pPr>
              <a:spcAft>
                <a:spcPct val="0"/>
              </a:spcAft>
            </a:pPr>
            <a:r>
              <a:rPr lang="en-US" sz="1600" b="0" i="0">
                <a:solidFill>
                  <a:srgbClr val="666666"/>
                </a:solidFill>
                <a:latin typeface="Arial" panose="020B0604020202020204"/>
              </a:rPr>
              <a:t>Built on python:3.11-slim</a:t>
            </a:r>
            <a:endParaRPr lang="en-US" sz="1600" b="0" i="0">
              <a:solidFill>
                <a:srgbClr val="666666"/>
              </a:solidFill>
              <a:latin typeface="Arial" panose="020B0604020202020204"/>
            </a:endParaRPr>
          </a:p>
          <a:p>
            <a:pPr>
              <a:spcBef>
                <a:spcPts val="900"/>
              </a:spcBef>
              <a:spcAft>
                <a:spcPct val="0"/>
              </a:spcAft>
            </a:pPr>
            <a:r>
              <a:rPr lang="en-US" sz="1600" b="0" i="0">
                <a:solidFill>
                  <a:srgbClr val="666666"/>
                </a:solidFill>
                <a:latin typeface="Arial" panose="020B0604020202020204"/>
              </a:rPr>
              <a:t>Image size optimized down to</a:t>
            </a:r>
            <a:r>
              <a:rPr lang="en-US" sz="1600" b="1" i="0">
                <a:solidFill>
                  <a:srgbClr val="2E5C55"/>
                </a:solidFill>
                <a:latin typeface="Arial" panose="020B0604020202020204"/>
              </a:rPr>
              <a:t>254MB</a:t>
            </a:r>
            <a:endParaRPr lang="en-US" sz="1600" b="1" i="0">
              <a:solidFill>
                <a:srgbClr val="2E5C55"/>
              </a:solidFill>
              <a:latin typeface="Arial" panose="020B0604020202020204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1587500" y="4089400"/>
            <a:ext cx="2861310" cy="37211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2200" b="1" i="0">
                <a:solidFill>
                  <a:srgbClr val="3B5B78"/>
                </a:solidFill>
                <a:latin typeface="Arial" panose="020B0604020202020204"/>
              </a:rPr>
              <a:t>Service Orchestration</a:t>
            </a:r>
            <a:endParaRPr lang="en-US" sz="2200" b="1" i="0">
              <a:solidFill>
                <a:srgbClr val="3B5B78"/>
              </a:solidFill>
              <a:latin typeface="Arial" panose="020B0604020202020204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1587500" y="4572000"/>
            <a:ext cx="3065780" cy="62738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pPr>
              <a:spcAft>
                <a:spcPct val="0"/>
              </a:spcAft>
            </a:pPr>
            <a:r>
              <a:rPr lang="en-US" sz="1600" b="0" i="0">
                <a:solidFill>
                  <a:srgbClr val="666666"/>
                </a:solidFill>
                <a:latin typeface="Arial" panose="020B0604020202020204"/>
              </a:rPr>
              <a:t>Managed via docker-compose.yml</a:t>
            </a:r>
            <a:endParaRPr lang="en-US" sz="1600" b="0" i="0">
              <a:solidFill>
                <a:srgbClr val="666666"/>
              </a:solidFill>
              <a:latin typeface="Arial" panose="020B0604020202020204"/>
            </a:endParaRPr>
          </a:p>
          <a:p>
            <a:pPr>
              <a:spcBef>
                <a:spcPts val="900"/>
              </a:spcBef>
              <a:spcAft>
                <a:spcPct val="0"/>
              </a:spcAft>
            </a:pPr>
            <a:r>
              <a:rPr lang="en-US" sz="1600" b="0" i="0">
                <a:solidFill>
                  <a:srgbClr val="666666"/>
                </a:solidFill>
                <a:latin typeface="Arial" panose="020B0604020202020204"/>
              </a:rPr>
              <a:t>Services: bot, redis, &amp; exporter</a:t>
            </a:r>
            <a:endParaRPr lang="en-US" sz="1600" b="0" i="0">
              <a:solidFill>
                <a:srgbClr val="666666"/>
              </a:solidFill>
              <a:latin typeface="Arial" panose="020B0604020202020204"/>
            </a:endParaRPr>
          </a:p>
        </p:txBody>
      </p:sp>
      <p:sp>
        <p:nvSpPr>
          <p:cNvPr id="18" name="TextBox 18"/>
          <p:cNvSpPr txBox="1"/>
          <p:nvPr/>
        </p:nvSpPr>
        <p:spPr>
          <a:xfrm>
            <a:off x="1587500" y="5867400"/>
            <a:ext cx="2315210" cy="37211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2200" b="1" i="0">
                <a:solidFill>
                  <a:srgbClr val="3B5B78"/>
                </a:solidFill>
                <a:latin typeface="Arial" panose="020B0604020202020204"/>
              </a:rPr>
              <a:t>Resource Control</a:t>
            </a:r>
            <a:endParaRPr lang="en-US" sz="2200" b="1" i="0">
              <a:solidFill>
                <a:srgbClr val="3B5B78"/>
              </a:solidFill>
              <a:latin typeface="Arial" panose="020B0604020202020204"/>
            </a:endParaRPr>
          </a:p>
        </p:txBody>
      </p:sp>
      <p:sp>
        <p:nvSpPr>
          <p:cNvPr id="19" name="TextBox 19"/>
          <p:cNvSpPr txBox="1"/>
          <p:nvPr/>
        </p:nvSpPr>
        <p:spPr>
          <a:xfrm>
            <a:off x="1587500" y="6350000"/>
            <a:ext cx="3116580" cy="62738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pPr>
              <a:spcAft>
                <a:spcPct val="0"/>
              </a:spcAft>
            </a:pPr>
            <a:r>
              <a:rPr lang="en-US" sz="1600" b="0" i="0">
                <a:solidFill>
                  <a:srgbClr val="666666"/>
                </a:solidFill>
                <a:latin typeface="Arial" panose="020B0604020202020204"/>
              </a:rPr>
              <a:t>Configured Limits &amp; Health Checks</a:t>
            </a:r>
            <a:endParaRPr lang="en-US" sz="1600" b="0" i="0">
              <a:solidFill>
                <a:srgbClr val="666666"/>
              </a:solidFill>
              <a:latin typeface="Arial" panose="020B0604020202020204"/>
            </a:endParaRPr>
          </a:p>
          <a:p>
            <a:pPr>
              <a:spcBef>
                <a:spcPts val="900"/>
              </a:spcBef>
              <a:spcAft>
                <a:spcPct val="0"/>
              </a:spcAft>
            </a:pPr>
            <a:r>
              <a:rPr lang="en-US" sz="1600" b="0" i="0">
                <a:solidFill>
                  <a:srgbClr val="666666"/>
                </a:solidFill>
                <a:latin typeface="Arial" panose="020B0604020202020204"/>
              </a:rPr>
              <a:t>Ensuring stability in production</a:t>
            </a:r>
            <a:endParaRPr lang="en-US" sz="1600" b="0" i="0">
              <a:solidFill>
                <a:srgbClr val="666666"/>
              </a:solidFill>
              <a:latin typeface="Arial" panose="020B0604020202020204"/>
            </a:endParaRPr>
          </a:p>
        </p:txBody>
      </p:sp>
      <p:sp>
        <p:nvSpPr>
          <p:cNvPr id="20" name="TextBox 20"/>
          <p:cNvSpPr txBox="1"/>
          <p:nvPr/>
        </p:nvSpPr>
        <p:spPr>
          <a:xfrm>
            <a:off x="8255000" y="2425700"/>
            <a:ext cx="911860" cy="20066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1200" b="1" i="0">
                <a:solidFill>
                  <a:srgbClr val="3B5B78"/>
                </a:solidFill>
                <a:latin typeface="Arial" panose="020B0604020202020204"/>
              </a:rPr>
              <a:t>DOCKER GUI</a:t>
            </a:r>
            <a:endParaRPr lang="en-US" sz="1200" b="1" i="0">
              <a:solidFill>
                <a:srgbClr val="3B5B78"/>
              </a:solidFill>
              <a:latin typeface="Arial" panose="020B0604020202020204"/>
            </a:endParaRPr>
          </a:p>
        </p:txBody>
      </p:sp>
      <p:sp>
        <p:nvSpPr>
          <p:cNvPr id="21" name="TextBox 21"/>
          <p:cNvSpPr txBox="1"/>
          <p:nvPr/>
        </p:nvSpPr>
        <p:spPr>
          <a:xfrm>
            <a:off x="8191500" y="6896100"/>
            <a:ext cx="5244465" cy="227965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1300" b="0" i="0">
                <a:solidFill>
                  <a:srgbClr val="999999"/>
                </a:solidFill>
                <a:latin typeface="Arial" panose="020B0604020202020204"/>
              </a:rPr>
              <a:t>Visual Image Management: campus-assistant-bot deployment instance</a:t>
            </a:r>
            <a:endParaRPr lang="en-US" sz="1300" b="0" i="0">
              <a:solidFill>
                <a:srgbClr val="999999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6256000" cy="9144000"/>
          </a:xfrm>
          <a:custGeom>
            <a:avLst/>
            <a:gdLst/>
            <a:ahLst/>
            <a:cxnLst/>
            <a:rect l="l" t="t" r="r" b="b"/>
            <a:pathLst>
              <a:path w="16256000" h="9144000">
                <a:moveTo>
                  <a:pt x="0" y="0"/>
                </a:moveTo>
                <a:lnTo>
                  <a:pt x="16256000" y="0"/>
                </a:lnTo>
                <a:lnTo>
                  <a:pt x="16256000" y="9144000"/>
                </a:lnTo>
                <a:lnTo>
                  <a:pt x="0" y="9144000"/>
                </a:lnTo>
                <a:lnTo>
                  <a:pt x="0" y="0"/>
                </a:lnTo>
                <a:close/>
              </a:path>
            </a:pathLst>
          </a:custGeom>
          <a:solidFill>
            <a:srgbClr val="F4F5F7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1016000" y="1841500"/>
            <a:ext cx="1016000" cy="0"/>
          </a:xfrm>
          <a:custGeom>
            <a:avLst/>
            <a:gdLst/>
            <a:ahLst/>
            <a:cxnLst/>
            <a:rect l="l" t="t" r="r" b="b"/>
            <a:pathLst>
              <a:path w="1016000">
                <a:moveTo>
                  <a:pt x="0" y="0"/>
                </a:moveTo>
                <a:lnTo>
                  <a:pt x="1016000" y="0"/>
                </a:lnTo>
              </a:path>
            </a:pathLst>
          </a:custGeom>
          <a:noFill/>
          <a:ln w="50800">
            <a:solidFill>
              <a:srgbClr val="E5D9C5"/>
            </a:solidFill>
          </a:ln>
        </p:spPr>
      </p:sp>
      <p:sp>
        <p:nvSpPr>
          <p:cNvPr id="4" name="Freeform 4"/>
          <p:cNvSpPr/>
          <p:nvPr/>
        </p:nvSpPr>
        <p:spPr>
          <a:xfrm>
            <a:off x="1016000" y="3048000"/>
            <a:ext cx="4572000" cy="4572000"/>
          </a:xfrm>
          <a:custGeom>
            <a:avLst/>
            <a:gdLst/>
            <a:ahLst/>
            <a:cxnLst/>
            <a:rect l="l" t="t" r="r" b="b"/>
            <a:pathLst>
              <a:path w="4572000" h="4572000">
                <a:moveTo>
                  <a:pt x="0" y="101600"/>
                </a:moveTo>
                <a:lnTo>
                  <a:pt x="0" y="4470400"/>
                </a:lnTo>
                <a:cubicBezTo>
                  <a:pt x="0" y="4526512"/>
                  <a:pt x="45488" y="4572000"/>
                  <a:pt x="101600" y="4572000"/>
                </a:cubicBezTo>
                <a:lnTo>
                  <a:pt x="4470400" y="4572000"/>
                </a:lnTo>
                <a:cubicBezTo>
                  <a:pt x="4526512" y="4572000"/>
                  <a:pt x="4572000" y="4526512"/>
                  <a:pt x="4572000" y="4470400"/>
                </a:cubicBezTo>
                <a:lnTo>
                  <a:pt x="4572000" y="101600"/>
                </a:lnTo>
                <a:cubicBezTo>
                  <a:pt x="4572000" y="45488"/>
                  <a:pt x="4526512" y="0"/>
                  <a:pt x="4470400" y="0"/>
                </a:cubicBezTo>
                <a:lnTo>
                  <a:pt x="101600" y="0"/>
                </a:lnTo>
                <a:cubicBezTo>
                  <a:pt x="45488" y="0"/>
                  <a:pt x="0" y="45488"/>
                  <a:pt x="0" y="10160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  <a:effectLst>
            <a:outerShdw blurRad="381000" dist="127000" dir="5400000" rotWithShape="0">
              <a:srgbClr val="000000">
                <a:alpha val="3922"/>
              </a:srgbClr>
            </a:outerShdw>
          </a:effectLst>
        </p:spPr>
      </p:sp>
      <p:sp>
        <p:nvSpPr>
          <p:cNvPr id="5" name="Freeform 5"/>
          <p:cNvSpPr/>
          <p:nvPr/>
        </p:nvSpPr>
        <p:spPr>
          <a:xfrm>
            <a:off x="1549400" y="35814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457200" y="228600"/>
                </a:moveTo>
                <a:cubicBezTo>
                  <a:pt x="457200" y="354852"/>
                  <a:pt x="354852" y="457200"/>
                  <a:pt x="228600" y="457200"/>
                </a:cubicBezTo>
                <a:cubicBezTo>
                  <a:pt x="102348" y="457200"/>
                  <a:pt x="0" y="354852"/>
                  <a:pt x="0" y="228600"/>
                </a:cubicBezTo>
                <a:cubicBezTo>
                  <a:pt x="0" y="102348"/>
                  <a:pt x="102348" y="0"/>
                  <a:pt x="228600" y="0"/>
                </a:cubicBezTo>
                <a:cubicBezTo>
                  <a:pt x="354852" y="0"/>
                  <a:pt x="457200" y="102348"/>
                  <a:pt x="457200" y="228600"/>
                </a:cubicBezTo>
                <a:close/>
              </a:path>
            </a:pathLst>
          </a:custGeom>
          <a:noFill/>
          <a:ln w="19050">
            <a:solidFill>
              <a:srgbClr val="2E5C55"/>
            </a:solidFill>
          </a:ln>
        </p:spPr>
      </p:sp>
      <p:sp>
        <p:nvSpPr>
          <p:cNvPr id="6" name="Freeform 6"/>
          <p:cNvSpPr/>
          <p:nvPr/>
        </p:nvSpPr>
        <p:spPr>
          <a:xfrm>
            <a:off x="1651000" y="3683000"/>
            <a:ext cx="254000" cy="254000"/>
          </a:xfrm>
          <a:custGeom>
            <a:avLst/>
            <a:gdLst/>
            <a:ahLst/>
            <a:cxnLst/>
            <a:rect l="l" t="t" r="r" b="b"/>
            <a:pathLst>
              <a:path w="254000" h="254000">
                <a:moveTo>
                  <a:pt x="127000" y="0"/>
                </a:moveTo>
                <a:lnTo>
                  <a:pt x="127000" y="50800"/>
                </a:lnTo>
                <a:moveTo>
                  <a:pt x="127000" y="203200"/>
                </a:moveTo>
                <a:lnTo>
                  <a:pt x="127000" y="254000"/>
                </a:lnTo>
                <a:moveTo>
                  <a:pt x="0" y="127000"/>
                </a:moveTo>
                <a:lnTo>
                  <a:pt x="50800" y="127000"/>
                </a:lnTo>
                <a:moveTo>
                  <a:pt x="203200" y="127000"/>
                </a:moveTo>
                <a:lnTo>
                  <a:pt x="254000" y="127000"/>
                </a:lnTo>
              </a:path>
            </a:pathLst>
          </a:custGeom>
          <a:noFill/>
          <a:ln w="19050">
            <a:solidFill>
              <a:srgbClr val="2E5C55"/>
            </a:solidFill>
          </a:ln>
        </p:spPr>
      </p:sp>
      <p:sp>
        <p:nvSpPr>
          <p:cNvPr id="7" name="Freeform 7"/>
          <p:cNvSpPr/>
          <p:nvPr/>
        </p:nvSpPr>
        <p:spPr>
          <a:xfrm>
            <a:off x="1689100" y="3721100"/>
            <a:ext cx="177800" cy="177800"/>
          </a:xfrm>
          <a:custGeom>
            <a:avLst/>
            <a:gdLst/>
            <a:ahLst/>
            <a:cxnLst/>
            <a:rect l="l" t="t" r="r" b="b"/>
            <a:pathLst>
              <a:path w="177800" h="177800">
                <a:moveTo>
                  <a:pt x="0" y="0"/>
                </a:moveTo>
                <a:lnTo>
                  <a:pt x="38100" y="38100"/>
                </a:lnTo>
                <a:moveTo>
                  <a:pt x="139700" y="139700"/>
                </a:moveTo>
                <a:lnTo>
                  <a:pt x="177800" y="177800"/>
                </a:lnTo>
                <a:moveTo>
                  <a:pt x="0" y="177800"/>
                </a:moveTo>
                <a:lnTo>
                  <a:pt x="38100" y="139700"/>
                </a:lnTo>
                <a:moveTo>
                  <a:pt x="139700" y="38100"/>
                </a:moveTo>
                <a:lnTo>
                  <a:pt x="177800" y="0"/>
                </a:lnTo>
              </a:path>
            </a:pathLst>
          </a:custGeom>
          <a:noFill/>
          <a:ln w="19050">
            <a:solidFill>
              <a:srgbClr val="2E5C55"/>
            </a:solidFill>
          </a:ln>
        </p:spPr>
      </p:sp>
      <p:sp>
        <p:nvSpPr>
          <p:cNvPr id="8" name="Freeform 8"/>
          <p:cNvSpPr/>
          <p:nvPr/>
        </p:nvSpPr>
        <p:spPr>
          <a:xfrm>
            <a:off x="1524000" y="6858000"/>
            <a:ext cx="508000" cy="25400"/>
          </a:xfrm>
          <a:custGeom>
            <a:avLst/>
            <a:gdLst/>
            <a:ahLst/>
            <a:cxnLst/>
            <a:rect l="l" t="t" r="r" b="b"/>
            <a:pathLst>
              <a:path w="508000" h="25400">
                <a:moveTo>
                  <a:pt x="0" y="0"/>
                </a:moveTo>
                <a:lnTo>
                  <a:pt x="508000" y="0"/>
                </a:lnTo>
                <a:lnTo>
                  <a:pt x="508000" y="25400"/>
                </a:lnTo>
                <a:lnTo>
                  <a:pt x="0" y="25400"/>
                </a:lnTo>
                <a:lnTo>
                  <a:pt x="0" y="0"/>
                </a:lnTo>
                <a:close/>
              </a:path>
            </a:pathLst>
          </a:custGeom>
          <a:solidFill>
            <a:srgbClr val="E5D9C5"/>
          </a:solidFill>
          <a:ln>
            <a:noFill/>
          </a:ln>
        </p:spPr>
      </p:sp>
      <p:sp>
        <p:nvSpPr>
          <p:cNvPr id="9" name="Freeform 9"/>
          <p:cNvSpPr/>
          <p:nvPr/>
        </p:nvSpPr>
        <p:spPr>
          <a:xfrm>
            <a:off x="5842000" y="3048000"/>
            <a:ext cx="4572000" cy="4572000"/>
          </a:xfrm>
          <a:custGeom>
            <a:avLst/>
            <a:gdLst/>
            <a:ahLst/>
            <a:cxnLst/>
            <a:rect l="l" t="t" r="r" b="b"/>
            <a:pathLst>
              <a:path w="4572000" h="4572000">
                <a:moveTo>
                  <a:pt x="0" y="101600"/>
                </a:moveTo>
                <a:lnTo>
                  <a:pt x="0" y="4470400"/>
                </a:lnTo>
                <a:cubicBezTo>
                  <a:pt x="0" y="4526512"/>
                  <a:pt x="45488" y="4572000"/>
                  <a:pt x="101600" y="4572000"/>
                </a:cubicBezTo>
                <a:lnTo>
                  <a:pt x="4470400" y="4572000"/>
                </a:lnTo>
                <a:cubicBezTo>
                  <a:pt x="4526512" y="4572000"/>
                  <a:pt x="4572000" y="4526512"/>
                  <a:pt x="4572000" y="4470400"/>
                </a:cubicBezTo>
                <a:lnTo>
                  <a:pt x="4572000" y="101600"/>
                </a:lnTo>
                <a:cubicBezTo>
                  <a:pt x="4572000" y="45488"/>
                  <a:pt x="4526512" y="0"/>
                  <a:pt x="4470400" y="0"/>
                </a:cubicBezTo>
                <a:lnTo>
                  <a:pt x="101600" y="0"/>
                </a:lnTo>
                <a:cubicBezTo>
                  <a:pt x="45488" y="0"/>
                  <a:pt x="0" y="45488"/>
                  <a:pt x="0" y="10160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  <a:effectLst>
            <a:outerShdw blurRad="381000" dist="127000" dir="5400000" rotWithShape="0">
              <a:srgbClr val="000000">
                <a:alpha val="3922"/>
              </a:srgbClr>
            </a:outerShdw>
          </a:effectLst>
        </p:spPr>
      </p:sp>
      <p:sp>
        <p:nvSpPr>
          <p:cNvPr id="10" name="Freeform 10"/>
          <p:cNvSpPr/>
          <p:nvPr/>
        </p:nvSpPr>
        <p:spPr>
          <a:xfrm>
            <a:off x="6477000" y="3708400"/>
            <a:ext cx="355600" cy="203200"/>
          </a:xfrm>
          <a:custGeom>
            <a:avLst/>
            <a:gdLst/>
            <a:ahLst/>
            <a:cxnLst/>
            <a:rect l="l" t="t" r="r" b="b"/>
            <a:pathLst>
              <a:path w="355600" h="203200">
                <a:moveTo>
                  <a:pt x="0" y="203200"/>
                </a:moveTo>
                <a:quadBezTo>
                  <a:pt x="0" y="101600"/>
                  <a:pt x="101600" y="101600"/>
                </a:quadBezTo>
                <a:quadBezTo>
                  <a:pt x="127000" y="0"/>
                  <a:pt x="254000" y="38100"/>
                </a:quadBezTo>
                <a:quadBezTo>
                  <a:pt x="355600" y="38100"/>
                  <a:pt x="355600" y="139700"/>
                </a:quadBezTo>
                <a:quadBezTo>
                  <a:pt x="355600" y="203200"/>
                  <a:pt x="279400" y="203200"/>
                </a:quadBezTo>
                <a:close/>
              </a:path>
            </a:pathLst>
          </a:custGeom>
          <a:noFill/>
          <a:ln w="19050">
            <a:solidFill>
              <a:srgbClr val="2E5C55"/>
            </a:solidFill>
          </a:ln>
        </p:spPr>
      </p:sp>
      <p:sp>
        <p:nvSpPr>
          <p:cNvPr id="11" name="Freeform 11"/>
          <p:cNvSpPr/>
          <p:nvPr/>
        </p:nvSpPr>
        <p:spPr>
          <a:xfrm>
            <a:off x="6616700" y="3835400"/>
            <a:ext cx="76200" cy="76200"/>
          </a:xfrm>
          <a:custGeom>
            <a:avLst/>
            <a:gdLst/>
            <a:ahLst/>
            <a:cxnLst/>
            <a:rect l="l" t="t" r="r" b="b"/>
            <a:pathLst>
              <a:path w="76200" h="76200">
                <a:moveTo>
                  <a:pt x="38100" y="76200"/>
                </a:moveTo>
                <a:lnTo>
                  <a:pt x="38100" y="0"/>
                </a:lnTo>
                <a:moveTo>
                  <a:pt x="0" y="38100"/>
                </a:moveTo>
                <a:lnTo>
                  <a:pt x="38100" y="0"/>
                </a:lnTo>
                <a:lnTo>
                  <a:pt x="76200" y="38100"/>
                </a:lnTo>
              </a:path>
            </a:pathLst>
          </a:custGeom>
          <a:noFill/>
          <a:ln w="19050">
            <a:solidFill>
              <a:srgbClr val="2E5C55"/>
            </a:solidFill>
          </a:ln>
        </p:spPr>
      </p:sp>
      <p:sp>
        <p:nvSpPr>
          <p:cNvPr id="12" name="Freeform 12"/>
          <p:cNvSpPr/>
          <p:nvPr/>
        </p:nvSpPr>
        <p:spPr>
          <a:xfrm>
            <a:off x="6350000" y="6858000"/>
            <a:ext cx="508000" cy="25400"/>
          </a:xfrm>
          <a:custGeom>
            <a:avLst/>
            <a:gdLst/>
            <a:ahLst/>
            <a:cxnLst/>
            <a:rect l="l" t="t" r="r" b="b"/>
            <a:pathLst>
              <a:path w="508000" h="25400">
                <a:moveTo>
                  <a:pt x="0" y="0"/>
                </a:moveTo>
                <a:lnTo>
                  <a:pt x="508000" y="0"/>
                </a:lnTo>
                <a:lnTo>
                  <a:pt x="508000" y="25400"/>
                </a:lnTo>
                <a:lnTo>
                  <a:pt x="0" y="25400"/>
                </a:lnTo>
                <a:lnTo>
                  <a:pt x="0" y="0"/>
                </a:lnTo>
                <a:close/>
              </a:path>
            </a:pathLst>
          </a:custGeom>
          <a:solidFill>
            <a:srgbClr val="E5D9C5"/>
          </a:solidFill>
          <a:ln>
            <a:noFill/>
          </a:ln>
        </p:spPr>
      </p:sp>
      <p:sp>
        <p:nvSpPr>
          <p:cNvPr id="13" name="Freeform 13"/>
          <p:cNvSpPr/>
          <p:nvPr/>
        </p:nvSpPr>
        <p:spPr>
          <a:xfrm>
            <a:off x="10668000" y="3048000"/>
            <a:ext cx="4572000" cy="4572000"/>
          </a:xfrm>
          <a:custGeom>
            <a:avLst/>
            <a:gdLst/>
            <a:ahLst/>
            <a:cxnLst/>
            <a:rect l="l" t="t" r="r" b="b"/>
            <a:pathLst>
              <a:path w="4572000" h="4572000">
                <a:moveTo>
                  <a:pt x="0" y="101600"/>
                </a:moveTo>
                <a:lnTo>
                  <a:pt x="0" y="4470400"/>
                </a:lnTo>
                <a:cubicBezTo>
                  <a:pt x="0" y="4526512"/>
                  <a:pt x="45488" y="4572000"/>
                  <a:pt x="101600" y="4572000"/>
                </a:cubicBezTo>
                <a:lnTo>
                  <a:pt x="4470400" y="4572000"/>
                </a:lnTo>
                <a:cubicBezTo>
                  <a:pt x="4526512" y="4572000"/>
                  <a:pt x="4572000" y="4526512"/>
                  <a:pt x="4572000" y="4470400"/>
                </a:cubicBezTo>
                <a:lnTo>
                  <a:pt x="4572000" y="101600"/>
                </a:lnTo>
                <a:cubicBezTo>
                  <a:pt x="4572000" y="45488"/>
                  <a:pt x="4526512" y="0"/>
                  <a:pt x="4470400" y="0"/>
                </a:cubicBezTo>
                <a:lnTo>
                  <a:pt x="101600" y="0"/>
                </a:lnTo>
                <a:cubicBezTo>
                  <a:pt x="45488" y="0"/>
                  <a:pt x="0" y="45488"/>
                  <a:pt x="0" y="10160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  <a:effectLst>
            <a:outerShdw blurRad="381000" dist="127000" dir="5400000" rotWithShape="0">
              <a:srgbClr val="000000">
                <a:alpha val="3922"/>
              </a:srgbClr>
            </a:outerShdw>
          </a:effectLst>
        </p:spPr>
      </p:sp>
      <p:sp>
        <p:nvSpPr>
          <p:cNvPr id="14" name="Freeform 14"/>
          <p:cNvSpPr/>
          <p:nvPr/>
        </p:nvSpPr>
        <p:spPr>
          <a:xfrm>
            <a:off x="11277600" y="3657600"/>
            <a:ext cx="304800" cy="355600"/>
          </a:xfrm>
          <a:custGeom>
            <a:avLst/>
            <a:gdLst/>
            <a:ahLst/>
            <a:cxnLst/>
            <a:rect l="l" t="t" r="r" b="b"/>
            <a:pathLst>
              <a:path w="304800" h="355600">
                <a:moveTo>
                  <a:pt x="152400" y="0"/>
                </a:moveTo>
                <a:quadBezTo>
                  <a:pt x="304800" y="0"/>
                  <a:pt x="304800" y="127000"/>
                </a:quadBezTo>
                <a:quadBezTo>
                  <a:pt x="304800" y="304800"/>
                  <a:pt x="152400" y="355600"/>
                </a:quadBezTo>
                <a:quadBezTo>
                  <a:pt x="0" y="304800"/>
                  <a:pt x="0" y="127000"/>
                </a:quadBezTo>
                <a:quadBezTo>
                  <a:pt x="0" y="0"/>
                  <a:pt x="152400" y="0"/>
                </a:quadBezTo>
                <a:close/>
              </a:path>
            </a:pathLst>
          </a:custGeom>
          <a:noFill/>
          <a:ln w="19050">
            <a:solidFill>
              <a:srgbClr val="2E5C55"/>
            </a:solidFill>
          </a:ln>
        </p:spPr>
      </p:sp>
      <p:sp>
        <p:nvSpPr>
          <p:cNvPr id="15" name="Freeform 15"/>
          <p:cNvSpPr/>
          <p:nvPr/>
        </p:nvSpPr>
        <p:spPr>
          <a:xfrm>
            <a:off x="11366500" y="3784600"/>
            <a:ext cx="127000" cy="88900"/>
          </a:xfrm>
          <a:custGeom>
            <a:avLst/>
            <a:gdLst/>
            <a:ahLst/>
            <a:cxnLst/>
            <a:rect l="l" t="t" r="r" b="b"/>
            <a:pathLst>
              <a:path w="127000" h="88900">
                <a:moveTo>
                  <a:pt x="0" y="50800"/>
                </a:moveTo>
                <a:lnTo>
                  <a:pt x="38100" y="88900"/>
                </a:lnTo>
                <a:lnTo>
                  <a:pt x="127000" y="0"/>
                </a:lnTo>
              </a:path>
            </a:pathLst>
          </a:custGeom>
          <a:noFill/>
          <a:ln w="19050">
            <a:solidFill>
              <a:srgbClr val="2E5C55"/>
            </a:solidFill>
          </a:ln>
        </p:spPr>
      </p:sp>
      <p:sp>
        <p:nvSpPr>
          <p:cNvPr id="16" name="Freeform 16"/>
          <p:cNvSpPr/>
          <p:nvPr/>
        </p:nvSpPr>
        <p:spPr>
          <a:xfrm>
            <a:off x="11176000" y="6858000"/>
            <a:ext cx="508000" cy="25400"/>
          </a:xfrm>
          <a:custGeom>
            <a:avLst/>
            <a:gdLst/>
            <a:ahLst/>
            <a:cxnLst/>
            <a:rect l="l" t="t" r="r" b="b"/>
            <a:pathLst>
              <a:path w="508000" h="25400">
                <a:moveTo>
                  <a:pt x="0" y="0"/>
                </a:moveTo>
                <a:lnTo>
                  <a:pt x="508000" y="0"/>
                </a:lnTo>
                <a:lnTo>
                  <a:pt x="508000" y="25400"/>
                </a:lnTo>
                <a:lnTo>
                  <a:pt x="0" y="25400"/>
                </a:lnTo>
                <a:lnTo>
                  <a:pt x="0" y="0"/>
                </a:lnTo>
                <a:close/>
              </a:path>
            </a:pathLst>
          </a:custGeom>
          <a:solidFill>
            <a:srgbClr val="E5D9C5"/>
          </a:solidFill>
          <a:ln>
            <a:noFill/>
          </a:ln>
        </p:spPr>
      </p:sp>
      <p:sp>
        <p:nvSpPr>
          <p:cNvPr id="17" name="Freeform 17"/>
          <p:cNvSpPr/>
          <p:nvPr/>
        </p:nvSpPr>
        <p:spPr>
          <a:xfrm>
            <a:off x="5588000" y="5334000"/>
            <a:ext cx="254000" cy="0"/>
          </a:xfrm>
          <a:custGeom>
            <a:avLst/>
            <a:gdLst/>
            <a:ahLst/>
            <a:cxnLst/>
            <a:rect l="l" t="t" r="r" b="b"/>
            <a:pathLst>
              <a:path w="254000">
                <a:moveTo>
                  <a:pt x="0" y="0"/>
                </a:moveTo>
                <a:lnTo>
                  <a:pt x="254000" y="0"/>
                </a:lnTo>
              </a:path>
            </a:pathLst>
          </a:custGeom>
          <a:noFill/>
          <a:ln w="12700">
            <a:solidFill>
              <a:srgbClr val="E5D9C5"/>
            </a:solidFill>
            <a:prstDash val="dash"/>
          </a:ln>
        </p:spPr>
      </p:sp>
      <p:sp>
        <p:nvSpPr>
          <p:cNvPr id="18" name="Freeform 18"/>
          <p:cNvSpPr/>
          <p:nvPr/>
        </p:nvSpPr>
        <p:spPr>
          <a:xfrm>
            <a:off x="10414000" y="5334000"/>
            <a:ext cx="254000" cy="0"/>
          </a:xfrm>
          <a:custGeom>
            <a:avLst/>
            <a:gdLst/>
            <a:ahLst/>
            <a:cxnLst/>
            <a:rect l="l" t="t" r="r" b="b"/>
            <a:pathLst>
              <a:path w="254000">
                <a:moveTo>
                  <a:pt x="0" y="0"/>
                </a:moveTo>
                <a:lnTo>
                  <a:pt x="254000" y="0"/>
                </a:lnTo>
              </a:path>
            </a:pathLst>
          </a:custGeom>
          <a:noFill/>
          <a:ln w="12700">
            <a:solidFill>
              <a:srgbClr val="E5D9C5"/>
            </a:solidFill>
            <a:prstDash val="dash"/>
          </a:ln>
        </p:spPr>
      </p:sp>
      <p:sp>
        <p:nvSpPr>
          <p:cNvPr id="19" name="TextBox 19"/>
          <p:cNvSpPr txBox="1"/>
          <p:nvPr/>
        </p:nvSpPr>
        <p:spPr>
          <a:xfrm>
            <a:off x="15240000" y="457200"/>
            <a:ext cx="777240" cy="80264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4800" b="1" i="0">
                <a:solidFill>
                  <a:srgbClr val="2E5C55">
                    <a:alpha val="10196"/>
                  </a:srgbClr>
                </a:solidFill>
                <a:latin typeface="Arial" panose="020B0604020202020204"/>
              </a:rPr>
              <a:t>16</a:t>
            </a:r>
            <a:endParaRPr lang="en-US" sz="4800" b="1" i="0">
              <a:solidFill>
                <a:srgbClr val="2E5C55">
                  <a:alpha val="10196"/>
                </a:srgbClr>
              </a:solidFill>
              <a:latin typeface="Arial" panose="020B0604020202020204"/>
            </a:endParaRPr>
          </a:p>
        </p:txBody>
      </p:sp>
      <p:sp>
        <p:nvSpPr>
          <p:cNvPr id="20" name="TextBox 20"/>
          <p:cNvSpPr txBox="1"/>
          <p:nvPr/>
        </p:nvSpPr>
        <p:spPr>
          <a:xfrm>
            <a:off x="1016000" y="1104900"/>
            <a:ext cx="5643880" cy="60198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3600" b="1" i="0">
                <a:solidFill>
                  <a:srgbClr val="2E5C55"/>
                </a:solidFill>
                <a:latin typeface="Arial" panose="020B0604020202020204"/>
              </a:rPr>
              <a:t>CI/CD Automated Pipeline</a:t>
            </a:r>
            <a:endParaRPr lang="en-US" sz="3600" b="1" i="0">
              <a:solidFill>
                <a:srgbClr val="2E5C55"/>
              </a:solidFill>
              <a:latin typeface="Arial" panose="020B0604020202020204"/>
            </a:endParaRPr>
          </a:p>
        </p:txBody>
      </p:sp>
      <p:sp>
        <p:nvSpPr>
          <p:cNvPr id="21" name="TextBox 21"/>
          <p:cNvSpPr txBox="1"/>
          <p:nvPr/>
        </p:nvSpPr>
        <p:spPr>
          <a:xfrm>
            <a:off x="1016000" y="2095500"/>
            <a:ext cx="4602480" cy="27178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1600" b="0" i="0">
                <a:solidFill>
                  <a:srgbClr val="3B5B78">
                    <a:alpha val="60000"/>
                  </a:srgbClr>
                </a:solidFill>
                <a:latin typeface="Arial" panose="020B0604020202020204"/>
              </a:rPr>
              <a:t>AUTOMATED PIPELINE &amp; QUALITY ASSURANCE</a:t>
            </a:r>
            <a:endParaRPr lang="en-US" sz="1600" b="0" i="0">
              <a:solidFill>
                <a:srgbClr val="3B5B78">
                  <a:alpha val="60000"/>
                </a:srgbClr>
              </a:solidFill>
              <a:latin typeface="Arial" panose="020B0604020202020204"/>
            </a:endParaRPr>
          </a:p>
        </p:txBody>
      </p:sp>
      <p:sp>
        <p:nvSpPr>
          <p:cNvPr id="22" name="TextBox 22"/>
          <p:cNvSpPr txBox="1"/>
          <p:nvPr/>
        </p:nvSpPr>
        <p:spPr>
          <a:xfrm>
            <a:off x="1524000" y="4038600"/>
            <a:ext cx="4033520" cy="40132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2400" b="1" i="0">
                <a:solidFill>
                  <a:srgbClr val="2E5C55"/>
                </a:solidFill>
                <a:latin typeface="Arial" panose="020B0604020202020204"/>
              </a:rPr>
              <a:t>Continuous Integration (CI)</a:t>
            </a:r>
            <a:endParaRPr lang="en-US" sz="2400" b="1" i="0">
              <a:solidFill>
                <a:srgbClr val="2E5C55"/>
              </a:solidFill>
              <a:latin typeface="Arial" panose="020B0604020202020204"/>
            </a:endParaRPr>
          </a:p>
        </p:txBody>
      </p:sp>
      <p:sp>
        <p:nvSpPr>
          <p:cNvPr id="23" name="TextBox 23"/>
          <p:cNvSpPr txBox="1"/>
          <p:nvPr/>
        </p:nvSpPr>
        <p:spPr>
          <a:xfrm>
            <a:off x="1524000" y="4762500"/>
            <a:ext cx="2989580" cy="116078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pPr>
              <a:spcAft>
                <a:spcPct val="0"/>
              </a:spcAft>
            </a:pPr>
            <a:r>
              <a:rPr lang="en-US" sz="1600" b="0" i="0">
                <a:solidFill>
                  <a:srgbClr val="3B5B78"/>
                </a:solidFill>
                <a:latin typeface="Arial" panose="020B0604020202020204"/>
              </a:rPr>
              <a:t>· GitHub Actions workflow control</a:t>
            </a:r>
            <a:endParaRPr lang="en-US" sz="1600" b="0" i="0">
              <a:solidFill>
                <a:srgbClr val="3B5B78"/>
              </a:solidFill>
              <a:latin typeface="Arial" panose="020B0604020202020204"/>
            </a:endParaRPr>
          </a:p>
          <a:p>
            <a:pPr>
              <a:spcBef>
                <a:spcPts val="1600"/>
              </a:spcBef>
              <a:spcAft>
                <a:spcPct val="0"/>
              </a:spcAft>
            </a:pPr>
            <a:r>
              <a:rPr lang="en-US" sz="1600" b="0" i="0">
                <a:solidFill>
                  <a:srgbClr val="3B5B78"/>
                </a:solidFill>
                <a:latin typeface="Arial" panose="020B0604020202020204"/>
              </a:rPr>
              <a:t>· Static code linting &amp; analysis</a:t>
            </a:r>
            <a:endParaRPr lang="en-US" sz="1600" b="0" i="0">
              <a:solidFill>
                <a:srgbClr val="3B5B78"/>
              </a:solidFill>
              <a:latin typeface="Arial" panose="020B0604020202020204"/>
            </a:endParaRPr>
          </a:p>
          <a:p>
            <a:pPr>
              <a:spcBef>
                <a:spcPts val="1600"/>
              </a:spcBef>
              <a:spcAft>
                <a:spcPct val="0"/>
              </a:spcAft>
            </a:pPr>
            <a:r>
              <a:rPr lang="en-US" sz="1600" b="0" i="0">
                <a:solidFill>
                  <a:srgbClr val="3B5B78"/>
                </a:solidFill>
                <a:latin typeface="Arial" panose="020B0604020202020204"/>
              </a:rPr>
              <a:t>· Automated Docker image builds</a:t>
            </a:r>
            <a:endParaRPr lang="en-US" sz="1600" b="0" i="0">
              <a:solidFill>
                <a:srgbClr val="3B5B78"/>
              </a:solidFill>
              <a:latin typeface="Arial" panose="020B0604020202020204"/>
            </a:endParaRPr>
          </a:p>
        </p:txBody>
      </p:sp>
      <p:sp>
        <p:nvSpPr>
          <p:cNvPr id="24" name="TextBox 24"/>
          <p:cNvSpPr txBox="1"/>
          <p:nvPr/>
        </p:nvSpPr>
        <p:spPr>
          <a:xfrm>
            <a:off x="6350000" y="4038600"/>
            <a:ext cx="4312920" cy="40132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2400" b="1" i="0">
                <a:solidFill>
                  <a:srgbClr val="2E5C55"/>
                </a:solidFill>
                <a:latin typeface="Arial" panose="020B0604020202020204"/>
              </a:rPr>
              <a:t>Continuous Deployment (CD)</a:t>
            </a:r>
            <a:endParaRPr lang="en-US" sz="2400" b="1" i="0">
              <a:solidFill>
                <a:srgbClr val="2E5C55"/>
              </a:solidFill>
              <a:latin typeface="Arial" panose="020B0604020202020204"/>
            </a:endParaRPr>
          </a:p>
        </p:txBody>
      </p:sp>
      <p:sp>
        <p:nvSpPr>
          <p:cNvPr id="25" name="TextBox 25"/>
          <p:cNvSpPr txBox="1"/>
          <p:nvPr/>
        </p:nvSpPr>
        <p:spPr>
          <a:xfrm>
            <a:off x="6350000" y="4762500"/>
            <a:ext cx="3294380" cy="116078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pPr>
              <a:spcAft>
                <a:spcPct val="0"/>
              </a:spcAft>
            </a:pPr>
            <a:r>
              <a:rPr lang="en-US" sz="1600" b="0" i="0">
                <a:solidFill>
                  <a:srgbClr val="3B5B78"/>
                </a:solidFill>
                <a:latin typeface="Arial" panose="020B0604020202020204"/>
              </a:rPr>
              <a:t>· Automatic merge to main branch</a:t>
            </a:r>
            <a:endParaRPr lang="en-US" sz="1600" b="0" i="0">
              <a:solidFill>
                <a:srgbClr val="3B5B78"/>
              </a:solidFill>
              <a:latin typeface="Arial" panose="020B0604020202020204"/>
            </a:endParaRPr>
          </a:p>
          <a:p>
            <a:pPr>
              <a:spcBef>
                <a:spcPts val="1600"/>
              </a:spcBef>
              <a:spcAft>
                <a:spcPct val="0"/>
              </a:spcAft>
            </a:pPr>
            <a:r>
              <a:rPr lang="en-US" sz="1600" b="0" i="0">
                <a:solidFill>
                  <a:srgbClr val="3B5B78"/>
                </a:solidFill>
                <a:latin typeface="Arial" panose="020B0604020202020204"/>
              </a:rPr>
              <a:t>· Triggered Render cloud deployment</a:t>
            </a:r>
            <a:endParaRPr lang="en-US" sz="1600" b="0" i="0">
              <a:solidFill>
                <a:srgbClr val="3B5B78"/>
              </a:solidFill>
              <a:latin typeface="Arial" panose="020B0604020202020204"/>
            </a:endParaRPr>
          </a:p>
          <a:p>
            <a:pPr>
              <a:spcBef>
                <a:spcPts val="1600"/>
              </a:spcBef>
              <a:spcAft>
                <a:spcPct val="0"/>
              </a:spcAft>
            </a:pPr>
            <a:r>
              <a:rPr lang="en-US" sz="1600" b="0" i="0">
                <a:solidFill>
                  <a:srgbClr val="3B5B78"/>
                </a:solidFill>
                <a:latin typeface="Arial" panose="020B0604020202020204"/>
              </a:rPr>
              <a:t>· Zero-downtime environment rollout</a:t>
            </a:r>
            <a:endParaRPr lang="en-US" sz="1600" b="0" i="0">
              <a:solidFill>
                <a:srgbClr val="3B5B78"/>
              </a:solidFill>
              <a:latin typeface="Arial" panose="020B0604020202020204"/>
            </a:endParaRPr>
          </a:p>
        </p:txBody>
      </p:sp>
      <p:sp>
        <p:nvSpPr>
          <p:cNvPr id="26" name="TextBox 26"/>
          <p:cNvSpPr txBox="1"/>
          <p:nvPr/>
        </p:nvSpPr>
        <p:spPr>
          <a:xfrm>
            <a:off x="11176000" y="4038600"/>
            <a:ext cx="3436620" cy="40132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2400" b="1" i="0">
                <a:solidFill>
                  <a:srgbClr val="2E5C55"/>
                </a:solidFill>
                <a:latin typeface="Arial" panose="020B0604020202020204"/>
              </a:rPr>
              <a:t>Quality Assurance (QA)</a:t>
            </a:r>
            <a:endParaRPr lang="en-US" sz="2400" b="1" i="0">
              <a:solidFill>
                <a:srgbClr val="2E5C55"/>
              </a:solidFill>
              <a:latin typeface="Arial" panose="020B0604020202020204"/>
            </a:endParaRPr>
          </a:p>
        </p:txBody>
      </p:sp>
      <p:sp>
        <p:nvSpPr>
          <p:cNvPr id="27" name="TextBox 27"/>
          <p:cNvSpPr txBox="1"/>
          <p:nvPr/>
        </p:nvSpPr>
        <p:spPr>
          <a:xfrm>
            <a:off x="11176000" y="4762500"/>
            <a:ext cx="3141980" cy="116078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pPr>
              <a:spcAft>
                <a:spcPct val="0"/>
              </a:spcAft>
            </a:pPr>
            <a:r>
              <a:rPr lang="en-US" sz="1600" b="0" i="0">
                <a:solidFill>
                  <a:srgbClr val="3B5B78"/>
                </a:solidFill>
                <a:latin typeface="Arial" panose="020B0604020202020204"/>
              </a:rPr>
              <a:t>· Mandatory CI checks for all PRs</a:t>
            </a:r>
            <a:endParaRPr lang="en-US" sz="1600" b="0" i="0">
              <a:solidFill>
                <a:srgbClr val="3B5B78"/>
              </a:solidFill>
              <a:latin typeface="Arial" panose="020B0604020202020204"/>
            </a:endParaRPr>
          </a:p>
          <a:p>
            <a:pPr>
              <a:spcBef>
                <a:spcPts val="1600"/>
              </a:spcBef>
              <a:spcAft>
                <a:spcPct val="0"/>
              </a:spcAft>
            </a:pPr>
            <a:r>
              <a:rPr lang="en-US" sz="1600" b="0" i="0">
                <a:solidFill>
                  <a:srgbClr val="3B5B78"/>
                </a:solidFill>
                <a:latin typeface="Arial" panose="020B0604020202020204"/>
              </a:rPr>
              <a:t>· Ensure code consistency &amp; quality</a:t>
            </a:r>
            <a:endParaRPr lang="en-US" sz="1600" b="0" i="0">
              <a:solidFill>
                <a:srgbClr val="3B5B78"/>
              </a:solidFill>
              <a:latin typeface="Arial" panose="020B0604020202020204"/>
            </a:endParaRPr>
          </a:p>
          <a:p>
            <a:pPr>
              <a:spcBef>
                <a:spcPts val="1600"/>
              </a:spcBef>
              <a:spcAft>
                <a:spcPct val="0"/>
              </a:spcAft>
            </a:pPr>
            <a:r>
              <a:rPr lang="en-US" sz="1600" b="0" i="0">
                <a:solidFill>
                  <a:srgbClr val="3B5B78"/>
                </a:solidFill>
                <a:latin typeface="Arial" panose="020B0604020202020204"/>
              </a:rPr>
              <a:t>· Enhance production stability</a:t>
            </a:r>
            <a:endParaRPr lang="en-US" sz="1600" b="0" i="0">
              <a:solidFill>
                <a:srgbClr val="3B5B78"/>
              </a:solidFill>
              <a:latin typeface="Arial" panose="020B0604020202020204"/>
            </a:endParaRPr>
          </a:p>
        </p:txBody>
      </p:sp>
      <p:sp>
        <p:nvSpPr>
          <p:cNvPr id="28" name="TextBox 28"/>
          <p:cNvSpPr txBox="1"/>
          <p:nvPr/>
        </p:nvSpPr>
        <p:spPr>
          <a:xfrm>
            <a:off x="1016000" y="8216900"/>
            <a:ext cx="9272270" cy="24257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1400" b="0" i="0">
                <a:solidFill>
                  <a:srgbClr val="3B5B78">
                    <a:alpha val="50196"/>
                  </a:srgbClr>
                </a:solidFill>
                <a:latin typeface="Arial" panose="020B0604020202020204"/>
              </a:rPr>
              <a:t>Automated toolchains enable a complete closed-loop from development to production, minimizing human error risks.</a:t>
            </a:r>
            <a:endParaRPr lang="en-US" sz="1400" b="0" i="0">
              <a:solidFill>
                <a:srgbClr val="3B5B78">
                  <a:alpha val="50196"/>
                </a:srgbClr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6256000" cy="9144000"/>
          </a:xfrm>
          <a:custGeom>
            <a:avLst/>
            <a:gdLst/>
            <a:ahLst/>
            <a:cxnLst/>
            <a:rect l="l" t="t" r="r" b="b"/>
            <a:pathLst>
              <a:path w="16256000" h="9144000">
                <a:moveTo>
                  <a:pt x="0" y="0"/>
                </a:moveTo>
                <a:lnTo>
                  <a:pt x="16256000" y="0"/>
                </a:lnTo>
                <a:lnTo>
                  <a:pt x="16256000" y="9144000"/>
                </a:lnTo>
                <a:lnTo>
                  <a:pt x="0" y="9144000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rgbClr val="F4F5F7"/>
              </a:gs>
              <a:gs pos="100000">
                <a:srgbClr val="EAECEF"/>
              </a:gs>
            </a:gsLst>
            <a:lin ang="2700000" scaled="1"/>
          </a:gra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10160000" y="-1905000"/>
            <a:ext cx="7620000" cy="7620000"/>
          </a:xfrm>
          <a:custGeom>
            <a:avLst/>
            <a:gdLst/>
            <a:ahLst/>
            <a:cxnLst/>
            <a:rect l="l" t="t" r="r" b="b"/>
            <a:pathLst>
              <a:path w="7620000" h="7620000">
                <a:moveTo>
                  <a:pt x="7620000" y="3810000"/>
                </a:moveTo>
                <a:cubicBezTo>
                  <a:pt x="7620000" y="5914205"/>
                  <a:pt x="5914205" y="7620000"/>
                  <a:pt x="3810000" y="7620000"/>
                </a:cubicBezTo>
                <a:cubicBezTo>
                  <a:pt x="1705795" y="7620000"/>
                  <a:pt x="0" y="5914205"/>
                  <a:pt x="0" y="3810000"/>
                </a:cubicBezTo>
                <a:cubicBezTo>
                  <a:pt x="0" y="1705795"/>
                  <a:pt x="1705795" y="0"/>
                  <a:pt x="3810000" y="0"/>
                </a:cubicBezTo>
                <a:cubicBezTo>
                  <a:pt x="5914205" y="0"/>
                  <a:pt x="7620000" y="1705795"/>
                  <a:pt x="7620000" y="3810000"/>
                </a:cubicBezTo>
                <a:close/>
              </a:path>
            </a:pathLst>
          </a:custGeom>
          <a:solidFill>
            <a:srgbClr val="E5D9C5">
              <a:alpha val="12157"/>
            </a:srgbClr>
          </a:solidFill>
          <a:ln>
            <a:noFill/>
          </a:ln>
        </p:spPr>
      </p:sp>
      <p:sp>
        <p:nvSpPr>
          <p:cNvPr id="4" name="Freeform 4"/>
          <p:cNvSpPr/>
          <p:nvPr/>
        </p:nvSpPr>
        <p:spPr>
          <a:xfrm>
            <a:off x="0" y="5080000"/>
            <a:ext cx="5080000" cy="5080000"/>
          </a:xfrm>
          <a:custGeom>
            <a:avLst/>
            <a:gdLst/>
            <a:ahLst/>
            <a:cxnLst/>
            <a:rect l="l" t="t" r="r" b="b"/>
            <a:pathLst>
              <a:path w="5080000" h="5080000">
                <a:moveTo>
                  <a:pt x="5080000" y="2540000"/>
                </a:moveTo>
                <a:cubicBezTo>
                  <a:pt x="5080000" y="3942803"/>
                  <a:pt x="3942803" y="5080000"/>
                  <a:pt x="2540000" y="5080000"/>
                </a:cubicBezTo>
                <a:cubicBezTo>
                  <a:pt x="1137197" y="5080000"/>
                  <a:pt x="0" y="3942803"/>
                  <a:pt x="0" y="2540000"/>
                </a:cubicBezTo>
                <a:cubicBezTo>
                  <a:pt x="0" y="1137197"/>
                  <a:pt x="1137197" y="0"/>
                  <a:pt x="2540000" y="0"/>
                </a:cubicBezTo>
                <a:cubicBezTo>
                  <a:pt x="3942803" y="0"/>
                  <a:pt x="5080000" y="1137197"/>
                  <a:pt x="5080000" y="2540000"/>
                </a:cubicBezTo>
                <a:close/>
              </a:path>
            </a:pathLst>
          </a:custGeom>
          <a:solidFill>
            <a:srgbClr val="2E5C55">
              <a:alpha val="3137"/>
            </a:srgbClr>
          </a:solidFill>
          <a:ln>
            <a:noFill/>
          </a:ln>
        </p:spPr>
      </p:sp>
      <p:sp>
        <p:nvSpPr>
          <p:cNvPr id="5" name="Freeform 5"/>
          <p:cNvSpPr/>
          <p:nvPr/>
        </p:nvSpPr>
        <p:spPr>
          <a:xfrm>
            <a:off x="12700000" y="6350000"/>
            <a:ext cx="1524000" cy="1524000"/>
          </a:xfrm>
          <a:custGeom>
            <a:avLst/>
            <a:gdLst/>
            <a:ahLst/>
            <a:cxnLst/>
            <a:rect l="l" t="t" r="r" b="b"/>
            <a:pathLst>
              <a:path w="1524000" h="1524000">
                <a:moveTo>
                  <a:pt x="0" y="762000"/>
                </a:moveTo>
                <a:lnTo>
                  <a:pt x="0" y="762000"/>
                </a:lnTo>
                <a:cubicBezTo>
                  <a:pt x="0" y="1182841"/>
                  <a:pt x="341159" y="1524000"/>
                  <a:pt x="762000" y="1524000"/>
                </a:cubicBezTo>
                <a:lnTo>
                  <a:pt x="762000" y="1524000"/>
                </a:lnTo>
                <a:cubicBezTo>
                  <a:pt x="1182841" y="1524000"/>
                  <a:pt x="1524000" y="1182841"/>
                  <a:pt x="1524000" y="762000"/>
                </a:cubicBezTo>
                <a:lnTo>
                  <a:pt x="1524000" y="762000"/>
                </a:lnTo>
                <a:cubicBezTo>
                  <a:pt x="1524000" y="341159"/>
                  <a:pt x="1182841" y="0"/>
                  <a:pt x="762000" y="0"/>
                </a:cubicBezTo>
                <a:lnTo>
                  <a:pt x="762000" y="0"/>
                </a:lnTo>
                <a:cubicBezTo>
                  <a:pt x="341159" y="0"/>
                  <a:pt x="0" y="341159"/>
                  <a:pt x="0" y="762000"/>
                </a:cubicBezTo>
                <a:close/>
              </a:path>
            </a:pathLst>
          </a:custGeom>
          <a:noFill/>
          <a:ln w="6350">
            <a:solidFill>
              <a:srgbClr val="2E5C55">
                <a:alpha val="20000"/>
              </a:srgbClr>
            </a:solidFill>
          </a:ln>
        </p:spPr>
      </p:sp>
      <p:sp>
        <p:nvSpPr>
          <p:cNvPr id="6" name="Freeform 6"/>
          <p:cNvSpPr/>
          <p:nvPr/>
        </p:nvSpPr>
        <p:spPr>
          <a:xfrm>
            <a:off x="1524000" y="1714500"/>
            <a:ext cx="2159000" cy="2159000"/>
          </a:xfrm>
          <a:custGeom>
            <a:avLst/>
            <a:gdLst/>
            <a:ahLst/>
            <a:cxnLst/>
            <a:rect l="l" t="t" r="r" b="b"/>
            <a:pathLst>
              <a:path w="2159000" h="2159000">
                <a:moveTo>
                  <a:pt x="2159000" y="1079500"/>
                </a:moveTo>
                <a:cubicBezTo>
                  <a:pt x="2159000" y="1675691"/>
                  <a:pt x="1675691" y="2159000"/>
                  <a:pt x="1079500" y="2159000"/>
                </a:cubicBezTo>
                <a:cubicBezTo>
                  <a:pt x="483309" y="2159000"/>
                  <a:pt x="0" y="1675691"/>
                  <a:pt x="0" y="1079500"/>
                </a:cubicBezTo>
                <a:cubicBezTo>
                  <a:pt x="0" y="483309"/>
                  <a:pt x="483309" y="0"/>
                  <a:pt x="1079500" y="0"/>
                </a:cubicBezTo>
                <a:cubicBezTo>
                  <a:pt x="1675691" y="0"/>
                  <a:pt x="2159000" y="483309"/>
                  <a:pt x="2159000" y="1079500"/>
                </a:cubicBezTo>
                <a:close/>
              </a:path>
            </a:pathLst>
          </a:custGeom>
          <a:noFill/>
          <a:ln w="19050">
            <a:solidFill>
              <a:srgbClr val="E5D9C5">
                <a:alpha val="50196"/>
              </a:srgbClr>
            </a:solidFill>
          </a:ln>
        </p:spPr>
      </p:sp>
      <p:sp>
        <p:nvSpPr>
          <p:cNvPr id="7" name="Freeform 7"/>
          <p:cNvSpPr/>
          <p:nvPr/>
        </p:nvSpPr>
        <p:spPr>
          <a:xfrm>
            <a:off x="2032000" y="4889500"/>
            <a:ext cx="1016000" cy="76200"/>
          </a:xfrm>
          <a:custGeom>
            <a:avLst/>
            <a:gdLst/>
            <a:ahLst/>
            <a:cxnLst/>
            <a:rect l="l" t="t" r="r" b="b"/>
            <a:pathLst>
              <a:path w="1016000" h="76200">
                <a:moveTo>
                  <a:pt x="0" y="38100"/>
                </a:moveTo>
                <a:lnTo>
                  <a:pt x="0" y="38100"/>
                </a:lnTo>
                <a:cubicBezTo>
                  <a:pt x="0" y="59142"/>
                  <a:pt x="17058" y="76200"/>
                  <a:pt x="38100" y="76200"/>
                </a:cubicBezTo>
                <a:lnTo>
                  <a:pt x="977900" y="76200"/>
                </a:lnTo>
                <a:cubicBezTo>
                  <a:pt x="998942" y="76200"/>
                  <a:pt x="1016000" y="59142"/>
                  <a:pt x="1016000" y="38100"/>
                </a:cubicBezTo>
                <a:lnTo>
                  <a:pt x="1016000" y="38100"/>
                </a:lnTo>
                <a:cubicBezTo>
                  <a:pt x="1016000" y="17058"/>
                  <a:pt x="998942" y="0"/>
                  <a:pt x="977900" y="0"/>
                </a:cubicBezTo>
                <a:lnTo>
                  <a:pt x="38100" y="0"/>
                </a:lnTo>
                <a:cubicBezTo>
                  <a:pt x="17058" y="0"/>
                  <a:pt x="0" y="17058"/>
                  <a:pt x="0" y="38100"/>
                </a:cubicBezTo>
                <a:close/>
              </a:path>
            </a:pathLst>
          </a:custGeom>
          <a:solidFill>
            <a:srgbClr val="E5D9C5"/>
          </a:solidFill>
          <a:ln>
            <a:noFill/>
          </a:ln>
        </p:spPr>
      </p:sp>
      <p:sp>
        <p:nvSpPr>
          <p:cNvPr id="8" name="Freeform 8"/>
          <p:cNvSpPr/>
          <p:nvPr/>
        </p:nvSpPr>
        <p:spPr>
          <a:xfrm>
            <a:off x="15176500" y="8407400"/>
            <a:ext cx="254000" cy="12700"/>
          </a:xfrm>
          <a:custGeom>
            <a:avLst/>
            <a:gdLst/>
            <a:ahLst/>
            <a:cxnLst/>
            <a:rect l="l" t="t" r="r" b="b"/>
            <a:pathLst>
              <a:path w="254000" h="12700">
                <a:moveTo>
                  <a:pt x="0" y="0"/>
                </a:moveTo>
                <a:lnTo>
                  <a:pt x="254000" y="0"/>
                </a:lnTo>
                <a:lnTo>
                  <a:pt x="254000" y="12700"/>
                </a:lnTo>
                <a:lnTo>
                  <a:pt x="0" y="12700"/>
                </a:lnTo>
                <a:lnTo>
                  <a:pt x="0" y="0"/>
                </a:lnTo>
                <a:close/>
              </a:path>
            </a:pathLst>
          </a:custGeom>
          <a:solidFill>
            <a:srgbClr val="2E5C55">
              <a:alpha val="30196"/>
            </a:srgbClr>
          </a:solidFill>
          <a:ln>
            <a:noFill/>
          </a:ln>
        </p:spPr>
      </p:sp>
      <p:sp>
        <p:nvSpPr>
          <p:cNvPr id="9" name="TextBox 9"/>
          <p:cNvSpPr txBox="1"/>
          <p:nvPr/>
        </p:nvSpPr>
        <p:spPr>
          <a:xfrm>
            <a:off x="1524000" y="838200"/>
            <a:ext cx="4495800" cy="463550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28000" b="1" i="0">
                <a:solidFill>
                  <a:srgbClr val="2E5C55">
                    <a:alpha val="5098"/>
                  </a:srgbClr>
                </a:solidFill>
                <a:latin typeface="Arial" panose="020B0604020202020204"/>
              </a:rPr>
              <a:t>06</a:t>
            </a:r>
            <a:endParaRPr lang="en-US" sz="28000" b="1" i="0">
              <a:solidFill>
                <a:srgbClr val="2E5C55">
                  <a:alpha val="5098"/>
                </a:srgbClr>
              </a:solidFill>
              <a:latin typeface="Arial" panose="020B0604020202020204"/>
            </a:endParaRPr>
          </a:p>
        </p:txBody>
      </p:sp>
      <p:sp>
        <p:nvSpPr>
          <p:cNvPr id="10" name="TextBox 10"/>
          <p:cNvSpPr txBox="1"/>
          <p:nvPr/>
        </p:nvSpPr>
        <p:spPr>
          <a:xfrm>
            <a:off x="2032000" y="3708400"/>
            <a:ext cx="9217660" cy="87376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5200" b="1" i="0">
                <a:solidFill>
                  <a:srgbClr val="2E5C55"/>
                </a:solidFill>
                <a:latin typeface="Arial" panose="020B0604020202020204"/>
              </a:rPr>
              <a:t>PART 06: COST &amp; SECURITY</a:t>
            </a:r>
            <a:endParaRPr lang="en-US" sz="5200" b="1" i="0">
              <a:solidFill>
                <a:srgbClr val="2E5C55"/>
              </a:solidFill>
              <a:latin typeface="Arial" panose="020B0604020202020204"/>
            </a:endParaRPr>
          </a:p>
        </p:txBody>
      </p:sp>
      <p:sp>
        <p:nvSpPr>
          <p:cNvPr id="11" name="TextBox 11"/>
          <p:cNvSpPr txBox="1"/>
          <p:nvPr/>
        </p:nvSpPr>
        <p:spPr>
          <a:xfrm>
            <a:off x="2057400" y="5308600"/>
            <a:ext cx="6217920" cy="40132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2400" b="0" i="0">
                <a:solidFill>
                  <a:srgbClr val="556B67">
                    <a:alpha val="80000"/>
                  </a:srgbClr>
                </a:solidFill>
                <a:latin typeface="Arial" panose="020B0604020202020204"/>
              </a:rPr>
              <a:t>Ultimate Cost Control and Security Protection</a:t>
            </a:r>
            <a:endParaRPr lang="en-US" sz="2400" b="0" i="0">
              <a:solidFill>
                <a:srgbClr val="556B67">
                  <a:alpha val="80000"/>
                </a:srgbClr>
              </a:solidFill>
              <a:latin typeface="Arial" panose="020B0604020202020204"/>
            </a:endParaRPr>
          </a:p>
        </p:txBody>
      </p:sp>
      <p:sp>
        <p:nvSpPr>
          <p:cNvPr id="12" name="TextBox 12"/>
          <p:cNvSpPr txBox="1"/>
          <p:nvPr/>
        </p:nvSpPr>
        <p:spPr>
          <a:xfrm>
            <a:off x="13081000" y="8343900"/>
            <a:ext cx="1931670" cy="24257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1400" b="0" i="0">
                <a:solidFill>
                  <a:srgbClr val="2E5C55">
                    <a:alpha val="30196"/>
                  </a:srgbClr>
                </a:solidFill>
                <a:latin typeface="Arial" panose="020B0604020202020204"/>
              </a:rPr>
              <a:t>SECTION 06 / PAGE 17</a:t>
            </a:r>
            <a:endParaRPr lang="en-US" sz="1400" b="0" i="0">
              <a:solidFill>
                <a:srgbClr val="2E5C55">
                  <a:alpha val="30196"/>
                </a:srgbClr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6256000" cy="9144000"/>
          </a:xfrm>
          <a:custGeom>
            <a:avLst/>
            <a:gdLst/>
            <a:ahLst/>
            <a:cxnLst/>
            <a:rect l="l" t="t" r="r" b="b"/>
            <a:pathLst>
              <a:path w="16256000" h="9144000">
                <a:moveTo>
                  <a:pt x="0" y="0"/>
                </a:moveTo>
                <a:lnTo>
                  <a:pt x="16256000" y="0"/>
                </a:lnTo>
                <a:lnTo>
                  <a:pt x="16256000" y="9144000"/>
                </a:lnTo>
                <a:lnTo>
                  <a:pt x="0" y="9144000"/>
                </a:lnTo>
                <a:lnTo>
                  <a:pt x="0" y="0"/>
                </a:lnTo>
                <a:close/>
              </a:path>
            </a:pathLst>
          </a:custGeom>
          <a:solidFill>
            <a:srgbClr val="F4F5F7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1016000" y="1524000"/>
            <a:ext cx="1524000" cy="0"/>
          </a:xfrm>
          <a:custGeom>
            <a:avLst/>
            <a:gdLst/>
            <a:ahLst/>
            <a:cxnLst/>
            <a:rect l="l" t="t" r="r" b="b"/>
            <a:pathLst>
              <a:path w="1524000">
                <a:moveTo>
                  <a:pt x="0" y="0"/>
                </a:moveTo>
                <a:lnTo>
                  <a:pt x="1524000" y="0"/>
                </a:lnTo>
              </a:path>
            </a:pathLst>
          </a:custGeom>
          <a:noFill/>
          <a:ln w="50800">
            <a:solidFill>
              <a:srgbClr val="3B5B78"/>
            </a:solidFill>
          </a:ln>
        </p:spPr>
      </p:sp>
      <p:pic>
        <p:nvPicPr>
          <p:cNvPr id="4" name="Picture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349500"/>
            <a:ext cx="7061200" cy="4800600"/>
          </a:xfrm>
          <a:prstGeom prst="rect">
            <a:avLst/>
          </a:prstGeom>
        </p:spPr>
      </p:pic>
      <p:sp>
        <p:nvSpPr>
          <p:cNvPr id="5" name="Freeform 5"/>
          <p:cNvSpPr/>
          <p:nvPr/>
        </p:nvSpPr>
        <p:spPr>
          <a:xfrm>
            <a:off x="1371600" y="28321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304800" y="152400"/>
                </a:moveTo>
                <a:cubicBezTo>
                  <a:pt x="304800" y="236568"/>
                  <a:pt x="236568" y="304800"/>
                  <a:pt x="152400" y="304800"/>
                </a:cubicBezTo>
                <a:cubicBezTo>
                  <a:pt x="68232" y="304800"/>
                  <a:pt x="0" y="236568"/>
                  <a:pt x="0" y="152400"/>
                </a:cubicBezTo>
                <a:cubicBezTo>
                  <a:pt x="0" y="68232"/>
                  <a:pt x="68232" y="0"/>
                  <a:pt x="152400" y="0"/>
                </a:cubicBezTo>
                <a:cubicBezTo>
                  <a:pt x="236568" y="0"/>
                  <a:pt x="304800" y="68232"/>
                  <a:pt x="304800" y="152400"/>
                </a:cubicBezTo>
                <a:close/>
              </a:path>
            </a:pathLst>
          </a:custGeom>
          <a:solidFill>
            <a:srgbClr val="2E5C55">
              <a:alpha val="10196"/>
            </a:srgbClr>
          </a:solidFill>
          <a:ln>
            <a:noFill/>
          </a:ln>
        </p:spPr>
      </p:sp>
      <p:sp>
        <p:nvSpPr>
          <p:cNvPr id="6" name="Freeform 6"/>
          <p:cNvSpPr/>
          <p:nvPr/>
        </p:nvSpPr>
        <p:spPr>
          <a:xfrm>
            <a:off x="1473200" y="3759200"/>
            <a:ext cx="101600" cy="101600"/>
          </a:xfrm>
          <a:custGeom>
            <a:avLst/>
            <a:gdLst/>
            <a:ahLst/>
            <a:cxnLst/>
            <a:rect l="l" t="t" r="r" b="b"/>
            <a:pathLst>
              <a:path w="101600" h="101600">
                <a:moveTo>
                  <a:pt x="101600" y="50800"/>
                </a:moveTo>
                <a:cubicBezTo>
                  <a:pt x="101600" y="78856"/>
                  <a:pt x="78856" y="101600"/>
                  <a:pt x="50800" y="101600"/>
                </a:cubicBezTo>
                <a:cubicBezTo>
                  <a:pt x="22744" y="101600"/>
                  <a:pt x="0" y="78856"/>
                  <a:pt x="0" y="50800"/>
                </a:cubicBezTo>
                <a:cubicBezTo>
                  <a:pt x="0" y="22744"/>
                  <a:pt x="22744" y="0"/>
                  <a:pt x="50800" y="0"/>
                </a:cubicBezTo>
                <a:cubicBezTo>
                  <a:pt x="78856" y="0"/>
                  <a:pt x="101600" y="22744"/>
                  <a:pt x="101600" y="50800"/>
                </a:cubicBezTo>
                <a:close/>
              </a:path>
            </a:pathLst>
          </a:custGeom>
          <a:solidFill>
            <a:srgbClr val="2E5C55"/>
          </a:solidFill>
          <a:ln>
            <a:noFill/>
          </a:ln>
        </p:spPr>
      </p:sp>
      <p:sp>
        <p:nvSpPr>
          <p:cNvPr id="7" name="Freeform 7"/>
          <p:cNvSpPr/>
          <p:nvPr/>
        </p:nvSpPr>
        <p:spPr>
          <a:xfrm>
            <a:off x="1473200" y="4394200"/>
            <a:ext cx="101600" cy="101600"/>
          </a:xfrm>
          <a:custGeom>
            <a:avLst/>
            <a:gdLst/>
            <a:ahLst/>
            <a:cxnLst/>
            <a:rect l="l" t="t" r="r" b="b"/>
            <a:pathLst>
              <a:path w="101600" h="101600">
                <a:moveTo>
                  <a:pt x="101600" y="50800"/>
                </a:moveTo>
                <a:cubicBezTo>
                  <a:pt x="101600" y="78856"/>
                  <a:pt x="78856" y="101600"/>
                  <a:pt x="50800" y="101600"/>
                </a:cubicBezTo>
                <a:cubicBezTo>
                  <a:pt x="22744" y="101600"/>
                  <a:pt x="0" y="78856"/>
                  <a:pt x="0" y="50800"/>
                </a:cubicBezTo>
                <a:cubicBezTo>
                  <a:pt x="0" y="22744"/>
                  <a:pt x="22744" y="0"/>
                  <a:pt x="50800" y="0"/>
                </a:cubicBezTo>
                <a:cubicBezTo>
                  <a:pt x="78856" y="0"/>
                  <a:pt x="101600" y="22744"/>
                  <a:pt x="101600" y="50800"/>
                </a:cubicBezTo>
                <a:close/>
              </a:path>
            </a:pathLst>
          </a:custGeom>
          <a:solidFill>
            <a:srgbClr val="2E5C55"/>
          </a:solidFill>
          <a:ln>
            <a:noFill/>
          </a:ln>
        </p:spPr>
      </p:sp>
      <p:sp>
        <p:nvSpPr>
          <p:cNvPr id="8" name="Freeform 8"/>
          <p:cNvSpPr/>
          <p:nvPr/>
        </p:nvSpPr>
        <p:spPr>
          <a:xfrm>
            <a:off x="1473200" y="5029200"/>
            <a:ext cx="101600" cy="101600"/>
          </a:xfrm>
          <a:custGeom>
            <a:avLst/>
            <a:gdLst/>
            <a:ahLst/>
            <a:cxnLst/>
            <a:rect l="l" t="t" r="r" b="b"/>
            <a:pathLst>
              <a:path w="101600" h="101600">
                <a:moveTo>
                  <a:pt x="101600" y="50800"/>
                </a:moveTo>
                <a:cubicBezTo>
                  <a:pt x="101600" y="78856"/>
                  <a:pt x="78856" y="101600"/>
                  <a:pt x="50800" y="101600"/>
                </a:cubicBezTo>
                <a:cubicBezTo>
                  <a:pt x="22744" y="101600"/>
                  <a:pt x="0" y="78856"/>
                  <a:pt x="0" y="50800"/>
                </a:cubicBezTo>
                <a:cubicBezTo>
                  <a:pt x="0" y="22744"/>
                  <a:pt x="22744" y="0"/>
                  <a:pt x="50800" y="0"/>
                </a:cubicBezTo>
                <a:cubicBezTo>
                  <a:pt x="78856" y="0"/>
                  <a:pt x="101600" y="22744"/>
                  <a:pt x="101600" y="50800"/>
                </a:cubicBezTo>
                <a:close/>
              </a:path>
            </a:pathLst>
          </a:custGeom>
          <a:solidFill>
            <a:srgbClr val="2E5C55"/>
          </a:solidFill>
          <a:ln>
            <a:noFill/>
          </a:ln>
        </p:spPr>
      </p:sp>
      <p:sp>
        <p:nvSpPr>
          <p:cNvPr id="9" name="Freeform 9"/>
          <p:cNvSpPr/>
          <p:nvPr/>
        </p:nvSpPr>
        <p:spPr>
          <a:xfrm>
            <a:off x="1473200" y="5664200"/>
            <a:ext cx="101600" cy="101600"/>
          </a:xfrm>
          <a:custGeom>
            <a:avLst/>
            <a:gdLst/>
            <a:ahLst/>
            <a:cxnLst/>
            <a:rect l="l" t="t" r="r" b="b"/>
            <a:pathLst>
              <a:path w="101600" h="101600">
                <a:moveTo>
                  <a:pt x="101600" y="50800"/>
                </a:moveTo>
                <a:cubicBezTo>
                  <a:pt x="101600" y="78856"/>
                  <a:pt x="78856" y="101600"/>
                  <a:pt x="50800" y="101600"/>
                </a:cubicBezTo>
                <a:cubicBezTo>
                  <a:pt x="22744" y="101600"/>
                  <a:pt x="0" y="78856"/>
                  <a:pt x="0" y="50800"/>
                </a:cubicBezTo>
                <a:cubicBezTo>
                  <a:pt x="0" y="22744"/>
                  <a:pt x="22744" y="0"/>
                  <a:pt x="50800" y="0"/>
                </a:cubicBezTo>
                <a:cubicBezTo>
                  <a:pt x="78856" y="0"/>
                  <a:pt x="101600" y="22744"/>
                  <a:pt x="101600" y="50800"/>
                </a:cubicBezTo>
                <a:close/>
              </a:path>
            </a:pathLst>
          </a:custGeom>
          <a:solidFill>
            <a:srgbClr val="2E5C55"/>
          </a:solidFill>
          <a:ln>
            <a:noFill/>
          </a:ln>
        </p:spPr>
      </p:sp>
      <p:pic>
        <p:nvPicPr>
          <p:cNvPr id="10" name="Picture 10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80400" y="2349500"/>
            <a:ext cx="7061200" cy="4800600"/>
          </a:xfrm>
          <a:prstGeom prst="rect">
            <a:avLst/>
          </a:prstGeom>
        </p:spPr>
      </p:pic>
      <p:sp>
        <p:nvSpPr>
          <p:cNvPr id="11" name="Freeform 11"/>
          <p:cNvSpPr/>
          <p:nvPr/>
        </p:nvSpPr>
        <p:spPr>
          <a:xfrm>
            <a:off x="8737600" y="28321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304800" h="304800">
                <a:moveTo>
                  <a:pt x="304800" y="152400"/>
                </a:moveTo>
                <a:cubicBezTo>
                  <a:pt x="304800" y="236568"/>
                  <a:pt x="236568" y="304800"/>
                  <a:pt x="152400" y="304800"/>
                </a:cubicBezTo>
                <a:cubicBezTo>
                  <a:pt x="68232" y="304800"/>
                  <a:pt x="0" y="236568"/>
                  <a:pt x="0" y="152400"/>
                </a:cubicBezTo>
                <a:cubicBezTo>
                  <a:pt x="0" y="68232"/>
                  <a:pt x="68232" y="0"/>
                  <a:pt x="152400" y="0"/>
                </a:cubicBezTo>
                <a:cubicBezTo>
                  <a:pt x="236568" y="0"/>
                  <a:pt x="304800" y="68232"/>
                  <a:pt x="304800" y="152400"/>
                </a:cubicBezTo>
                <a:close/>
              </a:path>
            </a:pathLst>
          </a:custGeom>
          <a:solidFill>
            <a:srgbClr val="3B5B78">
              <a:alpha val="10196"/>
            </a:srgbClr>
          </a:solidFill>
          <a:ln>
            <a:noFill/>
          </a:ln>
        </p:spPr>
      </p:sp>
      <p:sp>
        <p:nvSpPr>
          <p:cNvPr id="12" name="Freeform 12"/>
          <p:cNvSpPr/>
          <p:nvPr/>
        </p:nvSpPr>
        <p:spPr>
          <a:xfrm>
            <a:off x="8890000" y="3810000"/>
            <a:ext cx="5842000" cy="101600"/>
          </a:xfrm>
          <a:custGeom>
            <a:avLst/>
            <a:gdLst/>
            <a:ahLst/>
            <a:cxnLst/>
            <a:rect l="l" t="t" r="r" b="b"/>
            <a:pathLst>
              <a:path w="5842000" h="101600">
                <a:moveTo>
                  <a:pt x="0" y="50800"/>
                </a:moveTo>
                <a:lnTo>
                  <a:pt x="0" y="50800"/>
                </a:lnTo>
                <a:cubicBezTo>
                  <a:pt x="0" y="78856"/>
                  <a:pt x="22744" y="101600"/>
                  <a:pt x="50800" y="101600"/>
                </a:cubicBezTo>
                <a:lnTo>
                  <a:pt x="5791200" y="101600"/>
                </a:lnTo>
                <a:cubicBezTo>
                  <a:pt x="5819256" y="101600"/>
                  <a:pt x="5842000" y="78856"/>
                  <a:pt x="5842000" y="50800"/>
                </a:cubicBezTo>
                <a:lnTo>
                  <a:pt x="5842000" y="50800"/>
                </a:lnTo>
                <a:cubicBezTo>
                  <a:pt x="5842000" y="22744"/>
                  <a:pt x="5819256" y="0"/>
                  <a:pt x="5791200" y="0"/>
                </a:cubicBezTo>
                <a:lnTo>
                  <a:pt x="50800" y="0"/>
                </a:lnTo>
                <a:cubicBezTo>
                  <a:pt x="22744" y="0"/>
                  <a:pt x="0" y="22744"/>
                  <a:pt x="0" y="50800"/>
                </a:cubicBezTo>
                <a:close/>
              </a:path>
            </a:pathLst>
          </a:custGeom>
          <a:solidFill>
            <a:srgbClr val="E5D9C5">
              <a:alpha val="50196"/>
            </a:srgbClr>
          </a:solidFill>
          <a:ln>
            <a:noFill/>
          </a:ln>
        </p:spPr>
      </p:sp>
      <p:sp>
        <p:nvSpPr>
          <p:cNvPr id="13" name="Freeform 13"/>
          <p:cNvSpPr/>
          <p:nvPr/>
        </p:nvSpPr>
        <p:spPr>
          <a:xfrm>
            <a:off x="8890000" y="3810000"/>
            <a:ext cx="508000" cy="101600"/>
          </a:xfrm>
          <a:custGeom>
            <a:avLst/>
            <a:gdLst/>
            <a:ahLst/>
            <a:cxnLst/>
            <a:rect l="l" t="t" r="r" b="b"/>
            <a:pathLst>
              <a:path w="508000" h="101600">
                <a:moveTo>
                  <a:pt x="0" y="50800"/>
                </a:moveTo>
                <a:lnTo>
                  <a:pt x="0" y="50800"/>
                </a:lnTo>
                <a:cubicBezTo>
                  <a:pt x="0" y="78856"/>
                  <a:pt x="22744" y="101600"/>
                  <a:pt x="50800" y="101600"/>
                </a:cubicBezTo>
                <a:lnTo>
                  <a:pt x="457200" y="101600"/>
                </a:lnTo>
                <a:cubicBezTo>
                  <a:pt x="485256" y="101600"/>
                  <a:pt x="508000" y="78856"/>
                  <a:pt x="508000" y="50800"/>
                </a:cubicBezTo>
                <a:lnTo>
                  <a:pt x="508000" y="50800"/>
                </a:lnTo>
                <a:cubicBezTo>
                  <a:pt x="508000" y="22744"/>
                  <a:pt x="485256" y="0"/>
                  <a:pt x="457200" y="0"/>
                </a:cubicBezTo>
                <a:lnTo>
                  <a:pt x="50800" y="0"/>
                </a:lnTo>
                <a:cubicBezTo>
                  <a:pt x="22744" y="0"/>
                  <a:pt x="0" y="22744"/>
                  <a:pt x="0" y="50800"/>
                </a:cubicBezTo>
                <a:close/>
              </a:path>
            </a:pathLst>
          </a:custGeom>
          <a:solidFill>
            <a:srgbClr val="3B5B78"/>
          </a:solidFill>
          <a:ln>
            <a:noFill/>
          </a:ln>
        </p:spPr>
      </p:sp>
      <p:sp>
        <p:nvSpPr>
          <p:cNvPr id="14" name="Freeform 14"/>
          <p:cNvSpPr/>
          <p:nvPr/>
        </p:nvSpPr>
        <p:spPr>
          <a:xfrm>
            <a:off x="1016000" y="7366000"/>
            <a:ext cx="14224000" cy="1016000"/>
          </a:xfrm>
          <a:custGeom>
            <a:avLst/>
            <a:gdLst/>
            <a:ahLst/>
            <a:cxnLst/>
            <a:rect l="l" t="t" r="r" b="b"/>
            <a:pathLst>
              <a:path w="14224000" h="1016000">
                <a:moveTo>
                  <a:pt x="0" y="101600"/>
                </a:moveTo>
                <a:lnTo>
                  <a:pt x="0" y="914400"/>
                </a:lnTo>
                <a:cubicBezTo>
                  <a:pt x="0" y="970512"/>
                  <a:pt x="45488" y="1016000"/>
                  <a:pt x="101600" y="1016000"/>
                </a:cubicBezTo>
                <a:lnTo>
                  <a:pt x="14122400" y="1016000"/>
                </a:lnTo>
                <a:cubicBezTo>
                  <a:pt x="14178512" y="1016000"/>
                  <a:pt x="14224000" y="970512"/>
                  <a:pt x="14224000" y="914400"/>
                </a:cubicBezTo>
                <a:lnTo>
                  <a:pt x="14224000" y="101600"/>
                </a:lnTo>
                <a:cubicBezTo>
                  <a:pt x="14224000" y="45488"/>
                  <a:pt x="14178512" y="0"/>
                  <a:pt x="14122400" y="0"/>
                </a:cubicBezTo>
                <a:lnTo>
                  <a:pt x="101600" y="0"/>
                </a:lnTo>
                <a:cubicBezTo>
                  <a:pt x="45488" y="0"/>
                  <a:pt x="0" y="45488"/>
                  <a:pt x="0" y="101600"/>
                </a:cubicBezTo>
                <a:close/>
              </a:path>
            </a:pathLst>
          </a:custGeom>
          <a:solidFill>
            <a:srgbClr val="E5D9C5">
              <a:alpha val="30196"/>
            </a:srgbClr>
          </a:solidFill>
          <a:ln>
            <a:noFill/>
          </a:ln>
        </p:spPr>
      </p:sp>
      <p:sp>
        <p:nvSpPr>
          <p:cNvPr id="15" name="Freeform 15"/>
          <p:cNvSpPr/>
          <p:nvPr/>
        </p:nvSpPr>
        <p:spPr>
          <a:xfrm>
            <a:off x="1397000" y="7747000"/>
            <a:ext cx="254000" cy="254000"/>
          </a:xfrm>
          <a:custGeom>
            <a:avLst/>
            <a:gdLst/>
            <a:ahLst/>
            <a:cxnLst/>
            <a:rect l="l" t="t" r="r" b="b"/>
            <a:pathLst>
              <a:path w="254000" h="254000">
                <a:moveTo>
                  <a:pt x="0" y="0"/>
                </a:moveTo>
                <a:lnTo>
                  <a:pt x="0" y="254000"/>
                </a:lnTo>
                <a:lnTo>
                  <a:pt x="254000" y="127000"/>
                </a:lnTo>
                <a:close/>
              </a:path>
            </a:pathLst>
          </a:custGeom>
          <a:solidFill>
            <a:srgbClr val="2E5C55"/>
          </a:solidFill>
          <a:ln>
            <a:noFill/>
          </a:ln>
        </p:spPr>
      </p:sp>
      <p:sp>
        <p:nvSpPr>
          <p:cNvPr id="16" name="TextBox 16"/>
          <p:cNvSpPr txBox="1"/>
          <p:nvPr/>
        </p:nvSpPr>
        <p:spPr>
          <a:xfrm>
            <a:off x="1016000" y="850900"/>
            <a:ext cx="3738880" cy="60198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3600" b="1" i="0">
                <a:solidFill>
                  <a:srgbClr val="3B5B78"/>
                </a:solidFill>
                <a:latin typeface="Arial" panose="020B0604020202020204"/>
              </a:rPr>
              <a:t>COST ANALYSIS</a:t>
            </a:r>
            <a:endParaRPr lang="en-US" sz="3600" b="1" i="0">
              <a:solidFill>
                <a:srgbClr val="3B5B78"/>
              </a:solidFill>
              <a:latin typeface="Arial" panose="020B0604020202020204"/>
            </a:endParaRPr>
          </a:p>
        </p:txBody>
      </p:sp>
      <p:sp>
        <p:nvSpPr>
          <p:cNvPr id="17" name="TextBox 17"/>
          <p:cNvSpPr txBox="1"/>
          <p:nvPr/>
        </p:nvSpPr>
        <p:spPr>
          <a:xfrm>
            <a:off x="1016000" y="1714500"/>
            <a:ext cx="3662680" cy="27178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1600" b="0" i="0">
                <a:solidFill>
                  <a:srgbClr val="888888"/>
                </a:solidFill>
                <a:latin typeface="Arial" panose="020B0604020202020204"/>
              </a:rPr>
              <a:t>PROJECT ECONOMICS &amp; EFFICIENCY</a:t>
            </a:r>
            <a:endParaRPr lang="en-US" sz="1600" b="0" i="0">
              <a:solidFill>
                <a:srgbClr val="888888"/>
              </a:solidFill>
              <a:latin typeface="Arial" panose="020B0604020202020204"/>
            </a:endParaRPr>
          </a:p>
        </p:txBody>
      </p:sp>
      <p:sp>
        <p:nvSpPr>
          <p:cNvPr id="18" name="TextBox 18"/>
          <p:cNvSpPr txBox="1"/>
          <p:nvPr/>
        </p:nvSpPr>
        <p:spPr>
          <a:xfrm>
            <a:off x="1841500" y="2794000"/>
            <a:ext cx="4503420" cy="40132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2400" b="1" i="0">
                <a:solidFill>
                  <a:srgbClr val="2E5C55"/>
                </a:solidFill>
                <a:latin typeface="Arial" panose="020B0604020202020204"/>
              </a:rPr>
              <a:t>Zero-Cost Strategy (Free Tiers)</a:t>
            </a:r>
            <a:endParaRPr lang="en-US" sz="2400" b="1" i="0">
              <a:solidFill>
                <a:srgbClr val="2E5C55"/>
              </a:solidFill>
              <a:latin typeface="Arial" panose="020B0604020202020204"/>
            </a:endParaRPr>
          </a:p>
        </p:txBody>
      </p:sp>
      <p:sp>
        <p:nvSpPr>
          <p:cNvPr id="19" name="TextBox 19"/>
          <p:cNvSpPr txBox="1"/>
          <p:nvPr/>
        </p:nvSpPr>
        <p:spPr>
          <a:xfrm>
            <a:off x="1841500" y="3670300"/>
            <a:ext cx="3145790" cy="31369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pPr>
              <a:spcAft>
                <a:spcPct val="0"/>
              </a:spcAft>
            </a:pPr>
            <a:r>
              <a:rPr lang="en-US" sz="1800" b="0" i="0">
                <a:solidFill>
                  <a:srgbClr val="555555"/>
                </a:solidFill>
                <a:latin typeface="Arial" panose="020B0604020202020204"/>
              </a:rPr>
              <a:t>Telegram API</a:t>
            </a:r>
            <a:r>
              <a:rPr lang="en-US" sz="1400" b="0" i="0">
                <a:solidFill>
                  <a:srgbClr val="AAAAAA"/>
                </a:solidFill>
                <a:latin typeface="Arial" panose="020B0604020202020204"/>
              </a:rPr>
              <a:t>Messaging Interface</a:t>
            </a:r>
            <a:endParaRPr lang="en-US" sz="1400" b="0" i="0">
              <a:solidFill>
                <a:srgbClr val="AAAAAA"/>
              </a:solidFill>
              <a:latin typeface="Arial" panose="020B0604020202020204"/>
            </a:endParaRPr>
          </a:p>
        </p:txBody>
      </p:sp>
      <p:sp>
        <p:nvSpPr>
          <p:cNvPr id="20" name="TextBox 20"/>
          <p:cNvSpPr txBox="1"/>
          <p:nvPr/>
        </p:nvSpPr>
        <p:spPr>
          <a:xfrm>
            <a:off x="1841500" y="4305300"/>
            <a:ext cx="3882390" cy="31369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pPr>
              <a:spcAft>
                <a:spcPct val="0"/>
              </a:spcAft>
            </a:pPr>
            <a:r>
              <a:rPr lang="en-US" sz="1800" b="0" i="0">
                <a:solidFill>
                  <a:srgbClr val="555555"/>
                </a:solidFill>
                <a:latin typeface="Arial" panose="020B0604020202020204"/>
              </a:rPr>
              <a:t>Render / Docker</a:t>
            </a:r>
            <a:r>
              <a:rPr lang="en-US" sz="1400" b="0" i="0">
                <a:solidFill>
                  <a:srgbClr val="AAAAAA"/>
                </a:solidFill>
                <a:latin typeface="Arial" panose="020B0604020202020204"/>
              </a:rPr>
              <a:t>App Hosting &amp; Containers</a:t>
            </a:r>
            <a:endParaRPr lang="en-US" sz="1400" b="0" i="0">
              <a:solidFill>
                <a:srgbClr val="AAAAAA"/>
              </a:solidFill>
              <a:latin typeface="Arial" panose="020B0604020202020204"/>
            </a:endParaRPr>
          </a:p>
        </p:txBody>
      </p:sp>
      <p:sp>
        <p:nvSpPr>
          <p:cNvPr id="21" name="TextBox 21"/>
          <p:cNvSpPr txBox="1"/>
          <p:nvPr/>
        </p:nvSpPr>
        <p:spPr>
          <a:xfrm>
            <a:off x="1841500" y="4940300"/>
            <a:ext cx="3336290" cy="31369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pPr>
              <a:spcAft>
                <a:spcPct val="0"/>
              </a:spcAft>
            </a:pPr>
            <a:r>
              <a:rPr lang="en-US" sz="1800" b="0" i="0">
                <a:solidFill>
                  <a:srgbClr val="555555"/>
                </a:solidFill>
                <a:latin typeface="Arial" panose="020B0604020202020204"/>
              </a:rPr>
              <a:t>Redis Cloud</a:t>
            </a:r>
            <a:r>
              <a:rPr lang="en-US" sz="1400" b="0" i="0">
                <a:solidFill>
                  <a:srgbClr val="AAAAAA"/>
                </a:solidFill>
                <a:latin typeface="Arial" panose="020B0604020202020204"/>
              </a:rPr>
              <a:t>Managed In-Memory DB</a:t>
            </a:r>
            <a:endParaRPr lang="en-US" sz="1400" b="0" i="0">
              <a:solidFill>
                <a:srgbClr val="AAAAAA"/>
              </a:solidFill>
              <a:latin typeface="Arial" panose="020B0604020202020204"/>
            </a:endParaRPr>
          </a:p>
        </p:txBody>
      </p:sp>
      <p:sp>
        <p:nvSpPr>
          <p:cNvPr id="22" name="TextBox 22"/>
          <p:cNvSpPr txBox="1"/>
          <p:nvPr/>
        </p:nvSpPr>
        <p:spPr>
          <a:xfrm>
            <a:off x="1841500" y="5575300"/>
            <a:ext cx="2599690" cy="31369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pPr>
              <a:spcAft>
                <a:spcPct val="0"/>
              </a:spcAft>
            </a:pPr>
            <a:r>
              <a:rPr lang="en-US" sz="1800" b="0" i="0">
                <a:solidFill>
                  <a:srgbClr val="555555"/>
                </a:solidFill>
                <a:latin typeface="Arial" panose="020B0604020202020204"/>
              </a:rPr>
              <a:t>GitHub</a:t>
            </a:r>
            <a:r>
              <a:rPr lang="en-US" sz="1400" b="0" i="0">
                <a:solidFill>
                  <a:srgbClr val="AAAAAA"/>
                </a:solidFill>
                <a:latin typeface="Arial" panose="020B0604020202020204"/>
              </a:rPr>
              <a:t>VCS &amp; CI/CD Pipeline</a:t>
            </a:r>
            <a:endParaRPr lang="en-US" sz="1400" b="0" i="0">
              <a:solidFill>
                <a:srgbClr val="AAAAAA"/>
              </a:solidFill>
              <a:latin typeface="Arial" panose="020B0604020202020204"/>
            </a:endParaRPr>
          </a:p>
        </p:txBody>
      </p:sp>
      <p:sp>
        <p:nvSpPr>
          <p:cNvPr id="23" name="TextBox 23"/>
          <p:cNvSpPr txBox="1"/>
          <p:nvPr/>
        </p:nvSpPr>
        <p:spPr>
          <a:xfrm>
            <a:off x="9207500" y="2794000"/>
            <a:ext cx="3957320" cy="40132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2400" b="1" i="0">
                <a:solidFill>
                  <a:srgbClr val="3B5B78"/>
                </a:solidFill>
                <a:latin typeface="Arial" panose="020B0604020202020204"/>
              </a:rPr>
              <a:t>Primary Expenditure (Paid)</a:t>
            </a:r>
            <a:endParaRPr lang="en-US" sz="2400" b="1" i="0">
              <a:solidFill>
                <a:srgbClr val="3B5B78"/>
              </a:solidFill>
              <a:latin typeface="Arial" panose="020B0604020202020204"/>
            </a:endParaRPr>
          </a:p>
        </p:txBody>
      </p:sp>
      <p:sp>
        <p:nvSpPr>
          <p:cNvPr id="24" name="TextBox 24"/>
          <p:cNvSpPr txBox="1"/>
          <p:nvPr/>
        </p:nvSpPr>
        <p:spPr>
          <a:xfrm>
            <a:off x="8890000" y="4152900"/>
            <a:ext cx="3239770" cy="24257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1400" b="0" i="0">
                <a:solidFill>
                  <a:srgbClr val="888888"/>
                </a:solidFill>
                <a:latin typeface="Arial" panose="020B0604020202020204"/>
              </a:rPr>
              <a:t>DeepSeek LLM API Token Consumption</a:t>
            </a:r>
            <a:endParaRPr lang="en-US" sz="1400" b="0" i="0">
              <a:solidFill>
                <a:srgbClr val="888888"/>
              </a:solidFill>
              <a:latin typeface="Arial" panose="020B0604020202020204"/>
            </a:endParaRPr>
          </a:p>
        </p:txBody>
      </p:sp>
      <p:sp>
        <p:nvSpPr>
          <p:cNvPr id="25" name="TextBox 25"/>
          <p:cNvSpPr txBox="1"/>
          <p:nvPr/>
        </p:nvSpPr>
        <p:spPr>
          <a:xfrm>
            <a:off x="8890000" y="4622800"/>
            <a:ext cx="3185160" cy="120396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7200" b="1" i="0">
                <a:solidFill>
                  <a:srgbClr val="3B5B78"/>
                </a:solidFill>
                <a:latin typeface="Arial" panose="020B0604020202020204"/>
              </a:rPr>
              <a:t>¥ 10.00</a:t>
            </a:r>
            <a:endParaRPr lang="en-US" sz="7200" b="1" i="0">
              <a:solidFill>
                <a:srgbClr val="3B5B78"/>
              </a:solidFill>
              <a:latin typeface="Arial" panose="020B0604020202020204"/>
            </a:endParaRPr>
          </a:p>
        </p:txBody>
      </p:sp>
      <p:sp>
        <p:nvSpPr>
          <p:cNvPr id="26" name="TextBox 26"/>
          <p:cNvSpPr txBox="1"/>
          <p:nvPr/>
        </p:nvSpPr>
        <p:spPr>
          <a:xfrm>
            <a:off x="8890000" y="5753100"/>
            <a:ext cx="2040890" cy="31369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1800" b="0" i="0">
                <a:solidFill>
                  <a:srgbClr val="555555"/>
                </a:solidFill>
                <a:latin typeface="Arial" panose="020B0604020202020204"/>
              </a:rPr>
              <a:t>Approx. $ 1.37 USD</a:t>
            </a:r>
            <a:endParaRPr lang="en-US" sz="1800" b="0" i="0">
              <a:solidFill>
                <a:srgbClr val="555555"/>
              </a:solidFill>
              <a:latin typeface="Arial" panose="020B0604020202020204"/>
            </a:endParaRPr>
          </a:p>
        </p:txBody>
      </p:sp>
      <p:sp>
        <p:nvSpPr>
          <p:cNvPr id="27" name="TextBox 27"/>
          <p:cNvSpPr txBox="1"/>
          <p:nvPr/>
        </p:nvSpPr>
        <p:spPr>
          <a:xfrm>
            <a:off x="1905000" y="7734300"/>
            <a:ext cx="15011400" cy="34290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2000" b="1" i="0">
                <a:solidFill>
                  <a:srgbClr val="2E5C55"/>
                </a:solidFill>
                <a:latin typeface="Arial" panose="020B0604020202020204"/>
              </a:rPr>
              <a:t>CONCLUSION: This project demonstrates building production-ready apps using free cloud tiers with extreme cost-efficiency.</a:t>
            </a:r>
            <a:endParaRPr lang="en-US" sz="2000" b="1" i="0">
              <a:solidFill>
                <a:srgbClr val="2E5C55"/>
              </a:solidFill>
              <a:latin typeface="Arial" panose="020B0604020202020204"/>
            </a:endParaRPr>
          </a:p>
        </p:txBody>
      </p:sp>
      <p:sp>
        <p:nvSpPr>
          <p:cNvPr id="28" name="TextBox 28"/>
          <p:cNvSpPr txBox="1"/>
          <p:nvPr/>
        </p:nvSpPr>
        <p:spPr>
          <a:xfrm>
            <a:off x="14732000" y="8597900"/>
            <a:ext cx="763270" cy="24257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1400" b="0" i="0">
                <a:solidFill>
                  <a:srgbClr val="AAAAAA"/>
                </a:solidFill>
                <a:latin typeface="Arial" panose="020B0604020202020204"/>
              </a:rPr>
              <a:t>PAGE 18</a:t>
            </a:r>
            <a:endParaRPr lang="en-US" sz="1400" b="0" i="0">
              <a:solidFill>
                <a:srgbClr val="AAAAAA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6256000" cy="9144000"/>
          </a:xfrm>
          <a:custGeom>
            <a:avLst/>
            <a:gdLst/>
            <a:ahLst/>
            <a:cxnLst/>
            <a:rect l="l" t="t" r="r" b="b"/>
            <a:pathLst>
              <a:path w="16256000" h="9144000">
                <a:moveTo>
                  <a:pt x="0" y="0"/>
                </a:moveTo>
                <a:lnTo>
                  <a:pt x="16256000" y="0"/>
                </a:lnTo>
                <a:lnTo>
                  <a:pt x="16256000" y="9144000"/>
                </a:lnTo>
                <a:lnTo>
                  <a:pt x="0" y="9144000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rgbClr val="FFFFFF"/>
              </a:gs>
              <a:gs pos="100000">
                <a:srgbClr val="F4F5F7"/>
              </a:gs>
            </a:gsLst>
            <a:lin ang="2700000" scaled="1"/>
          </a:gra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14947900" y="673100"/>
            <a:ext cx="76200" cy="76200"/>
          </a:xfrm>
          <a:custGeom>
            <a:avLst/>
            <a:gdLst/>
            <a:ahLst/>
            <a:cxnLst/>
            <a:rect l="l" t="t" r="r" b="b"/>
            <a:pathLst>
              <a:path w="76200" h="76200">
                <a:moveTo>
                  <a:pt x="76200" y="38100"/>
                </a:moveTo>
                <a:cubicBezTo>
                  <a:pt x="76200" y="59142"/>
                  <a:pt x="59142" y="76200"/>
                  <a:pt x="38100" y="76200"/>
                </a:cubicBezTo>
                <a:cubicBezTo>
                  <a:pt x="17058" y="76200"/>
                  <a:pt x="0" y="59142"/>
                  <a:pt x="0" y="38100"/>
                </a:cubicBezTo>
                <a:cubicBezTo>
                  <a:pt x="0" y="17058"/>
                  <a:pt x="17058" y="0"/>
                  <a:pt x="38100" y="0"/>
                </a:cubicBezTo>
                <a:cubicBezTo>
                  <a:pt x="59142" y="0"/>
                  <a:pt x="76200" y="17058"/>
                  <a:pt x="76200" y="38100"/>
                </a:cubicBezTo>
                <a:close/>
              </a:path>
            </a:pathLst>
          </a:custGeom>
          <a:solidFill>
            <a:srgbClr val="2E5C55"/>
          </a:solidFill>
          <a:ln>
            <a:noFill/>
          </a:ln>
        </p:spPr>
      </p:sp>
      <p:sp>
        <p:nvSpPr>
          <p:cNvPr id="4" name="Freeform 4"/>
          <p:cNvSpPr/>
          <p:nvPr/>
        </p:nvSpPr>
        <p:spPr>
          <a:xfrm>
            <a:off x="1270000" y="4191000"/>
            <a:ext cx="609600" cy="50800"/>
          </a:xfrm>
          <a:custGeom>
            <a:avLst/>
            <a:gdLst/>
            <a:ahLst/>
            <a:cxnLst/>
            <a:rect l="l" t="t" r="r" b="b"/>
            <a:pathLst>
              <a:path w="609600" h="50800">
                <a:moveTo>
                  <a:pt x="0" y="25400"/>
                </a:moveTo>
                <a:lnTo>
                  <a:pt x="0" y="25400"/>
                </a:lnTo>
                <a:cubicBezTo>
                  <a:pt x="0" y="39428"/>
                  <a:pt x="11372" y="50800"/>
                  <a:pt x="25400" y="50800"/>
                </a:cubicBezTo>
                <a:lnTo>
                  <a:pt x="584200" y="50800"/>
                </a:lnTo>
                <a:cubicBezTo>
                  <a:pt x="598228" y="50800"/>
                  <a:pt x="609600" y="39428"/>
                  <a:pt x="609600" y="25400"/>
                </a:cubicBezTo>
                <a:lnTo>
                  <a:pt x="609600" y="25400"/>
                </a:lnTo>
                <a:cubicBezTo>
                  <a:pt x="609600" y="11372"/>
                  <a:pt x="598228" y="0"/>
                  <a:pt x="584200" y="0"/>
                </a:cubicBezTo>
                <a:lnTo>
                  <a:pt x="25400" y="0"/>
                </a:lnTo>
                <a:cubicBezTo>
                  <a:pt x="11372" y="0"/>
                  <a:pt x="0" y="11372"/>
                  <a:pt x="0" y="25400"/>
                </a:cubicBezTo>
                <a:close/>
              </a:path>
            </a:pathLst>
          </a:custGeom>
          <a:solidFill>
            <a:srgbClr val="E5D9C5"/>
          </a:solidFill>
          <a:ln>
            <a:noFill/>
          </a:ln>
        </p:spPr>
      </p:sp>
      <p:sp>
        <p:nvSpPr>
          <p:cNvPr id="5" name="Freeform 5"/>
          <p:cNvSpPr/>
          <p:nvPr/>
        </p:nvSpPr>
        <p:spPr>
          <a:xfrm>
            <a:off x="1651000" y="5461000"/>
            <a:ext cx="2286000" cy="2286000"/>
          </a:xfrm>
          <a:custGeom>
            <a:avLst/>
            <a:gdLst/>
            <a:ahLst/>
            <a:cxnLst/>
            <a:rect l="l" t="t" r="r" b="b"/>
            <a:pathLst>
              <a:path w="2286000" h="2286000">
                <a:moveTo>
                  <a:pt x="2286000" y="1143000"/>
                </a:moveTo>
                <a:cubicBezTo>
                  <a:pt x="2286000" y="1774261"/>
                  <a:pt x="1774261" y="2286000"/>
                  <a:pt x="1143000" y="2286000"/>
                </a:cubicBezTo>
                <a:cubicBezTo>
                  <a:pt x="511739" y="2286000"/>
                  <a:pt x="0" y="1774261"/>
                  <a:pt x="0" y="1143000"/>
                </a:cubicBezTo>
                <a:cubicBezTo>
                  <a:pt x="0" y="511739"/>
                  <a:pt x="511739" y="0"/>
                  <a:pt x="1143000" y="0"/>
                </a:cubicBezTo>
                <a:cubicBezTo>
                  <a:pt x="1774261" y="0"/>
                  <a:pt x="2286000" y="511739"/>
                  <a:pt x="2286000" y="1143000"/>
                </a:cubicBezTo>
                <a:close/>
              </a:path>
            </a:pathLst>
          </a:custGeom>
          <a:noFill/>
          <a:ln w="19050">
            <a:solidFill>
              <a:srgbClr val="E5D9C5"/>
            </a:solidFill>
            <a:prstDash val="dot"/>
          </a:ln>
        </p:spPr>
      </p:sp>
      <p:sp>
        <p:nvSpPr>
          <p:cNvPr id="6" name="Freeform 6"/>
          <p:cNvSpPr/>
          <p:nvPr/>
        </p:nvSpPr>
        <p:spPr>
          <a:xfrm>
            <a:off x="1905000" y="5715000"/>
            <a:ext cx="1778000" cy="1778000"/>
          </a:xfrm>
          <a:custGeom>
            <a:avLst/>
            <a:gdLst/>
            <a:ahLst/>
            <a:cxnLst/>
            <a:rect l="l" t="t" r="r" b="b"/>
            <a:pathLst>
              <a:path w="1778000" h="1778000">
                <a:moveTo>
                  <a:pt x="1778000" y="889000"/>
                </a:moveTo>
                <a:cubicBezTo>
                  <a:pt x="1778000" y="1379981"/>
                  <a:pt x="1379981" y="1778000"/>
                  <a:pt x="889000" y="1778000"/>
                </a:cubicBezTo>
                <a:cubicBezTo>
                  <a:pt x="398019" y="1778000"/>
                  <a:pt x="0" y="1379981"/>
                  <a:pt x="0" y="889000"/>
                </a:cubicBezTo>
                <a:cubicBezTo>
                  <a:pt x="0" y="398019"/>
                  <a:pt x="398019" y="0"/>
                  <a:pt x="889000" y="0"/>
                </a:cubicBezTo>
                <a:cubicBezTo>
                  <a:pt x="1379981" y="0"/>
                  <a:pt x="1778000" y="398019"/>
                  <a:pt x="1778000" y="889000"/>
                </a:cubicBezTo>
                <a:close/>
              </a:path>
            </a:pathLst>
          </a:custGeom>
          <a:noFill/>
          <a:ln w="50800">
            <a:solidFill>
              <a:srgbClr val="2E5C55"/>
            </a:solidFill>
          </a:ln>
        </p:spPr>
      </p:sp>
      <p:sp>
        <p:nvSpPr>
          <p:cNvPr id="7" name="Freeform 7"/>
          <p:cNvSpPr/>
          <p:nvPr/>
        </p:nvSpPr>
        <p:spPr>
          <a:xfrm>
            <a:off x="2108200" y="5918200"/>
            <a:ext cx="1371600" cy="1371600"/>
          </a:xfrm>
          <a:custGeom>
            <a:avLst/>
            <a:gdLst/>
            <a:ahLst/>
            <a:cxnLst/>
            <a:rect l="l" t="t" r="r" b="b"/>
            <a:pathLst>
              <a:path w="1371600" h="1371600">
                <a:moveTo>
                  <a:pt x="1371600" y="685800"/>
                </a:moveTo>
                <a:cubicBezTo>
                  <a:pt x="1371600" y="1064557"/>
                  <a:pt x="1064557" y="1371600"/>
                  <a:pt x="685800" y="1371600"/>
                </a:cubicBezTo>
                <a:cubicBezTo>
                  <a:pt x="307043" y="1371600"/>
                  <a:pt x="0" y="1064557"/>
                  <a:pt x="0" y="685800"/>
                </a:cubicBezTo>
                <a:cubicBezTo>
                  <a:pt x="0" y="307043"/>
                  <a:pt x="307043" y="0"/>
                  <a:pt x="685800" y="0"/>
                </a:cubicBezTo>
                <a:cubicBezTo>
                  <a:pt x="1064557" y="0"/>
                  <a:pt x="1371600" y="307043"/>
                  <a:pt x="1371600" y="685800"/>
                </a:cubicBezTo>
                <a:close/>
              </a:path>
            </a:pathLst>
          </a:custGeom>
          <a:noFill/>
          <a:ln w="12700">
            <a:solidFill>
              <a:srgbClr val="2E5C55">
                <a:alpha val="20000"/>
              </a:srgbClr>
            </a:solidFill>
          </a:ln>
        </p:spPr>
      </p:sp>
      <p:pic>
        <p:nvPicPr>
          <p:cNvPr id="8" name="Picture 8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5689600"/>
            <a:ext cx="3098800" cy="1447800"/>
          </a:xfrm>
          <a:prstGeom prst="rect">
            <a:avLst/>
          </a:prstGeom>
        </p:spPr>
      </p:pic>
      <p:sp>
        <p:nvSpPr>
          <p:cNvPr id="9" name="Freeform 9"/>
          <p:cNvSpPr/>
          <p:nvPr/>
        </p:nvSpPr>
        <p:spPr>
          <a:xfrm>
            <a:off x="1981200" y="6299200"/>
            <a:ext cx="101600" cy="101600"/>
          </a:xfrm>
          <a:custGeom>
            <a:avLst/>
            <a:gdLst/>
            <a:ahLst/>
            <a:cxnLst/>
            <a:rect l="l" t="t" r="r" b="b"/>
            <a:pathLst>
              <a:path w="101600" h="101600">
                <a:moveTo>
                  <a:pt x="101600" y="50800"/>
                </a:moveTo>
                <a:cubicBezTo>
                  <a:pt x="101600" y="78856"/>
                  <a:pt x="78856" y="101600"/>
                  <a:pt x="50800" y="101600"/>
                </a:cubicBezTo>
                <a:cubicBezTo>
                  <a:pt x="22744" y="101600"/>
                  <a:pt x="0" y="78856"/>
                  <a:pt x="0" y="50800"/>
                </a:cubicBezTo>
                <a:cubicBezTo>
                  <a:pt x="0" y="22744"/>
                  <a:pt x="22744" y="0"/>
                  <a:pt x="50800" y="0"/>
                </a:cubicBezTo>
                <a:cubicBezTo>
                  <a:pt x="78856" y="0"/>
                  <a:pt x="101600" y="22744"/>
                  <a:pt x="101600" y="50800"/>
                </a:cubicBezTo>
                <a:close/>
              </a:path>
            </a:pathLst>
          </a:custGeom>
          <a:solidFill>
            <a:srgbClr val="FFFFFF"/>
          </a:solidFill>
          <a:ln w="25400">
            <a:solidFill>
              <a:srgbClr val="2E5C55"/>
            </a:solidFill>
          </a:ln>
        </p:spPr>
      </p:sp>
      <p:sp>
        <p:nvSpPr>
          <p:cNvPr id="10" name="Freeform 10"/>
          <p:cNvSpPr/>
          <p:nvPr/>
        </p:nvSpPr>
        <p:spPr>
          <a:xfrm>
            <a:off x="3251200" y="5918200"/>
            <a:ext cx="101600" cy="101600"/>
          </a:xfrm>
          <a:custGeom>
            <a:avLst/>
            <a:gdLst/>
            <a:ahLst/>
            <a:cxnLst/>
            <a:rect l="l" t="t" r="r" b="b"/>
            <a:pathLst>
              <a:path w="101600" h="101600">
                <a:moveTo>
                  <a:pt x="101600" y="50800"/>
                </a:moveTo>
                <a:cubicBezTo>
                  <a:pt x="101600" y="78856"/>
                  <a:pt x="78856" y="101600"/>
                  <a:pt x="50800" y="101600"/>
                </a:cubicBezTo>
                <a:cubicBezTo>
                  <a:pt x="22744" y="101600"/>
                  <a:pt x="0" y="78856"/>
                  <a:pt x="0" y="50800"/>
                </a:cubicBezTo>
                <a:cubicBezTo>
                  <a:pt x="0" y="22744"/>
                  <a:pt x="22744" y="0"/>
                  <a:pt x="50800" y="0"/>
                </a:cubicBezTo>
                <a:cubicBezTo>
                  <a:pt x="78856" y="0"/>
                  <a:pt x="101600" y="22744"/>
                  <a:pt x="101600" y="50800"/>
                </a:cubicBezTo>
                <a:close/>
              </a:path>
            </a:pathLst>
          </a:custGeom>
          <a:solidFill>
            <a:srgbClr val="FFFFFF"/>
          </a:solidFill>
          <a:ln w="25400">
            <a:solidFill>
              <a:srgbClr val="2E5C55"/>
            </a:solidFill>
          </a:ln>
        </p:spPr>
      </p:sp>
      <p:sp>
        <p:nvSpPr>
          <p:cNvPr id="11" name="Freeform 11"/>
          <p:cNvSpPr/>
          <p:nvPr/>
        </p:nvSpPr>
        <p:spPr>
          <a:xfrm>
            <a:off x="3886200" y="6172200"/>
            <a:ext cx="101600" cy="101600"/>
          </a:xfrm>
          <a:custGeom>
            <a:avLst/>
            <a:gdLst/>
            <a:ahLst/>
            <a:cxnLst/>
            <a:rect l="l" t="t" r="r" b="b"/>
            <a:pathLst>
              <a:path w="101600" h="101600">
                <a:moveTo>
                  <a:pt x="101600" y="50800"/>
                </a:moveTo>
                <a:cubicBezTo>
                  <a:pt x="101600" y="78856"/>
                  <a:pt x="78856" y="101600"/>
                  <a:pt x="50800" y="101600"/>
                </a:cubicBezTo>
                <a:cubicBezTo>
                  <a:pt x="22744" y="101600"/>
                  <a:pt x="0" y="78856"/>
                  <a:pt x="0" y="50800"/>
                </a:cubicBezTo>
                <a:cubicBezTo>
                  <a:pt x="0" y="22744"/>
                  <a:pt x="22744" y="0"/>
                  <a:pt x="50800" y="0"/>
                </a:cubicBezTo>
                <a:cubicBezTo>
                  <a:pt x="78856" y="0"/>
                  <a:pt x="101600" y="22744"/>
                  <a:pt x="101600" y="50800"/>
                </a:cubicBezTo>
                <a:close/>
              </a:path>
            </a:pathLst>
          </a:custGeom>
          <a:solidFill>
            <a:srgbClr val="FFFFFF"/>
          </a:solidFill>
          <a:ln w="25400">
            <a:solidFill>
              <a:srgbClr val="2E5C55"/>
            </a:solidFill>
          </a:ln>
        </p:spPr>
      </p:sp>
      <p:sp>
        <p:nvSpPr>
          <p:cNvPr id="12" name="Freeform 12"/>
          <p:cNvSpPr/>
          <p:nvPr/>
        </p:nvSpPr>
        <p:spPr>
          <a:xfrm>
            <a:off x="6604000" y="1778000"/>
            <a:ext cx="8128000" cy="1524000"/>
          </a:xfrm>
          <a:custGeom>
            <a:avLst/>
            <a:gdLst/>
            <a:ahLst/>
            <a:cxnLst/>
            <a:rect l="l" t="t" r="r" b="b"/>
            <a:pathLst>
              <a:path w="8128000" h="1524000">
                <a:moveTo>
                  <a:pt x="0" y="152400"/>
                </a:moveTo>
                <a:lnTo>
                  <a:pt x="0" y="1371600"/>
                </a:lnTo>
                <a:cubicBezTo>
                  <a:pt x="0" y="1455768"/>
                  <a:pt x="68232" y="1524000"/>
                  <a:pt x="152400" y="1524000"/>
                </a:cubicBezTo>
                <a:lnTo>
                  <a:pt x="7975600" y="1524000"/>
                </a:lnTo>
                <a:cubicBezTo>
                  <a:pt x="8059768" y="1524000"/>
                  <a:pt x="8128000" y="1455768"/>
                  <a:pt x="8128000" y="1371600"/>
                </a:cubicBezTo>
                <a:lnTo>
                  <a:pt x="8128000" y="152400"/>
                </a:lnTo>
                <a:cubicBezTo>
                  <a:pt x="8128000" y="68232"/>
                  <a:pt x="8059768" y="0"/>
                  <a:pt x="7975600" y="0"/>
                </a:cubicBezTo>
                <a:lnTo>
                  <a:pt x="152400" y="0"/>
                </a:lnTo>
                <a:cubicBezTo>
                  <a:pt x="68232" y="0"/>
                  <a:pt x="0" y="68232"/>
                  <a:pt x="0" y="15240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  <a:effectLst>
            <a:outerShdw blurRad="508000" dist="101600" dir="5400000" rotWithShape="0">
              <a:srgbClr val="1A2E2A">
                <a:alpha val="5882"/>
              </a:srgbClr>
            </a:outerShdw>
          </a:effectLst>
        </p:spPr>
      </p:sp>
      <p:sp>
        <p:nvSpPr>
          <p:cNvPr id="13" name="Freeform 13"/>
          <p:cNvSpPr/>
          <p:nvPr/>
        </p:nvSpPr>
        <p:spPr>
          <a:xfrm>
            <a:off x="6985000" y="2159000"/>
            <a:ext cx="762000" cy="762000"/>
          </a:xfrm>
          <a:custGeom>
            <a:avLst/>
            <a:gdLst/>
            <a:ahLst/>
            <a:cxnLst/>
            <a:rect l="l" t="t" r="r" b="b"/>
            <a:pathLst>
              <a:path w="762000" h="762000">
                <a:moveTo>
                  <a:pt x="0" y="381000"/>
                </a:moveTo>
                <a:lnTo>
                  <a:pt x="0" y="381000"/>
                </a:lnTo>
                <a:cubicBezTo>
                  <a:pt x="0" y="591420"/>
                  <a:pt x="170580" y="762000"/>
                  <a:pt x="381000" y="762000"/>
                </a:cubicBezTo>
                <a:lnTo>
                  <a:pt x="381000" y="762000"/>
                </a:lnTo>
                <a:cubicBezTo>
                  <a:pt x="591420" y="762000"/>
                  <a:pt x="762000" y="591420"/>
                  <a:pt x="762000" y="381000"/>
                </a:cubicBezTo>
                <a:lnTo>
                  <a:pt x="762000" y="381000"/>
                </a:lnTo>
                <a:cubicBezTo>
                  <a:pt x="762000" y="170580"/>
                  <a:pt x="591420" y="0"/>
                  <a:pt x="381000" y="0"/>
                </a:cubicBezTo>
                <a:lnTo>
                  <a:pt x="381000" y="0"/>
                </a:lnTo>
                <a:cubicBezTo>
                  <a:pt x="170580" y="0"/>
                  <a:pt x="0" y="170580"/>
                  <a:pt x="0" y="381000"/>
                </a:cubicBezTo>
                <a:close/>
              </a:path>
            </a:pathLst>
          </a:custGeom>
          <a:solidFill>
            <a:srgbClr val="2E5C55">
              <a:alpha val="7843"/>
            </a:srgbClr>
          </a:solidFill>
          <a:ln>
            <a:noFill/>
          </a:ln>
        </p:spPr>
      </p:sp>
      <p:sp>
        <p:nvSpPr>
          <p:cNvPr id="14" name="Freeform 14"/>
          <p:cNvSpPr/>
          <p:nvPr/>
        </p:nvSpPr>
        <p:spPr>
          <a:xfrm>
            <a:off x="7264400" y="2362200"/>
            <a:ext cx="203200" cy="203200"/>
          </a:xfrm>
          <a:custGeom>
            <a:avLst/>
            <a:gdLst/>
            <a:ahLst/>
            <a:cxnLst/>
            <a:rect l="l" t="t" r="r" b="b"/>
            <a:pathLst>
              <a:path w="203200" h="203200">
                <a:moveTo>
                  <a:pt x="203200" y="101600"/>
                </a:moveTo>
                <a:cubicBezTo>
                  <a:pt x="203200" y="157712"/>
                  <a:pt x="157712" y="203200"/>
                  <a:pt x="101600" y="203200"/>
                </a:cubicBezTo>
                <a:cubicBezTo>
                  <a:pt x="45488" y="203200"/>
                  <a:pt x="0" y="157712"/>
                  <a:pt x="0" y="101600"/>
                </a:cubicBezTo>
                <a:cubicBezTo>
                  <a:pt x="0" y="45488"/>
                  <a:pt x="45488" y="0"/>
                  <a:pt x="101600" y="0"/>
                </a:cubicBezTo>
                <a:cubicBezTo>
                  <a:pt x="157712" y="0"/>
                  <a:pt x="203200" y="45488"/>
                  <a:pt x="203200" y="101600"/>
                </a:cubicBezTo>
                <a:close/>
              </a:path>
            </a:pathLst>
          </a:custGeom>
          <a:noFill/>
          <a:ln w="25400">
            <a:solidFill>
              <a:srgbClr val="2E5C55"/>
            </a:solidFill>
          </a:ln>
        </p:spPr>
      </p:sp>
      <p:sp>
        <p:nvSpPr>
          <p:cNvPr id="15" name="Freeform 15"/>
          <p:cNvSpPr/>
          <p:nvPr/>
        </p:nvSpPr>
        <p:spPr>
          <a:xfrm>
            <a:off x="7366000" y="2565400"/>
            <a:ext cx="0" cy="177800"/>
          </a:xfrm>
          <a:custGeom>
            <a:avLst/>
            <a:gdLst/>
            <a:ahLst/>
            <a:cxnLst/>
            <a:rect l="l" t="t" r="r" b="b"/>
            <a:pathLst>
              <a:path h="177800">
                <a:moveTo>
                  <a:pt x="0" y="0"/>
                </a:moveTo>
                <a:lnTo>
                  <a:pt x="0" y="177800"/>
                </a:lnTo>
              </a:path>
            </a:pathLst>
          </a:custGeom>
          <a:noFill/>
          <a:ln w="25400">
            <a:solidFill>
              <a:srgbClr val="2E5C55"/>
            </a:solidFill>
          </a:ln>
        </p:spPr>
      </p:sp>
      <p:sp>
        <p:nvSpPr>
          <p:cNvPr id="16" name="Freeform 16"/>
          <p:cNvSpPr/>
          <p:nvPr/>
        </p:nvSpPr>
        <p:spPr>
          <a:xfrm>
            <a:off x="7366000" y="2641600"/>
            <a:ext cx="76200" cy="0"/>
          </a:xfrm>
          <a:custGeom>
            <a:avLst/>
            <a:gdLst/>
            <a:ahLst/>
            <a:cxnLst/>
            <a:rect l="l" t="t" r="r" b="b"/>
            <a:pathLst>
              <a:path w="76200">
                <a:moveTo>
                  <a:pt x="0" y="0"/>
                </a:moveTo>
                <a:lnTo>
                  <a:pt x="76200" y="0"/>
                </a:lnTo>
              </a:path>
            </a:pathLst>
          </a:custGeom>
          <a:noFill/>
          <a:ln w="25400">
            <a:solidFill>
              <a:srgbClr val="2E5C55"/>
            </a:solidFill>
          </a:ln>
        </p:spPr>
      </p:sp>
      <p:sp>
        <p:nvSpPr>
          <p:cNvPr id="17" name="Freeform 17"/>
          <p:cNvSpPr/>
          <p:nvPr/>
        </p:nvSpPr>
        <p:spPr>
          <a:xfrm>
            <a:off x="7366000" y="2717800"/>
            <a:ext cx="76200" cy="0"/>
          </a:xfrm>
          <a:custGeom>
            <a:avLst/>
            <a:gdLst/>
            <a:ahLst/>
            <a:cxnLst/>
            <a:rect l="l" t="t" r="r" b="b"/>
            <a:pathLst>
              <a:path w="76200">
                <a:moveTo>
                  <a:pt x="0" y="0"/>
                </a:moveTo>
                <a:lnTo>
                  <a:pt x="76200" y="0"/>
                </a:lnTo>
              </a:path>
            </a:pathLst>
          </a:custGeom>
          <a:noFill/>
          <a:ln w="25400">
            <a:solidFill>
              <a:srgbClr val="2E5C55"/>
            </a:solidFill>
          </a:ln>
        </p:spPr>
      </p:sp>
      <p:sp>
        <p:nvSpPr>
          <p:cNvPr id="18" name="Freeform 18"/>
          <p:cNvSpPr/>
          <p:nvPr/>
        </p:nvSpPr>
        <p:spPr>
          <a:xfrm>
            <a:off x="6604000" y="3683000"/>
            <a:ext cx="8128000" cy="1524000"/>
          </a:xfrm>
          <a:custGeom>
            <a:avLst/>
            <a:gdLst/>
            <a:ahLst/>
            <a:cxnLst/>
            <a:rect l="l" t="t" r="r" b="b"/>
            <a:pathLst>
              <a:path w="8128000" h="1524000">
                <a:moveTo>
                  <a:pt x="0" y="152400"/>
                </a:moveTo>
                <a:lnTo>
                  <a:pt x="0" y="1371600"/>
                </a:lnTo>
                <a:cubicBezTo>
                  <a:pt x="0" y="1455768"/>
                  <a:pt x="68232" y="1524000"/>
                  <a:pt x="152400" y="1524000"/>
                </a:cubicBezTo>
                <a:lnTo>
                  <a:pt x="7975600" y="1524000"/>
                </a:lnTo>
                <a:cubicBezTo>
                  <a:pt x="8059768" y="1524000"/>
                  <a:pt x="8128000" y="1455768"/>
                  <a:pt x="8128000" y="1371600"/>
                </a:cubicBezTo>
                <a:lnTo>
                  <a:pt x="8128000" y="152400"/>
                </a:lnTo>
                <a:cubicBezTo>
                  <a:pt x="8128000" y="68232"/>
                  <a:pt x="8059768" y="0"/>
                  <a:pt x="7975600" y="0"/>
                </a:cubicBezTo>
                <a:lnTo>
                  <a:pt x="152400" y="0"/>
                </a:lnTo>
                <a:cubicBezTo>
                  <a:pt x="68232" y="0"/>
                  <a:pt x="0" y="68232"/>
                  <a:pt x="0" y="15240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  <a:effectLst>
            <a:outerShdw blurRad="508000" dist="101600" dir="5400000" rotWithShape="0">
              <a:srgbClr val="1A2E2A">
                <a:alpha val="5882"/>
              </a:srgbClr>
            </a:outerShdw>
          </a:effectLst>
        </p:spPr>
      </p:sp>
      <p:sp>
        <p:nvSpPr>
          <p:cNvPr id="19" name="Freeform 19"/>
          <p:cNvSpPr/>
          <p:nvPr/>
        </p:nvSpPr>
        <p:spPr>
          <a:xfrm>
            <a:off x="6985000" y="4064000"/>
            <a:ext cx="762000" cy="762000"/>
          </a:xfrm>
          <a:custGeom>
            <a:avLst/>
            <a:gdLst/>
            <a:ahLst/>
            <a:cxnLst/>
            <a:rect l="l" t="t" r="r" b="b"/>
            <a:pathLst>
              <a:path w="762000" h="762000">
                <a:moveTo>
                  <a:pt x="0" y="381000"/>
                </a:moveTo>
                <a:lnTo>
                  <a:pt x="0" y="381000"/>
                </a:lnTo>
                <a:cubicBezTo>
                  <a:pt x="0" y="591420"/>
                  <a:pt x="170580" y="762000"/>
                  <a:pt x="381000" y="762000"/>
                </a:cubicBezTo>
                <a:lnTo>
                  <a:pt x="381000" y="762000"/>
                </a:lnTo>
                <a:cubicBezTo>
                  <a:pt x="591420" y="762000"/>
                  <a:pt x="762000" y="591420"/>
                  <a:pt x="762000" y="381000"/>
                </a:cubicBezTo>
                <a:lnTo>
                  <a:pt x="762000" y="381000"/>
                </a:lnTo>
                <a:cubicBezTo>
                  <a:pt x="762000" y="170580"/>
                  <a:pt x="591420" y="0"/>
                  <a:pt x="381000" y="0"/>
                </a:cubicBezTo>
                <a:lnTo>
                  <a:pt x="381000" y="0"/>
                </a:lnTo>
                <a:cubicBezTo>
                  <a:pt x="170580" y="0"/>
                  <a:pt x="0" y="170580"/>
                  <a:pt x="0" y="381000"/>
                </a:cubicBezTo>
                <a:close/>
              </a:path>
            </a:pathLst>
          </a:custGeom>
          <a:solidFill>
            <a:srgbClr val="E5D9C5">
              <a:alpha val="30196"/>
            </a:srgbClr>
          </a:solidFill>
          <a:ln>
            <a:noFill/>
          </a:ln>
        </p:spPr>
      </p:sp>
      <p:sp>
        <p:nvSpPr>
          <p:cNvPr id="20" name="Freeform 20"/>
          <p:cNvSpPr/>
          <p:nvPr/>
        </p:nvSpPr>
        <p:spPr>
          <a:xfrm>
            <a:off x="7245350" y="4222750"/>
            <a:ext cx="88900" cy="88900"/>
          </a:xfrm>
          <a:custGeom>
            <a:avLst/>
            <a:gdLst/>
            <a:ahLst/>
            <a:cxnLst/>
            <a:rect l="l" t="t" r="r" b="b"/>
            <a:pathLst>
              <a:path w="88900" h="88900">
                <a:moveTo>
                  <a:pt x="88900" y="44450"/>
                </a:moveTo>
                <a:cubicBezTo>
                  <a:pt x="88900" y="68999"/>
                  <a:pt x="68999" y="88900"/>
                  <a:pt x="44450" y="88900"/>
                </a:cubicBezTo>
                <a:cubicBezTo>
                  <a:pt x="19901" y="88900"/>
                  <a:pt x="0" y="68999"/>
                  <a:pt x="0" y="44450"/>
                </a:cubicBezTo>
                <a:cubicBezTo>
                  <a:pt x="0" y="19901"/>
                  <a:pt x="19901" y="0"/>
                  <a:pt x="44450" y="0"/>
                </a:cubicBezTo>
                <a:cubicBezTo>
                  <a:pt x="68999" y="0"/>
                  <a:pt x="88900" y="19901"/>
                  <a:pt x="88900" y="44450"/>
                </a:cubicBezTo>
                <a:close/>
              </a:path>
            </a:pathLst>
          </a:custGeom>
          <a:noFill/>
          <a:ln w="25400">
            <a:solidFill>
              <a:srgbClr val="2E5C55"/>
            </a:solidFill>
          </a:ln>
        </p:spPr>
      </p:sp>
      <p:sp>
        <p:nvSpPr>
          <p:cNvPr id="21" name="Freeform 21"/>
          <p:cNvSpPr/>
          <p:nvPr/>
        </p:nvSpPr>
        <p:spPr>
          <a:xfrm>
            <a:off x="7245350" y="4578350"/>
            <a:ext cx="88900" cy="88900"/>
          </a:xfrm>
          <a:custGeom>
            <a:avLst/>
            <a:gdLst/>
            <a:ahLst/>
            <a:cxnLst/>
            <a:rect l="l" t="t" r="r" b="b"/>
            <a:pathLst>
              <a:path w="88900" h="88900">
                <a:moveTo>
                  <a:pt x="88900" y="44450"/>
                </a:moveTo>
                <a:cubicBezTo>
                  <a:pt x="88900" y="68999"/>
                  <a:pt x="68999" y="88900"/>
                  <a:pt x="44450" y="88900"/>
                </a:cubicBezTo>
                <a:cubicBezTo>
                  <a:pt x="19901" y="88900"/>
                  <a:pt x="0" y="68999"/>
                  <a:pt x="0" y="44450"/>
                </a:cubicBezTo>
                <a:cubicBezTo>
                  <a:pt x="0" y="19901"/>
                  <a:pt x="19901" y="0"/>
                  <a:pt x="44450" y="0"/>
                </a:cubicBezTo>
                <a:cubicBezTo>
                  <a:pt x="68999" y="0"/>
                  <a:pt x="88900" y="19901"/>
                  <a:pt x="88900" y="44450"/>
                </a:cubicBezTo>
                <a:close/>
              </a:path>
            </a:pathLst>
          </a:custGeom>
          <a:noFill/>
          <a:ln w="25400">
            <a:solidFill>
              <a:srgbClr val="2E5C55"/>
            </a:solidFill>
          </a:ln>
        </p:spPr>
      </p:sp>
      <p:sp>
        <p:nvSpPr>
          <p:cNvPr id="22" name="Freeform 22"/>
          <p:cNvSpPr/>
          <p:nvPr/>
        </p:nvSpPr>
        <p:spPr>
          <a:xfrm>
            <a:off x="7423150" y="4400550"/>
            <a:ext cx="88900" cy="88900"/>
          </a:xfrm>
          <a:custGeom>
            <a:avLst/>
            <a:gdLst/>
            <a:ahLst/>
            <a:cxnLst/>
            <a:rect l="l" t="t" r="r" b="b"/>
            <a:pathLst>
              <a:path w="88900" h="88900">
                <a:moveTo>
                  <a:pt x="88900" y="44450"/>
                </a:moveTo>
                <a:cubicBezTo>
                  <a:pt x="88900" y="68999"/>
                  <a:pt x="68999" y="88900"/>
                  <a:pt x="44450" y="88900"/>
                </a:cubicBezTo>
                <a:cubicBezTo>
                  <a:pt x="19901" y="88900"/>
                  <a:pt x="0" y="68999"/>
                  <a:pt x="0" y="44450"/>
                </a:cubicBezTo>
                <a:cubicBezTo>
                  <a:pt x="0" y="19901"/>
                  <a:pt x="19901" y="0"/>
                  <a:pt x="44450" y="0"/>
                </a:cubicBezTo>
                <a:cubicBezTo>
                  <a:pt x="68999" y="0"/>
                  <a:pt x="88900" y="19901"/>
                  <a:pt x="88900" y="44450"/>
                </a:cubicBezTo>
                <a:close/>
              </a:path>
            </a:pathLst>
          </a:custGeom>
          <a:noFill/>
          <a:ln w="25400">
            <a:solidFill>
              <a:srgbClr val="2E5C55"/>
            </a:solidFill>
          </a:ln>
        </p:spPr>
      </p:sp>
      <p:sp>
        <p:nvSpPr>
          <p:cNvPr id="23" name="Freeform 23"/>
          <p:cNvSpPr/>
          <p:nvPr/>
        </p:nvSpPr>
        <p:spPr>
          <a:xfrm>
            <a:off x="7289800" y="4318000"/>
            <a:ext cx="0" cy="254000"/>
          </a:xfrm>
          <a:custGeom>
            <a:avLst/>
            <a:gdLst/>
            <a:ahLst/>
            <a:cxnLst/>
            <a:rect l="l" t="t" r="r" b="b"/>
            <a:pathLst>
              <a:path h="254000">
                <a:moveTo>
                  <a:pt x="0" y="0"/>
                </a:moveTo>
                <a:lnTo>
                  <a:pt x="0" y="254000"/>
                </a:lnTo>
              </a:path>
            </a:pathLst>
          </a:custGeom>
          <a:noFill/>
          <a:ln w="25400">
            <a:solidFill>
              <a:srgbClr val="2E5C55"/>
            </a:solidFill>
          </a:ln>
        </p:spPr>
      </p:sp>
      <p:sp>
        <p:nvSpPr>
          <p:cNvPr id="24" name="Freeform 24"/>
          <p:cNvSpPr/>
          <p:nvPr/>
        </p:nvSpPr>
        <p:spPr>
          <a:xfrm>
            <a:off x="7289800" y="4368800"/>
            <a:ext cx="177800" cy="76200"/>
          </a:xfrm>
          <a:custGeom>
            <a:avLst/>
            <a:gdLst/>
            <a:ahLst/>
            <a:cxnLst/>
            <a:rect l="l" t="t" r="r" b="b"/>
            <a:pathLst>
              <a:path w="177800" h="76200">
                <a:moveTo>
                  <a:pt x="0" y="0"/>
                </a:moveTo>
                <a:cubicBezTo>
                  <a:pt x="0" y="76200"/>
                  <a:pt x="177800" y="0"/>
                  <a:pt x="177800" y="25400"/>
                </a:cubicBezTo>
              </a:path>
            </a:pathLst>
          </a:custGeom>
          <a:noFill/>
          <a:ln w="25400">
            <a:solidFill>
              <a:srgbClr val="2E5C55"/>
            </a:solidFill>
          </a:ln>
        </p:spPr>
      </p:sp>
      <p:sp>
        <p:nvSpPr>
          <p:cNvPr id="25" name="Freeform 25"/>
          <p:cNvSpPr/>
          <p:nvPr/>
        </p:nvSpPr>
        <p:spPr>
          <a:xfrm>
            <a:off x="6604000" y="5588000"/>
            <a:ext cx="8128000" cy="1524000"/>
          </a:xfrm>
          <a:custGeom>
            <a:avLst/>
            <a:gdLst/>
            <a:ahLst/>
            <a:cxnLst/>
            <a:rect l="l" t="t" r="r" b="b"/>
            <a:pathLst>
              <a:path w="8128000" h="1524000">
                <a:moveTo>
                  <a:pt x="0" y="152400"/>
                </a:moveTo>
                <a:lnTo>
                  <a:pt x="0" y="1371600"/>
                </a:lnTo>
                <a:cubicBezTo>
                  <a:pt x="0" y="1455768"/>
                  <a:pt x="68232" y="1524000"/>
                  <a:pt x="152400" y="1524000"/>
                </a:cubicBezTo>
                <a:lnTo>
                  <a:pt x="7975600" y="1524000"/>
                </a:lnTo>
                <a:cubicBezTo>
                  <a:pt x="8059768" y="1524000"/>
                  <a:pt x="8128000" y="1455768"/>
                  <a:pt x="8128000" y="1371600"/>
                </a:cubicBezTo>
                <a:lnTo>
                  <a:pt x="8128000" y="152400"/>
                </a:lnTo>
                <a:cubicBezTo>
                  <a:pt x="8128000" y="68232"/>
                  <a:pt x="8059768" y="0"/>
                  <a:pt x="7975600" y="0"/>
                </a:cubicBezTo>
                <a:lnTo>
                  <a:pt x="152400" y="0"/>
                </a:lnTo>
                <a:cubicBezTo>
                  <a:pt x="68232" y="0"/>
                  <a:pt x="0" y="68232"/>
                  <a:pt x="0" y="15240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  <a:effectLst>
            <a:outerShdw blurRad="508000" dist="101600" dir="5400000" rotWithShape="0">
              <a:srgbClr val="1A2E2A">
                <a:alpha val="5882"/>
              </a:srgbClr>
            </a:outerShdw>
          </a:effectLst>
        </p:spPr>
      </p:sp>
      <p:sp>
        <p:nvSpPr>
          <p:cNvPr id="26" name="Freeform 26"/>
          <p:cNvSpPr/>
          <p:nvPr/>
        </p:nvSpPr>
        <p:spPr>
          <a:xfrm>
            <a:off x="6985000" y="5969000"/>
            <a:ext cx="762000" cy="762000"/>
          </a:xfrm>
          <a:custGeom>
            <a:avLst/>
            <a:gdLst/>
            <a:ahLst/>
            <a:cxnLst/>
            <a:rect l="l" t="t" r="r" b="b"/>
            <a:pathLst>
              <a:path w="762000" h="762000">
                <a:moveTo>
                  <a:pt x="0" y="381000"/>
                </a:moveTo>
                <a:lnTo>
                  <a:pt x="0" y="381000"/>
                </a:lnTo>
                <a:cubicBezTo>
                  <a:pt x="0" y="591420"/>
                  <a:pt x="170580" y="762000"/>
                  <a:pt x="381000" y="762000"/>
                </a:cubicBezTo>
                <a:lnTo>
                  <a:pt x="381000" y="762000"/>
                </a:lnTo>
                <a:cubicBezTo>
                  <a:pt x="591420" y="762000"/>
                  <a:pt x="762000" y="591420"/>
                  <a:pt x="762000" y="381000"/>
                </a:cubicBezTo>
                <a:lnTo>
                  <a:pt x="762000" y="381000"/>
                </a:lnTo>
                <a:cubicBezTo>
                  <a:pt x="762000" y="170580"/>
                  <a:pt x="591420" y="0"/>
                  <a:pt x="381000" y="0"/>
                </a:cubicBezTo>
                <a:lnTo>
                  <a:pt x="381000" y="0"/>
                </a:lnTo>
                <a:cubicBezTo>
                  <a:pt x="170580" y="0"/>
                  <a:pt x="0" y="170580"/>
                  <a:pt x="0" y="381000"/>
                </a:cubicBezTo>
                <a:close/>
              </a:path>
            </a:pathLst>
          </a:custGeom>
          <a:solidFill>
            <a:srgbClr val="2E5C55">
              <a:alpha val="7843"/>
            </a:srgbClr>
          </a:solidFill>
          <a:ln>
            <a:noFill/>
          </a:ln>
        </p:spPr>
      </p:sp>
      <p:sp>
        <p:nvSpPr>
          <p:cNvPr id="27" name="Freeform 27"/>
          <p:cNvSpPr/>
          <p:nvPr/>
        </p:nvSpPr>
        <p:spPr>
          <a:xfrm>
            <a:off x="7213600" y="6172200"/>
            <a:ext cx="304800" cy="127000"/>
          </a:xfrm>
          <a:custGeom>
            <a:avLst/>
            <a:gdLst/>
            <a:ahLst/>
            <a:cxnLst/>
            <a:rect l="l" t="t" r="r" b="b"/>
            <a:pathLst>
              <a:path w="304800" h="127000">
                <a:moveTo>
                  <a:pt x="0" y="25400"/>
                </a:moveTo>
                <a:lnTo>
                  <a:pt x="0" y="101600"/>
                </a:lnTo>
                <a:cubicBezTo>
                  <a:pt x="0" y="115628"/>
                  <a:pt x="11372" y="127000"/>
                  <a:pt x="25400" y="127000"/>
                </a:cubicBezTo>
                <a:lnTo>
                  <a:pt x="279400" y="127000"/>
                </a:lnTo>
                <a:cubicBezTo>
                  <a:pt x="293428" y="127000"/>
                  <a:pt x="304800" y="115628"/>
                  <a:pt x="304800" y="101600"/>
                </a:cubicBezTo>
                <a:lnTo>
                  <a:pt x="304800" y="25400"/>
                </a:lnTo>
                <a:cubicBezTo>
                  <a:pt x="304800" y="11372"/>
                  <a:pt x="293428" y="0"/>
                  <a:pt x="279400" y="0"/>
                </a:cubicBezTo>
                <a:lnTo>
                  <a:pt x="25400" y="0"/>
                </a:lnTo>
                <a:cubicBezTo>
                  <a:pt x="11372" y="0"/>
                  <a:pt x="0" y="11372"/>
                  <a:pt x="0" y="25400"/>
                </a:cubicBezTo>
                <a:close/>
              </a:path>
            </a:pathLst>
          </a:custGeom>
          <a:noFill/>
          <a:ln w="25400">
            <a:solidFill>
              <a:srgbClr val="2E5C55"/>
            </a:solidFill>
          </a:ln>
        </p:spPr>
      </p:sp>
      <p:sp>
        <p:nvSpPr>
          <p:cNvPr id="28" name="Freeform 28"/>
          <p:cNvSpPr/>
          <p:nvPr/>
        </p:nvSpPr>
        <p:spPr>
          <a:xfrm>
            <a:off x="7213600" y="6400800"/>
            <a:ext cx="304800" cy="127000"/>
          </a:xfrm>
          <a:custGeom>
            <a:avLst/>
            <a:gdLst/>
            <a:ahLst/>
            <a:cxnLst/>
            <a:rect l="l" t="t" r="r" b="b"/>
            <a:pathLst>
              <a:path w="304800" h="127000">
                <a:moveTo>
                  <a:pt x="0" y="25400"/>
                </a:moveTo>
                <a:lnTo>
                  <a:pt x="0" y="101600"/>
                </a:lnTo>
                <a:cubicBezTo>
                  <a:pt x="0" y="115628"/>
                  <a:pt x="11372" y="127000"/>
                  <a:pt x="25400" y="127000"/>
                </a:cubicBezTo>
                <a:lnTo>
                  <a:pt x="279400" y="127000"/>
                </a:lnTo>
                <a:cubicBezTo>
                  <a:pt x="293428" y="127000"/>
                  <a:pt x="304800" y="115628"/>
                  <a:pt x="304800" y="101600"/>
                </a:cubicBezTo>
                <a:lnTo>
                  <a:pt x="304800" y="25400"/>
                </a:lnTo>
                <a:cubicBezTo>
                  <a:pt x="304800" y="11372"/>
                  <a:pt x="293428" y="0"/>
                  <a:pt x="279400" y="0"/>
                </a:cubicBezTo>
                <a:lnTo>
                  <a:pt x="25400" y="0"/>
                </a:lnTo>
                <a:cubicBezTo>
                  <a:pt x="11372" y="0"/>
                  <a:pt x="0" y="11372"/>
                  <a:pt x="0" y="25400"/>
                </a:cubicBezTo>
                <a:close/>
              </a:path>
            </a:pathLst>
          </a:custGeom>
          <a:noFill/>
          <a:ln w="25400">
            <a:solidFill>
              <a:srgbClr val="2E5C55"/>
            </a:solidFill>
          </a:ln>
        </p:spPr>
      </p:sp>
      <p:sp>
        <p:nvSpPr>
          <p:cNvPr id="29" name="Freeform 29"/>
          <p:cNvSpPr/>
          <p:nvPr/>
        </p:nvSpPr>
        <p:spPr>
          <a:xfrm>
            <a:off x="7270750" y="621665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8100" h="38100">
                <a:moveTo>
                  <a:pt x="38100" y="19050"/>
                </a:moveTo>
                <a:cubicBezTo>
                  <a:pt x="38100" y="29571"/>
                  <a:pt x="29571" y="38100"/>
                  <a:pt x="19050" y="38100"/>
                </a:cubicBezTo>
                <a:cubicBezTo>
                  <a:pt x="8529" y="38100"/>
                  <a:pt x="0" y="29571"/>
                  <a:pt x="0" y="19050"/>
                </a:cubicBezTo>
                <a:cubicBezTo>
                  <a:pt x="0" y="8529"/>
                  <a:pt x="8529" y="0"/>
                  <a:pt x="19050" y="0"/>
                </a:cubicBezTo>
                <a:cubicBezTo>
                  <a:pt x="29571" y="0"/>
                  <a:pt x="38100" y="8529"/>
                  <a:pt x="38100" y="19050"/>
                </a:cubicBezTo>
                <a:close/>
              </a:path>
            </a:pathLst>
          </a:custGeom>
          <a:solidFill>
            <a:srgbClr val="2E5C55"/>
          </a:solidFill>
          <a:ln>
            <a:noFill/>
          </a:ln>
        </p:spPr>
      </p:sp>
      <p:sp>
        <p:nvSpPr>
          <p:cNvPr id="30" name="Freeform 30"/>
          <p:cNvSpPr/>
          <p:nvPr/>
        </p:nvSpPr>
        <p:spPr>
          <a:xfrm>
            <a:off x="7270750" y="644525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8100" h="38100">
                <a:moveTo>
                  <a:pt x="38100" y="19050"/>
                </a:moveTo>
                <a:cubicBezTo>
                  <a:pt x="38100" y="29571"/>
                  <a:pt x="29571" y="38100"/>
                  <a:pt x="19050" y="38100"/>
                </a:cubicBezTo>
                <a:cubicBezTo>
                  <a:pt x="8529" y="38100"/>
                  <a:pt x="0" y="29571"/>
                  <a:pt x="0" y="19050"/>
                </a:cubicBezTo>
                <a:cubicBezTo>
                  <a:pt x="0" y="8529"/>
                  <a:pt x="8529" y="0"/>
                  <a:pt x="19050" y="0"/>
                </a:cubicBezTo>
                <a:cubicBezTo>
                  <a:pt x="29571" y="0"/>
                  <a:pt x="38100" y="8529"/>
                  <a:pt x="38100" y="19050"/>
                </a:cubicBezTo>
                <a:close/>
              </a:path>
            </a:pathLst>
          </a:custGeom>
          <a:solidFill>
            <a:srgbClr val="2E5C55"/>
          </a:solidFill>
          <a:ln>
            <a:noFill/>
          </a:ln>
        </p:spPr>
      </p:sp>
      <p:sp>
        <p:nvSpPr>
          <p:cNvPr id="31" name="TextBox 31"/>
          <p:cNvSpPr txBox="1"/>
          <p:nvPr/>
        </p:nvSpPr>
        <p:spPr>
          <a:xfrm>
            <a:off x="12865100" y="622300"/>
            <a:ext cx="1889760" cy="20066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1200" b="0" i="0">
                <a:solidFill>
                  <a:srgbClr val="8C959F"/>
                </a:solidFill>
                <a:latin typeface="Arial" panose="020B0604020202020204"/>
              </a:rPr>
              <a:t>STRICTLY CONFIDENTIAL</a:t>
            </a:r>
            <a:endParaRPr lang="en-US" sz="1200" b="0" i="0">
              <a:solidFill>
                <a:srgbClr val="8C959F"/>
              </a:solidFill>
              <a:latin typeface="Arial" panose="020B0604020202020204"/>
            </a:endParaRPr>
          </a:p>
        </p:txBody>
      </p:sp>
      <p:sp>
        <p:nvSpPr>
          <p:cNvPr id="32" name="TextBox 32"/>
          <p:cNvSpPr txBox="1"/>
          <p:nvPr/>
        </p:nvSpPr>
        <p:spPr>
          <a:xfrm>
            <a:off x="1270000" y="2882900"/>
            <a:ext cx="2592070" cy="24257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1400" b="1" i="0">
                <a:solidFill>
                  <a:srgbClr val="8C959F"/>
                </a:solidFill>
                <a:latin typeface="Arial" panose="020B0604020202020204"/>
              </a:rPr>
              <a:t>PAGE 19 / SYSTEM SECURITY</a:t>
            </a:r>
            <a:endParaRPr lang="en-US" sz="1400" b="1" i="0">
              <a:solidFill>
                <a:srgbClr val="8C959F"/>
              </a:solidFill>
              <a:latin typeface="Arial" panose="020B0604020202020204"/>
            </a:endParaRPr>
          </a:p>
        </p:txBody>
      </p:sp>
      <p:sp>
        <p:nvSpPr>
          <p:cNvPr id="33" name="TextBox 33"/>
          <p:cNvSpPr txBox="1"/>
          <p:nvPr/>
        </p:nvSpPr>
        <p:spPr>
          <a:xfrm>
            <a:off x="1270000" y="3302000"/>
            <a:ext cx="4973320" cy="73152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4400" b="1" i="0">
                <a:solidFill>
                  <a:srgbClr val="2E5C55"/>
                </a:solidFill>
                <a:latin typeface="Arial" panose="020B0604020202020204"/>
              </a:rPr>
              <a:t>Security Measures</a:t>
            </a:r>
            <a:endParaRPr lang="en-US" sz="4400" b="1" i="0">
              <a:solidFill>
                <a:srgbClr val="2E5C55"/>
              </a:solidFill>
              <a:latin typeface="Arial" panose="020B0604020202020204"/>
            </a:endParaRPr>
          </a:p>
        </p:txBody>
      </p:sp>
      <p:sp>
        <p:nvSpPr>
          <p:cNvPr id="34" name="TextBox 34"/>
          <p:cNvSpPr txBox="1"/>
          <p:nvPr/>
        </p:nvSpPr>
        <p:spPr>
          <a:xfrm>
            <a:off x="1270000" y="4508500"/>
            <a:ext cx="4373880" cy="57658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pPr>
              <a:spcAft>
                <a:spcPct val="0"/>
              </a:spcAft>
            </a:pPr>
            <a:r>
              <a:rPr lang="en-US" sz="1600" b="0" i="0">
                <a:solidFill>
                  <a:srgbClr val="8C959F"/>
                </a:solidFill>
                <a:latin typeface="Arial" panose="020B0604020202020204"/>
              </a:rPr>
              <a:t>Building a multi-layered defense system to ensure</a:t>
            </a:r>
            <a:endParaRPr lang="en-US" sz="1600" b="0" i="0">
              <a:solidFill>
                <a:srgbClr val="8C959F"/>
              </a:solidFill>
              <a:latin typeface="Arial" panose="020B0604020202020204"/>
            </a:endParaRPr>
          </a:p>
          <a:p>
            <a:pPr>
              <a:spcBef>
                <a:spcPts val="500"/>
              </a:spcBef>
              <a:spcAft>
                <a:spcPct val="0"/>
              </a:spcAft>
            </a:pPr>
            <a:r>
              <a:rPr lang="en-US" sz="1600" b="0" i="0">
                <a:solidFill>
                  <a:srgbClr val="8C959F"/>
                </a:solidFill>
                <a:latin typeface="Arial" panose="020B0604020202020204"/>
              </a:rPr>
              <a:t>full lifecycle security for core assets and data.</a:t>
            </a:r>
            <a:endParaRPr lang="en-US" sz="1600" b="0" i="0">
              <a:solidFill>
                <a:srgbClr val="8C959F"/>
              </a:solidFill>
              <a:latin typeface="Arial" panose="020B0604020202020204"/>
            </a:endParaRPr>
          </a:p>
        </p:txBody>
      </p:sp>
      <p:sp>
        <p:nvSpPr>
          <p:cNvPr id="35" name="TextBox 35"/>
          <p:cNvSpPr txBox="1"/>
          <p:nvPr/>
        </p:nvSpPr>
        <p:spPr>
          <a:xfrm>
            <a:off x="2286000" y="6337300"/>
            <a:ext cx="1076960" cy="53086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3200" b="1" i="0">
                <a:solidFill>
                  <a:srgbClr val="2E5C55"/>
                </a:solidFill>
                <a:latin typeface="Arial" panose="020B0604020202020204"/>
              </a:rPr>
              <a:t>100%</a:t>
            </a:r>
            <a:endParaRPr lang="en-US" sz="3200" b="1" i="0">
              <a:solidFill>
                <a:srgbClr val="2E5C55"/>
              </a:solidFill>
              <a:latin typeface="Arial" panose="020B0604020202020204"/>
            </a:endParaRPr>
          </a:p>
        </p:txBody>
      </p:sp>
      <p:sp>
        <p:nvSpPr>
          <p:cNvPr id="36" name="TextBox 36"/>
          <p:cNvSpPr txBox="1"/>
          <p:nvPr/>
        </p:nvSpPr>
        <p:spPr>
          <a:xfrm>
            <a:off x="2482850" y="6807200"/>
            <a:ext cx="641350" cy="18415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1000" b="0" i="0">
                <a:solidFill>
                  <a:srgbClr val="8C959F"/>
                </a:solidFill>
                <a:latin typeface="Arial" panose="020B0604020202020204"/>
              </a:rPr>
              <a:t>SECURED</a:t>
            </a:r>
            <a:endParaRPr lang="en-US" sz="1000" b="0" i="0">
              <a:solidFill>
                <a:srgbClr val="8C959F"/>
              </a:solidFill>
              <a:latin typeface="Arial" panose="020B0604020202020204"/>
            </a:endParaRPr>
          </a:p>
        </p:txBody>
      </p:sp>
      <p:sp>
        <p:nvSpPr>
          <p:cNvPr id="37" name="TextBox 37"/>
          <p:cNvSpPr txBox="1"/>
          <p:nvPr/>
        </p:nvSpPr>
        <p:spPr>
          <a:xfrm>
            <a:off x="13182600" y="2057400"/>
            <a:ext cx="1036320" cy="106172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6400" b="1" i="0">
                <a:solidFill>
                  <a:srgbClr val="2E5C55">
                    <a:alpha val="3922"/>
                  </a:srgbClr>
                </a:solidFill>
                <a:latin typeface="Arial" panose="020B0604020202020204"/>
              </a:rPr>
              <a:t>01</a:t>
            </a:r>
            <a:endParaRPr lang="en-US" sz="6400" b="1" i="0">
              <a:solidFill>
                <a:srgbClr val="2E5C55">
                  <a:alpha val="3922"/>
                </a:srgbClr>
              </a:solidFill>
              <a:latin typeface="Arial" panose="020B0604020202020204"/>
            </a:endParaRPr>
          </a:p>
        </p:txBody>
      </p:sp>
      <p:sp>
        <p:nvSpPr>
          <p:cNvPr id="38" name="TextBox 38"/>
          <p:cNvSpPr txBox="1"/>
          <p:nvPr/>
        </p:nvSpPr>
        <p:spPr>
          <a:xfrm>
            <a:off x="8128000" y="2197100"/>
            <a:ext cx="2108200" cy="34290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2000" b="1" i="0">
                <a:solidFill>
                  <a:srgbClr val="2E5C55"/>
                </a:solidFill>
                <a:latin typeface="Arial" panose="020B0604020202020204"/>
              </a:rPr>
              <a:t>Key Management</a:t>
            </a:r>
            <a:endParaRPr lang="en-US" sz="2000" b="1" i="0">
              <a:solidFill>
                <a:srgbClr val="2E5C55"/>
              </a:solidFill>
              <a:latin typeface="Arial" panose="020B0604020202020204"/>
            </a:endParaRPr>
          </a:p>
        </p:txBody>
      </p:sp>
      <p:sp>
        <p:nvSpPr>
          <p:cNvPr id="39" name="TextBox 39"/>
          <p:cNvSpPr txBox="1"/>
          <p:nvPr/>
        </p:nvSpPr>
        <p:spPr>
          <a:xfrm>
            <a:off x="8128000" y="2628900"/>
            <a:ext cx="5339080" cy="27178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1600" b="0" i="0">
                <a:solidFill>
                  <a:srgbClr val="5A6672"/>
                </a:solidFill>
                <a:latin typeface="Arial" panose="020B0604020202020204"/>
              </a:rPr>
              <a:t>Sensitive info (API Keys) is stored via environment variables.</a:t>
            </a:r>
            <a:endParaRPr lang="en-US" sz="1600" b="0" i="0">
              <a:solidFill>
                <a:srgbClr val="5A6672"/>
              </a:solidFill>
              <a:latin typeface="Arial" panose="020B0604020202020204"/>
            </a:endParaRPr>
          </a:p>
        </p:txBody>
      </p:sp>
      <p:sp>
        <p:nvSpPr>
          <p:cNvPr id="40" name="TextBox 40"/>
          <p:cNvSpPr txBox="1"/>
          <p:nvPr/>
        </p:nvSpPr>
        <p:spPr>
          <a:xfrm>
            <a:off x="13182600" y="3962400"/>
            <a:ext cx="1036320" cy="106172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6400" b="1" i="0">
                <a:solidFill>
                  <a:srgbClr val="2E5C55">
                    <a:alpha val="3922"/>
                  </a:srgbClr>
                </a:solidFill>
                <a:latin typeface="Arial" panose="020B0604020202020204"/>
              </a:rPr>
              <a:t>02</a:t>
            </a:r>
            <a:endParaRPr lang="en-US" sz="6400" b="1" i="0">
              <a:solidFill>
                <a:srgbClr val="2E5C55">
                  <a:alpha val="3922"/>
                </a:srgbClr>
              </a:solidFill>
              <a:latin typeface="Arial" panose="020B0604020202020204"/>
            </a:endParaRPr>
          </a:p>
        </p:txBody>
      </p:sp>
      <p:sp>
        <p:nvSpPr>
          <p:cNvPr id="41" name="TextBox 41"/>
          <p:cNvSpPr txBox="1"/>
          <p:nvPr/>
        </p:nvSpPr>
        <p:spPr>
          <a:xfrm>
            <a:off x="8128000" y="4102100"/>
            <a:ext cx="2984500" cy="34290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2000" b="1" i="0">
                <a:solidFill>
                  <a:srgbClr val="2E5C55"/>
                </a:solidFill>
                <a:latin typeface="Arial" panose="020B0604020202020204"/>
              </a:rPr>
              <a:t>Version Control Security</a:t>
            </a:r>
            <a:endParaRPr lang="en-US" sz="2000" b="1" i="0">
              <a:solidFill>
                <a:srgbClr val="2E5C55"/>
              </a:solidFill>
              <a:latin typeface="Arial" panose="020B0604020202020204"/>
            </a:endParaRPr>
          </a:p>
        </p:txBody>
      </p:sp>
      <p:sp>
        <p:nvSpPr>
          <p:cNvPr id="42" name="TextBox 42"/>
          <p:cNvSpPr txBox="1"/>
          <p:nvPr/>
        </p:nvSpPr>
        <p:spPr>
          <a:xfrm>
            <a:off x="8128000" y="4533900"/>
            <a:ext cx="5250180" cy="27178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1600" b="0" i="0">
                <a:solidFill>
                  <a:srgbClr val="5A6672"/>
                </a:solidFill>
                <a:latin typeface="Arial" panose="020B0604020202020204"/>
              </a:rPr>
              <a:t>.env files are git-ignored to prevent configuration data leaks.</a:t>
            </a:r>
            <a:endParaRPr lang="en-US" sz="1600" b="0" i="0">
              <a:solidFill>
                <a:srgbClr val="5A6672"/>
              </a:solidFill>
              <a:latin typeface="Arial" panose="020B0604020202020204"/>
            </a:endParaRPr>
          </a:p>
        </p:txBody>
      </p:sp>
      <p:sp>
        <p:nvSpPr>
          <p:cNvPr id="43" name="TextBox 43"/>
          <p:cNvSpPr txBox="1"/>
          <p:nvPr/>
        </p:nvSpPr>
        <p:spPr>
          <a:xfrm>
            <a:off x="13182600" y="5867400"/>
            <a:ext cx="1036320" cy="106172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6400" b="1" i="0">
                <a:solidFill>
                  <a:srgbClr val="2E5C55">
                    <a:alpha val="3922"/>
                  </a:srgbClr>
                </a:solidFill>
                <a:latin typeface="Arial" panose="020B0604020202020204"/>
              </a:rPr>
              <a:t>03</a:t>
            </a:r>
            <a:endParaRPr lang="en-US" sz="6400" b="1" i="0">
              <a:solidFill>
                <a:srgbClr val="2E5C55">
                  <a:alpha val="3922"/>
                </a:srgbClr>
              </a:solidFill>
              <a:latin typeface="Arial" panose="020B0604020202020204"/>
            </a:endParaRPr>
          </a:p>
        </p:txBody>
      </p:sp>
      <p:sp>
        <p:nvSpPr>
          <p:cNvPr id="44" name="TextBox 44"/>
          <p:cNvSpPr txBox="1"/>
          <p:nvPr/>
        </p:nvSpPr>
        <p:spPr>
          <a:xfrm>
            <a:off x="8128000" y="6007100"/>
            <a:ext cx="2120900" cy="34290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2000" b="1" i="0">
                <a:solidFill>
                  <a:srgbClr val="2E5C55"/>
                </a:solidFill>
                <a:latin typeface="Arial" panose="020B0604020202020204"/>
              </a:rPr>
              <a:t>Platform Security</a:t>
            </a:r>
            <a:endParaRPr lang="en-US" sz="2000" b="1" i="0">
              <a:solidFill>
                <a:srgbClr val="2E5C55"/>
              </a:solidFill>
              <a:latin typeface="Arial" panose="020B0604020202020204"/>
            </a:endParaRPr>
          </a:p>
        </p:txBody>
      </p:sp>
      <p:sp>
        <p:nvSpPr>
          <p:cNvPr id="45" name="TextBox 45"/>
          <p:cNvSpPr txBox="1"/>
          <p:nvPr/>
        </p:nvSpPr>
        <p:spPr>
          <a:xfrm>
            <a:off x="8128000" y="6438900"/>
            <a:ext cx="5339080" cy="27178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1600" b="0" i="0">
                <a:solidFill>
                  <a:srgbClr val="5A6672"/>
                </a:solidFill>
                <a:latin typeface="Arial" panose="020B0604020202020204"/>
              </a:rPr>
              <a:t>Encrypted env variables and strong password authentication.</a:t>
            </a:r>
            <a:endParaRPr lang="en-US" sz="1600" b="0" i="0">
              <a:solidFill>
                <a:srgbClr val="5A6672"/>
              </a:solidFill>
              <a:latin typeface="Arial" panose="020B0604020202020204"/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16256000" cy="9144000"/>
          </a:xfrm>
          <a:custGeom>
            <a:avLst/>
            <a:gdLst/>
            <a:ahLst/>
            <a:cxnLst/>
            <a:rect l="l" t="t" r="r" b="b"/>
            <a:pathLst>
              <a:path w="16256000" h="9144000">
                <a:moveTo>
                  <a:pt x="0" y="0"/>
                </a:moveTo>
                <a:lnTo>
                  <a:pt x="16256000" y="0"/>
                </a:lnTo>
                <a:lnTo>
                  <a:pt x="16256000" y="9144000"/>
                </a:lnTo>
                <a:lnTo>
                  <a:pt x="0" y="9144000"/>
                </a:lnTo>
                <a:lnTo>
                  <a:pt x="0" y="0"/>
                </a:lnTo>
                <a:close/>
              </a:path>
            </a:pathLst>
          </a:custGeom>
          <a:solidFill>
            <a:srgbClr val="F4F5F7"/>
          </a:solidFill>
          <a:ln>
            <a:noFill/>
          </a:ln>
        </p:spPr>
      </p:sp>
      <p:sp>
        <p:nvSpPr>
          <p:cNvPr id="3" name="Freeform 3"/>
          <p:cNvSpPr/>
          <p:nvPr/>
        </p:nvSpPr>
        <p:spPr>
          <a:xfrm>
            <a:off x="15214600" y="6096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50800" h="50800">
                <a:moveTo>
                  <a:pt x="50800" y="25400"/>
                </a:moveTo>
                <a:cubicBezTo>
                  <a:pt x="50800" y="39428"/>
                  <a:pt x="39428" y="50800"/>
                  <a:pt x="25400" y="50800"/>
                </a:cubicBezTo>
                <a:cubicBezTo>
                  <a:pt x="11372" y="50800"/>
                  <a:pt x="0" y="39428"/>
                  <a:pt x="0" y="25400"/>
                </a:cubicBezTo>
                <a:cubicBezTo>
                  <a:pt x="0" y="11372"/>
                  <a:pt x="11372" y="0"/>
                  <a:pt x="25400" y="0"/>
                </a:cubicBezTo>
                <a:cubicBezTo>
                  <a:pt x="39428" y="0"/>
                  <a:pt x="50800" y="11372"/>
                  <a:pt x="50800" y="25400"/>
                </a:cubicBezTo>
                <a:close/>
              </a:path>
            </a:pathLst>
          </a:custGeom>
          <a:solidFill>
            <a:srgbClr val="E5D9C5">
              <a:alpha val="60000"/>
            </a:srgbClr>
          </a:solidFill>
          <a:ln>
            <a:noFill/>
          </a:ln>
        </p:spPr>
      </p:sp>
      <p:sp>
        <p:nvSpPr>
          <p:cNvPr id="4" name="Freeform 4"/>
          <p:cNvSpPr/>
          <p:nvPr/>
        </p:nvSpPr>
        <p:spPr>
          <a:xfrm>
            <a:off x="15341600" y="6096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50800" h="50800">
                <a:moveTo>
                  <a:pt x="50800" y="25400"/>
                </a:moveTo>
                <a:cubicBezTo>
                  <a:pt x="50800" y="39428"/>
                  <a:pt x="39428" y="50800"/>
                  <a:pt x="25400" y="50800"/>
                </a:cubicBezTo>
                <a:cubicBezTo>
                  <a:pt x="11372" y="50800"/>
                  <a:pt x="0" y="39428"/>
                  <a:pt x="0" y="25400"/>
                </a:cubicBezTo>
                <a:cubicBezTo>
                  <a:pt x="0" y="11372"/>
                  <a:pt x="11372" y="0"/>
                  <a:pt x="25400" y="0"/>
                </a:cubicBezTo>
                <a:cubicBezTo>
                  <a:pt x="39428" y="0"/>
                  <a:pt x="50800" y="11372"/>
                  <a:pt x="50800" y="25400"/>
                </a:cubicBezTo>
                <a:close/>
              </a:path>
            </a:pathLst>
          </a:custGeom>
          <a:solidFill>
            <a:srgbClr val="E5D9C5">
              <a:alpha val="60000"/>
            </a:srgbClr>
          </a:solidFill>
          <a:ln>
            <a:noFill/>
          </a:ln>
        </p:spPr>
      </p:sp>
      <p:sp>
        <p:nvSpPr>
          <p:cNvPr id="5" name="Freeform 5"/>
          <p:cNvSpPr/>
          <p:nvPr/>
        </p:nvSpPr>
        <p:spPr>
          <a:xfrm>
            <a:off x="15468600" y="6096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50800" h="50800">
                <a:moveTo>
                  <a:pt x="50800" y="25400"/>
                </a:moveTo>
                <a:cubicBezTo>
                  <a:pt x="50800" y="39428"/>
                  <a:pt x="39428" y="50800"/>
                  <a:pt x="25400" y="50800"/>
                </a:cubicBezTo>
                <a:cubicBezTo>
                  <a:pt x="11372" y="50800"/>
                  <a:pt x="0" y="39428"/>
                  <a:pt x="0" y="25400"/>
                </a:cubicBezTo>
                <a:cubicBezTo>
                  <a:pt x="0" y="11372"/>
                  <a:pt x="11372" y="0"/>
                  <a:pt x="25400" y="0"/>
                </a:cubicBezTo>
                <a:cubicBezTo>
                  <a:pt x="39428" y="0"/>
                  <a:pt x="50800" y="11372"/>
                  <a:pt x="50800" y="25400"/>
                </a:cubicBezTo>
                <a:close/>
              </a:path>
            </a:pathLst>
          </a:custGeom>
          <a:solidFill>
            <a:srgbClr val="E5D9C5">
              <a:alpha val="60000"/>
            </a:srgbClr>
          </a:solidFill>
          <a:ln>
            <a:noFill/>
          </a:ln>
        </p:spPr>
      </p:sp>
      <p:sp>
        <p:nvSpPr>
          <p:cNvPr id="6" name="Freeform 6"/>
          <p:cNvSpPr/>
          <p:nvPr/>
        </p:nvSpPr>
        <p:spPr>
          <a:xfrm>
            <a:off x="15214600" y="7366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50800" h="50800">
                <a:moveTo>
                  <a:pt x="50800" y="25400"/>
                </a:moveTo>
                <a:cubicBezTo>
                  <a:pt x="50800" y="39428"/>
                  <a:pt x="39428" y="50800"/>
                  <a:pt x="25400" y="50800"/>
                </a:cubicBezTo>
                <a:cubicBezTo>
                  <a:pt x="11372" y="50800"/>
                  <a:pt x="0" y="39428"/>
                  <a:pt x="0" y="25400"/>
                </a:cubicBezTo>
                <a:cubicBezTo>
                  <a:pt x="0" y="11372"/>
                  <a:pt x="11372" y="0"/>
                  <a:pt x="25400" y="0"/>
                </a:cubicBezTo>
                <a:cubicBezTo>
                  <a:pt x="39428" y="0"/>
                  <a:pt x="50800" y="11372"/>
                  <a:pt x="50800" y="25400"/>
                </a:cubicBezTo>
                <a:close/>
              </a:path>
            </a:pathLst>
          </a:custGeom>
          <a:solidFill>
            <a:srgbClr val="E5D9C5">
              <a:alpha val="60000"/>
            </a:srgbClr>
          </a:solidFill>
          <a:ln>
            <a:noFill/>
          </a:ln>
        </p:spPr>
      </p:sp>
      <p:sp>
        <p:nvSpPr>
          <p:cNvPr id="7" name="Freeform 7"/>
          <p:cNvSpPr/>
          <p:nvPr/>
        </p:nvSpPr>
        <p:spPr>
          <a:xfrm>
            <a:off x="15341600" y="7366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50800" h="50800">
                <a:moveTo>
                  <a:pt x="50800" y="25400"/>
                </a:moveTo>
                <a:cubicBezTo>
                  <a:pt x="50800" y="39428"/>
                  <a:pt x="39428" y="50800"/>
                  <a:pt x="25400" y="50800"/>
                </a:cubicBezTo>
                <a:cubicBezTo>
                  <a:pt x="11372" y="50800"/>
                  <a:pt x="0" y="39428"/>
                  <a:pt x="0" y="25400"/>
                </a:cubicBezTo>
                <a:cubicBezTo>
                  <a:pt x="0" y="11372"/>
                  <a:pt x="11372" y="0"/>
                  <a:pt x="25400" y="0"/>
                </a:cubicBezTo>
                <a:cubicBezTo>
                  <a:pt x="39428" y="0"/>
                  <a:pt x="50800" y="11372"/>
                  <a:pt x="50800" y="25400"/>
                </a:cubicBezTo>
                <a:close/>
              </a:path>
            </a:pathLst>
          </a:custGeom>
          <a:solidFill>
            <a:srgbClr val="E5D9C5">
              <a:alpha val="60000"/>
            </a:srgbClr>
          </a:solidFill>
          <a:ln>
            <a:noFill/>
          </a:ln>
        </p:spPr>
      </p:sp>
      <p:sp>
        <p:nvSpPr>
          <p:cNvPr id="8" name="Freeform 8"/>
          <p:cNvSpPr/>
          <p:nvPr/>
        </p:nvSpPr>
        <p:spPr>
          <a:xfrm>
            <a:off x="15468600" y="7366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50800" h="50800">
                <a:moveTo>
                  <a:pt x="50800" y="25400"/>
                </a:moveTo>
                <a:cubicBezTo>
                  <a:pt x="50800" y="39428"/>
                  <a:pt x="39428" y="50800"/>
                  <a:pt x="25400" y="50800"/>
                </a:cubicBezTo>
                <a:cubicBezTo>
                  <a:pt x="11372" y="50800"/>
                  <a:pt x="0" y="39428"/>
                  <a:pt x="0" y="25400"/>
                </a:cubicBezTo>
                <a:cubicBezTo>
                  <a:pt x="0" y="11372"/>
                  <a:pt x="11372" y="0"/>
                  <a:pt x="25400" y="0"/>
                </a:cubicBezTo>
                <a:cubicBezTo>
                  <a:pt x="39428" y="0"/>
                  <a:pt x="50800" y="11372"/>
                  <a:pt x="50800" y="25400"/>
                </a:cubicBezTo>
                <a:close/>
              </a:path>
            </a:pathLst>
          </a:custGeom>
          <a:solidFill>
            <a:srgbClr val="E5D9C5">
              <a:alpha val="60000"/>
            </a:srgbClr>
          </a:solidFill>
          <a:ln>
            <a:noFill/>
          </a:ln>
        </p:spPr>
      </p:sp>
      <p:sp>
        <p:nvSpPr>
          <p:cNvPr id="9" name="Freeform 9"/>
          <p:cNvSpPr/>
          <p:nvPr/>
        </p:nvSpPr>
        <p:spPr>
          <a:xfrm>
            <a:off x="990600" y="84836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50800" h="50800">
                <a:moveTo>
                  <a:pt x="50800" y="25400"/>
                </a:moveTo>
                <a:cubicBezTo>
                  <a:pt x="50800" y="39428"/>
                  <a:pt x="39428" y="50800"/>
                  <a:pt x="25400" y="50800"/>
                </a:cubicBezTo>
                <a:cubicBezTo>
                  <a:pt x="11372" y="50800"/>
                  <a:pt x="0" y="39428"/>
                  <a:pt x="0" y="25400"/>
                </a:cubicBezTo>
                <a:cubicBezTo>
                  <a:pt x="0" y="11372"/>
                  <a:pt x="11372" y="0"/>
                  <a:pt x="25400" y="0"/>
                </a:cubicBezTo>
                <a:cubicBezTo>
                  <a:pt x="39428" y="0"/>
                  <a:pt x="50800" y="11372"/>
                  <a:pt x="50800" y="25400"/>
                </a:cubicBezTo>
                <a:close/>
              </a:path>
            </a:pathLst>
          </a:custGeom>
          <a:solidFill>
            <a:srgbClr val="E5D9C5">
              <a:alpha val="60000"/>
            </a:srgbClr>
          </a:solidFill>
          <a:ln>
            <a:noFill/>
          </a:ln>
        </p:spPr>
      </p:sp>
      <p:sp>
        <p:nvSpPr>
          <p:cNvPr id="10" name="Freeform 10"/>
          <p:cNvSpPr/>
          <p:nvPr/>
        </p:nvSpPr>
        <p:spPr>
          <a:xfrm>
            <a:off x="1117600" y="84836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50800" h="50800">
                <a:moveTo>
                  <a:pt x="50800" y="25400"/>
                </a:moveTo>
                <a:cubicBezTo>
                  <a:pt x="50800" y="39428"/>
                  <a:pt x="39428" y="50800"/>
                  <a:pt x="25400" y="50800"/>
                </a:cubicBezTo>
                <a:cubicBezTo>
                  <a:pt x="11372" y="50800"/>
                  <a:pt x="0" y="39428"/>
                  <a:pt x="0" y="25400"/>
                </a:cubicBezTo>
                <a:cubicBezTo>
                  <a:pt x="0" y="11372"/>
                  <a:pt x="11372" y="0"/>
                  <a:pt x="25400" y="0"/>
                </a:cubicBezTo>
                <a:cubicBezTo>
                  <a:pt x="39428" y="0"/>
                  <a:pt x="50800" y="11372"/>
                  <a:pt x="50800" y="25400"/>
                </a:cubicBezTo>
                <a:close/>
              </a:path>
            </a:pathLst>
          </a:custGeom>
          <a:solidFill>
            <a:srgbClr val="E5D9C5">
              <a:alpha val="60000"/>
            </a:srgbClr>
          </a:solidFill>
          <a:ln>
            <a:noFill/>
          </a:ln>
        </p:spPr>
      </p:sp>
      <p:sp>
        <p:nvSpPr>
          <p:cNvPr id="11" name="Freeform 11"/>
          <p:cNvSpPr/>
          <p:nvPr/>
        </p:nvSpPr>
        <p:spPr>
          <a:xfrm>
            <a:off x="1244600" y="84836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50800" h="50800">
                <a:moveTo>
                  <a:pt x="50800" y="25400"/>
                </a:moveTo>
                <a:cubicBezTo>
                  <a:pt x="50800" y="39428"/>
                  <a:pt x="39428" y="50800"/>
                  <a:pt x="25400" y="50800"/>
                </a:cubicBezTo>
                <a:cubicBezTo>
                  <a:pt x="11372" y="50800"/>
                  <a:pt x="0" y="39428"/>
                  <a:pt x="0" y="25400"/>
                </a:cubicBezTo>
                <a:cubicBezTo>
                  <a:pt x="0" y="11372"/>
                  <a:pt x="11372" y="0"/>
                  <a:pt x="25400" y="0"/>
                </a:cubicBezTo>
                <a:cubicBezTo>
                  <a:pt x="39428" y="0"/>
                  <a:pt x="50800" y="11372"/>
                  <a:pt x="50800" y="25400"/>
                </a:cubicBezTo>
                <a:close/>
              </a:path>
            </a:pathLst>
          </a:custGeom>
          <a:solidFill>
            <a:srgbClr val="E5D9C5">
              <a:alpha val="60000"/>
            </a:srgbClr>
          </a:solidFill>
          <a:ln>
            <a:noFill/>
          </a:ln>
        </p:spPr>
      </p:sp>
      <p:sp>
        <p:nvSpPr>
          <p:cNvPr id="12" name="Freeform 12"/>
          <p:cNvSpPr/>
          <p:nvPr/>
        </p:nvSpPr>
        <p:spPr>
          <a:xfrm>
            <a:off x="990600" y="86106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50800" h="50800">
                <a:moveTo>
                  <a:pt x="50800" y="25400"/>
                </a:moveTo>
                <a:cubicBezTo>
                  <a:pt x="50800" y="39428"/>
                  <a:pt x="39428" y="50800"/>
                  <a:pt x="25400" y="50800"/>
                </a:cubicBezTo>
                <a:cubicBezTo>
                  <a:pt x="11372" y="50800"/>
                  <a:pt x="0" y="39428"/>
                  <a:pt x="0" y="25400"/>
                </a:cubicBezTo>
                <a:cubicBezTo>
                  <a:pt x="0" y="11372"/>
                  <a:pt x="11372" y="0"/>
                  <a:pt x="25400" y="0"/>
                </a:cubicBezTo>
                <a:cubicBezTo>
                  <a:pt x="39428" y="0"/>
                  <a:pt x="50800" y="11372"/>
                  <a:pt x="50800" y="25400"/>
                </a:cubicBezTo>
                <a:close/>
              </a:path>
            </a:pathLst>
          </a:custGeom>
          <a:solidFill>
            <a:srgbClr val="E5D9C5">
              <a:alpha val="60000"/>
            </a:srgbClr>
          </a:solidFill>
          <a:ln>
            <a:noFill/>
          </a:ln>
        </p:spPr>
      </p:sp>
      <p:sp>
        <p:nvSpPr>
          <p:cNvPr id="13" name="Freeform 13"/>
          <p:cNvSpPr/>
          <p:nvPr/>
        </p:nvSpPr>
        <p:spPr>
          <a:xfrm>
            <a:off x="1117600" y="86106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50800" h="50800">
                <a:moveTo>
                  <a:pt x="50800" y="25400"/>
                </a:moveTo>
                <a:cubicBezTo>
                  <a:pt x="50800" y="39428"/>
                  <a:pt x="39428" y="50800"/>
                  <a:pt x="25400" y="50800"/>
                </a:cubicBezTo>
                <a:cubicBezTo>
                  <a:pt x="11372" y="50800"/>
                  <a:pt x="0" y="39428"/>
                  <a:pt x="0" y="25400"/>
                </a:cubicBezTo>
                <a:cubicBezTo>
                  <a:pt x="0" y="11372"/>
                  <a:pt x="11372" y="0"/>
                  <a:pt x="25400" y="0"/>
                </a:cubicBezTo>
                <a:cubicBezTo>
                  <a:pt x="39428" y="0"/>
                  <a:pt x="50800" y="11372"/>
                  <a:pt x="50800" y="25400"/>
                </a:cubicBezTo>
                <a:close/>
              </a:path>
            </a:pathLst>
          </a:custGeom>
          <a:solidFill>
            <a:srgbClr val="E5D9C5">
              <a:alpha val="60000"/>
            </a:srgbClr>
          </a:solidFill>
          <a:ln>
            <a:noFill/>
          </a:ln>
        </p:spPr>
      </p:sp>
      <p:sp>
        <p:nvSpPr>
          <p:cNvPr id="14" name="Freeform 14"/>
          <p:cNvSpPr/>
          <p:nvPr/>
        </p:nvSpPr>
        <p:spPr>
          <a:xfrm>
            <a:off x="1244600" y="86106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50800" h="50800">
                <a:moveTo>
                  <a:pt x="50800" y="25400"/>
                </a:moveTo>
                <a:cubicBezTo>
                  <a:pt x="50800" y="39428"/>
                  <a:pt x="39428" y="50800"/>
                  <a:pt x="25400" y="50800"/>
                </a:cubicBezTo>
                <a:cubicBezTo>
                  <a:pt x="11372" y="50800"/>
                  <a:pt x="0" y="39428"/>
                  <a:pt x="0" y="25400"/>
                </a:cubicBezTo>
                <a:cubicBezTo>
                  <a:pt x="0" y="11372"/>
                  <a:pt x="11372" y="0"/>
                  <a:pt x="25400" y="0"/>
                </a:cubicBezTo>
                <a:cubicBezTo>
                  <a:pt x="39428" y="0"/>
                  <a:pt x="50800" y="11372"/>
                  <a:pt x="50800" y="25400"/>
                </a:cubicBezTo>
                <a:close/>
              </a:path>
            </a:pathLst>
          </a:custGeom>
          <a:solidFill>
            <a:srgbClr val="E5D9C5">
              <a:alpha val="60000"/>
            </a:srgbClr>
          </a:solidFill>
          <a:ln>
            <a:noFill/>
          </a:ln>
        </p:spPr>
      </p:sp>
      <p:sp>
        <p:nvSpPr>
          <p:cNvPr id="15" name="Freeform 15"/>
          <p:cNvSpPr/>
          <p:nvPr/>
        </p:nvSpPr>
        <p:spPr>
          <a:xfrm>
            <a:off x="1016000" y="2159000"/>
            <a:ext cx="14224000" cy="0"/>
          </a:xfrm>
          <a:custGeom>
            <a:avLst/>
            <a:gdLst/>
            <a:ahLst/>
            <a:cxnLst/>
            <a:rect l="l" t="t" r="r" b="b"/>
            <a:pathLst>
              <a:path w="14224000">
                <a:moveTo>
                  <a:pt x="0" y="0"/>
                </a:moveTo>
                <a:lnTo>
                  <a:pt x="14224000" y="0"/>
                </a:lnTo>
              </a:path>
            </a:pathLst>
          </a:custGeom>
          <a:noFill/>
          <a:ln w="19050">
            <a:solidFill>
              <a:srgbClr val="E5D9C5"/>
            </a:solidFill>
          </a:ln>
        </p:spPr>
      </p:sp>
      <p:sp>
        <p:nvSpPr>
          <p:cNvPr id="16" name="Freeform 16"/>
          <p:cNvSpPr/>
          <p:nvPr/>
        </p:nvSpPr>
        <p:spPr>
          <a:xfrm>
            <a:off x="1016000" y="2667000"/>
            <a:ext cx="6858000" cy="3556000"/>
          </a:xfrm>
          <a:custGeom>
            <a:avLst/>
            <a:gdLst/>
            <a:ahLst/>
            <a:cxnLst/>
            <a:rect l="l" t="t" r="r" b="b"/>
            <a:pathLst>
              <a:path w="6858000" h="3556000">
                <a:moveTo>
                  <a:pt x="0" y="101600"/>
                </a:moveTo>
                <a:lnTo>
                  <a:pt x="0" y="3454400"/>
                </a:lnTo>
                <a:cubicBezTo>
                  <a:pt x="0" y="3510512"/>
                  <a:pt x="45488" y="3556000"/>
                  <a:pt x="101600" y="3556000"/>
                </a:cubicBezTo>
                <a:lnTo>
                  <a:pt x="6756400" y="3556000"/>
                </a:lnTo>
                <a:cubicBezTo>
                  <a:pt x="6812512" y="3556000"/>
                  <a:pt x="6858000" y="3510512"/>
                  <a:pt x="6858000" y="3454400"/>
                </a:cubicBezTo>
                <a:lnTo>
                  <a:pt x="6858000" y="101600"/>
                </a:lnTo>
                <a:cubicBezTo>
                  <a:pt x="6858000" y="45488"/>
                  <a:pt x="6812512" y="0"/>
                  <a:pt x="6756400" y="0"/>
                </a:cubicBezTo>
                <a:lnTo>
                  <a:pt x="101600" y="0"/>
                </a:lnTo>
                <a:cubicBezTo>
                  <a:pt x="45488" y="0"/>
                  <a:pt x="0" y="45488"/>
                  <a:pt x="0" y="10160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  <a:effectLst>
            <a:outerShdw blurRad="406400" dist="101600" dir="5400000" rotWithShape="0">
              <a:srgbClr val="000000">
                <a:alpha val="3922"/>
              </a:srgbClr>
            </a:outerShdw>
          </a:effectLst>
        </p:spPr>
      </p:sp>
      <p:sp>
        <p:nvSpPr>
          <p:cNvPr id="17" name="Freeform 17"/>
          <p:cNvSpPr/>
          <p:nvPr/>
        </p:nvSpPr>
        <p:spPr>
          <a:xfrm>
            <a:off x="1524000" y="3175000"/>
            <a:ext cx="711200" cy="711200"/>
          </a:xfrm>
          <a:custGeom>
            <a:avLst/>
            <a:gdLst/>
            <a:ahLst/>
            <a:cxnLst/>
            <a:rect l="l" t="t" r="r" b="b"/>
            <a:pathLst>
              <a:path w="711200" h="711200">
                <a:moveTo>
                  <a:pt x="0" y="203200"/>
                </a:moveTo>
                <a:lnTo>
                  <a:pt x="0" y="508000"/>
                </a:lnTo>
                <a:cubicBezTo>
                  <a:pt x="0" y="620224"/>
                  <a:pt x="90976" y="711200"/>
                  <a:pt x="203200" y="711200"/>
                </a:cubicBezTo>
                <a:lnTo>
                  <a:pt x="508000" y="711200"/>
                </a:lnTo>
                <a:cubicBezTo>
                  <a:pt x="620224" y="711200"/>
                  <a:pt x="711200" y="620224"/>
                  <a:pt x="711200" y="508000"/>
                </a:cubicBezTo>
                <a:lnTo>
                  <a:pt x="711200" y="203200"/>
                </a:lnTo>
                <a:cubicBezTo>
                  <a:pt x="711200" y="90976"/>
                  <a:pt x="620224" y="0"/>
                  <a:pt x="508000" y="0"/>
                </a:cubicBezTo>
                <a:lnTo>
                  <a:pt x="203200" y="0"/>
                </a:lnTo>
                <a:cubicBezTo>
                  <a:pt x="90976" y="0"/>
                  <a:pt x="0" y="90976"/>
                  <a:pt x="0" y="203200"/>
                </a:cubicBezTo>
                <a:close/>
              </a:path>
            </a:pathLst>
          </a:custGeom>
          <a:solidFill>
            <a:srgbClr val="E5D9C5">
              <a:alpha val="30196"/>
            </a:srgbClr>
          </a:solidFill>
          <a:ln>
            <a:noFill/>
          </a:ln>
        </p:spPr>
      </p:sp>
      <p:sp>
        <p:nvSpPr>
          <p:cNvPr id="18" name="Freeform 18"/>
          <p:cNvSpPr/>
          <p:nvPr/>
        </p:nvSpPr>
        <p:spPr>
          <a:xfrm>
            <a:off x="1727200" y="3403600"/>
            <a:ext cx="254000" cy="228600"/>
          </a:xfrm>
          <a:custGeom>
            <a:avLst/>
            <a:gdLst/>
            <a:ahLst/>
            <a:cxnLst/>
            <a:rect l="l" t="t" r="r" b="b"/>
            <a:pathLst>
              <a:path w="254000" h="228600">
                <a:moveTo>
                  <a:pt x="0" y="127000"/>
                </a:moveTo>
                <a:lnTo>
                  <a:pt x="101600" y="228600"/>
                </a:lnTo>
                <a:lnTo>
                  <a:pt x="254000" y="0"/>
                </a:lnTo>
              </a:path>
            </a:pathLst>
          </a:custGeom>
          <a:noFill/>
          <a:ln w="38100">
            <a:solidFill>
              <a:srgbClr val="2E5C55"/>
            </a:solidFill>
          </a:ln>
        </p:spPr>
      </p:sp>
      <p:sp>
        <p:nvSpPr>
          <p:cNvPr id="19" name="Freeform 19"/>
          <p:cNvSpPr/>
          <p:nvPr/>
        </p:nvSpPr>
        <p:spPr>
          <a:xfrm>
            <a:off x="6451600" y="3378200"/>
            <a:ext cx="812800" cy="812800"/>
          </a:xfrm>
          <a:custGeom>
            <a:avLst/>
            <a:gdLst/>
            <a:ahLst/>
            <a:cxnLst/>
            <a:rect l="l" t="t" r="r" b="b"/>
            <a:pathLst>
              <a:path w="812800" h="812800">
                <a:moveTo>
                  <a:pt x="812800" y="406400"/>
                </a:moveTo>
                <a:cubicBezTo>
                  <a:pt x="812800" y="630849"/>
                  <a:pt x="630849" y="812800"/>
                  <a:pt x="406400" y="812800"/>
                </a:cubicBezTo>
                <a:cubicBezTo>
                  <a:pt x="181951" y="812800"/>
                  <a:pt x="0" y="630849"/>
                  <a:pt x="0" y="406400"/>
                </a:cubicBezTo>
                <a:cubicBezTo>
                  <a:pt x="0" y="181951"/>
                  <a:pt x="181951" y="0"/>
                  <a:pt x="406400" y="0"/>
                </a:cubicBezTo>
                <a:cubicBezTo>
                  <a:pt x="630849" y="0"/>
                  <a:pt x="812800" y="181951"/>
                  <a:pt x="812800" y="406400"/>
                </a:cubicBezTo>
                <a:close/>
              </a:path>
            </a:pathLst>
          </a:custGeom>
          <a:noFill/>
          <a:ln w="76200">
            <a:solidFill>
              <a:srgbClr val="F4F5F7"/>
            </a:solidFill>
          </a:ln>
        </p:spPr>
      </p:sp>
      <p:sp>
        <p:nvSpPr>
          <p:cNvPr id="20" name="Freeform 20"/>
          <p:cNvSpPr/>
          <p:nvPr/>
        </p:nvSpPr>
        <p:spPr>
          <a:xfrm>
            <a:off x="6450790" y="3378200"/>
            <a:ext cx="813150" cy="812800"/>
          </a:xfrm>
          <a:custGeom>
            <a:avLst/>
            <a:gdLst/>
            <a:ahLst/>
            <a:cxnLst/>
            <a:rect l="l" t="t" r="r" b="b"/>
            <a:pathLst>
              <a:path w="813150" h="812800">
                <a:moveTo>
                  <a:pt x="407210" y="0"/>
                </a:moveTo>
                <a:cubicBezTo>
                  <a:pt x="631534" y="351"/>
                  <a:pt x="813150" y="182393"/>
                  <a:pt x="812975" y="406717"/>
                </a:cubicBezTo>
                <a:cubicBezTo>
                  <a:pt x="812800" y="631041"/>
                  <a:pt x="630900" y="812800"/>
                  <a:pt x="406575" y="812800"/>
                </a:cubicBezTo>
                <a:cubicBezTo>
                  <a:pt x="182250" y="812800"/>
                  <a:pt x="350" y="631041"/>
                  <a:pt x="175" y="406717"/>
                </a:cubicBezTo>
                <a:cubicBezTo>
                  <a:pt x="0" y="182393"/>
                  <a:pt x="181616" y="351"/>
                  <a:pt x="405940" y="0"/>
                </a:cubicBezTo>
              </a:path>
            </a:pathLst>
          </a:custGeom>
          <a:noFill/>
          <a:ln w="76200">
            <a:solidFill>
              <a:srgbClr val="2E5C55"/>
            </a:solidFill>
            <a:prstDash val="dash"/>
          </a:ln>
        </p:spPr>
      </p:sp>
      <p:sp>
        <p:nvSpPr>
          <p:cNvPr id="21" name="Freeform 21"/>
          <p:cNvSpPr/>
          <p:nvPr/>
        </p:nvSpPr>
        <p:spPr>
          <a:xfrm>
            <a:off x="8382000" y="2667000"/>
            <a:ext cx="6858000" cy="3556000"/>
          </a:xfrm>
          <a:custGeom>
            <a:avLst/>
            <a:gdLst/>
            <a:ahLst/>
            <a:cxnLst/>
            <a:rect l="l" t="t" r="r" b="b"/>
            <a:pathLst>
              <a:path w="6858000" h="3556000">
                <a:moveTo>
                  <a:pt x="0" y="101600"/>
                </a:moveTo>
                <a:lnTo>
                  <a:pt x="0" y="3454400"/>
                </a:lnTo>
                <a:cubicBezTo>
                  <a:pt x="0" y="3510512"/>
                  <a:pt x="45488" y="3556000"/>
                  <a:pt x="101600" y="3556000"/>
                </a:cubicBezTo>
                <a:lnTo>
                  <a:pt x="6756400" y="3556000"/>
                </a:lnTo>
                <a:cubicBezTo>
                  <a:pt x="6812512" y="3556000"/>
                  <a:pt x="6858000" y="3510512"/>
                  <a:pt x="6858000" y="3454400"/>
                </a:cubicBezTo>
                <a:lnTo>
                  <a:pt x="6858000" y="101600"/>
                </a:lnTo>
                <a:cubicBezTo>
                  <a:pt x="6858000" y="45488"/>
                  <a:pt x="6812512" y="0"/>
                  <a:pt x="6756400" y="0"/>
                </a:cubicBezTo>
                <a:lnTo>
                  <a:pt x="101600" y="0"/>
                </a:lnTo>
                <a:cubicBezTo>
                  <a:pt x="45488" y="0"/>
                  <a:pt x="0" y="45488"/>
                  <a:pt x="0" y="10160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  <a:effectLst>
            <a:outerShdw blurRad="406400" dist="101600" dir="5400000" rotWithShape="0">
              <a:srgbClr val="000000">
                <a:alpha val="3922"/>
              </a:srgbClr>
            </a:outerShdw>
          </a:effectLst>
        </p:spPr>
      </p:sp>
      <p:sp>
        <p:nvSpPr>
          <p:cNvPr id="22" name="Freeform 22"/>
          <p:cNvSpPr/>
          <p:nvPr/>
        </p:nvSpPr>
        <p:spPr>
          <a:xfrm>
            <a:off x="8890000" y="3175000"/>
            <a:ext cx="711200" cy="711200"/>
          </a:xfrm>
          <a:custGeom>
            <a:avLst/>
            <a:gdLst/>
            <a:ahLst/>
            <a:cxnLst/>
            <a:rect l="l" t="t" r="r" b="b"/>
            <a:pathLst>
              <a:path w="711200" h="711200">
                <a:moveTo>
                  <a:pt x="0" y="203200"/>
                </a:moveTo>
                <a:lnTo>
                  <a:pt x="0" y="508000"/>
                </a:lnTo>
                <a:cubicBezTo>
                  <a:pt x="0" y="620224"/>
                  <a:pt x="90976" y="711200"/>
                  <a:pt x="203200" y="711200"/>
                </a:cubicBezTo>
                <a:lnTo>
                  <a:pt x="508000" y="711200"/>
                </a:lnTo>
                <a:cubicBezTo>
                  <a:pt x="620224" y="711200"/>
                  <a:pt x="711200" y="620224"/>
                  <a:pt x="711200" y="508000"/>
                </a:cubicBezTo>
                <a:lnTo>
                  <a:pt x="711200" y="203200"/>
                </a:lnTo>
                <a:cubicBezTo>
                  <a:pt x="711200" y="90976"/>
                  <a:pt x="620224" y="0"/>
                  <a:pt x="508000" y="0"/>
                </a:cubicBezTo>
                <a:lnTo>
                  <a:pt x="203200" y="0"/>
                </a:lnTo>
                <a:cubicBezTo>
                  <a:pt x="90976" y="0"/>
                  <a:pt x="0" y="90976"/>
                  <a:pt x="0" y="203200"/>
                </a:cubicBezTo>
                <a:close/>
              </a:path>
            </a:pathLst>
          </a:custGeom>
          <a:solidFill>
            <a:srgbClr val="E5D9C5">
              <a:alpha val="30196"/>
            </a:srgbClr>
          </a:solidFill>
          <a:ln>
            <a:noFill/>
          </a:ln>
        </p:spPr>
      </p:sp>
      <p:sp>
        <p:nvSpPr>
          <p:cNvPr id="23" name="Freeform 23"/>
          <p:cNvSpPr/>
          <p:nvPr/>
        </p:nvSpPr>
        <p:spPr>
          <a:xfrm>
            <a:off x="9067800" y="3352800"/>
            <a:ext cx="355600" cy="355600"/>
          </a:xfrm>
          <a:custGeom>
            <a:avLst/>
            <a:gdLst/>
            <a:ahLst/>
            <a:cxnLst/>
            <a:rect l="l" t="t" r="r" b="b"/>
            <a:pathLst>
              <a:path w="355600" h="355600">
                <a:moveTo>
                  <a:pt x="355600" y="177800"/>
                </a:moveTo>
                <a:cubicBezTo>
                  <a:pt x="355600" y="275996"/>
                  <a:pt x="275996" y="355600"/>
                  <a:pt x="177800" y="355600"/>
                </a:cubicBezTo>
                <a:cubicBezTo>
                  <a:pt x="79604" y="355600"/>
                  <a:pt x="0" y="275996"/>
                  <a:pt x="0" y="177800"/>
                </a:cubicBezTo>
                <a:cubicBezTo>
                  <a:pt x="0" y="79604"/>
                  <a:pt x="79604" y="0"/>
                  <a:pt x="177800" y="0"/>
                </a:cubicBezTo>
                <a:cubicBezTo>
                  <a:pt x="275996" y="0"/>
                  <a:pt x="355600" y="79604"/>
                  <a:pt x="355600" y="177800"/>
                </a:cubicBezTo>
                <a:close/>
              </a:path>
            </a:pathLst>
          </a:custGeom>
          <a:noFill/>
          <a:ln w="31750">
            <a:solidFill>
              <a:srgbClr val="2E5C55"/>
            </a:solidFill>
          </a:ln>
        </p:spPr>
      </p:sp>
      <p:sp>
        <p:nvSpPr>
          <p:cNvPr id="24" name="Freeform 24"/>
          <p:cNvSpPr/>
          <p:nvPr/>
        </p:nvSpPr>
        <p:spPr>
          <a:xfrm>
            <a:off x="9017000" y="3302000"/>
            <a:ext cx="457200" cy="457200"/>
          </a:xfrm>
          <a:custGeom>
            <a:avLst/>
            <a:gdLst/>
            <a:ahLst/>
            <a:cxnLst/>
            <a:rect l="l" t="t" r="r" b="b"/>
            <a:pathLst>
              <a:path w="457200" h="457200">
                <a:moveTo>
                  <a:pt x="228600" y="0"/>
                </a:moveTo>
                <a:lnTo>
                  <a:pt x="292100" y="165100"/>
                </a:lnTo>
                <a:lnTo>
                  <a:pt x="457200" y="228600"/>
                </a:lnTo>
                <a:lnTo>
                  <a:pt x="292100" y="292100"/>
                </a:lnTo>
                <a:lnTo>
                  <a:pt x="228600" y="457200"/>
                </a:lnTo>
                <a:lnTo>
                  <a:pt x="165100" y="292100"/>
                </a:lnTo>
                <a:lnTo>
                  <a:pt x="0" y="228600"/>
                </a:lnTo>
                <a:lnTo>
                  <a:pt x="165100" y="165100"/>
                </a:lnTo>
                <a:close/>
              </a:path>
            </a:pathLst>
          </a:custGeom>
          <a:solidFill>
            <a:srgbClr val="2E5C55"/>
          </a:solidFill>
          <a:ln>
            <a:noFill/>
          </a:ln>
        </p:spPr>
      </p:sp>
      <p:sp>
        <p:nvSpPr>
          <p:cNvPr id="25" name="Freeform 25"/>
          <p:cNvSpPr/>
          <p:nvPr/>
        </p:nvSpPr>
        <p:spPr>
          <a:xfrm>
            <a:off x="14478000" y="3327400"/>
            <a:ext cx="0" cy="711200"/>
          </a:xfrm>
          <a:custGeom>
            <a:avLst/>
            <a:gdLst/>
            <a:ahLst/>
            <a:cxnLst/>
            <a:rect l="l" t="t" r="r" b="b"/>
            <a:pathLst>
              <a:path h="711200">
                <a:moveTo>
                  <a:pt x="0" y="0"/>
                </a:moveTo>
                <a:lnTo>
                  <a:pt x="0" y="711200"/>
                </a:lnTo>
              </a:path>
            </a:pathLst>
          </a:custGeom>
          <a:noFill/>
          <a:ln w="50800">
            <a:solidFill>
              <a:srgbClr val="F4F5F7"/>
            </a:solidFill>
          </a:ln>
        </p:spPr>
      </p:sp>
      <p:sp>
        <p:nvSpPr>
          <p:cNvPr id="26" name="Freeform 26"/>
          <p:cNvSpPr/>
          <p:nvPr/>
        </p:nvSpPr>
        <p:spPr>
          <a:xfrm>
            <a:off x="14401800" y="330200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152400" y="76200"/>
                </a:moveTo>
                <a:cubicBezTo>
                  <a:pt x="152400" y="118284"/>
                  <a:pt x="118284" y="152400"/>
                  <a:pt x="76200" y="152400"/>
                </a:cubicBezTo>
                <a:cubicBezTo>
                  <a:pt x="34116" y="152400"/>
                  <a:pt x="0" y="118284"/>
                  <a:pt x="0" y="76200"/>
                </a:cubicBezTo>
                <a:cubicBezTo>
                  <a:pt x="0" y="34116"/>
                  <a:pt x="34116" y="0"/>
                  <a:pt x="76200" y="0"/>
                </a:cubicBezTo>
                <a:cubicBezTo>
                  <a:pt x="118284" y="0"/>
                  <a:pt x="152400" y="34116"/>
                  <a:pt x="152400" y="76200"/>
                </a:cubicBezTo>
                <a:close/>
              </a:path>
            </a:pathLst>
          </a:custGeom>
          <a:solidFill>
            <a:srgbClr val="E5D9C5"/>
          </a:solidFill>
          <a:ln>
            <a:noFill/>
          </a:ln>
        </p:spPr>
      </p:sp>
      <p:sp>
        <p:nvSpPr>
          <p:cNvPr id="27" name="Freeform 27"/>
          <p:cNvSpPr/>
          <p:nvPr/>
        </p:nvSpPr>
        <p:spPr>
          <a:xfrm>
            <a:off x="14401800" y="360680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152400" y="76200"/>
                </a:moveTo>
                <a:cubicBezTo>
                  <a:pt x="152400" y="118284"/>
                  <a:pt x="118284" y="152400"/>
                  <a:pt x="76200" y="152400"/>
                </a:cubicBezTo>
                <a:cubicBezTo>
                  <a:pt x="34116" y="152400"/>
                  <a:pt x="0" y="118284"/>
                  <a:pt x="0" y="76200"/>
                </a:cubicBezTo>
                <a:cubicBezTo>
                  <a:pt x="0" y="34116"/>
                  <a:pt x="34116" y="0"/>
                  <a:pt x="76200" y="0"/>
                </a:cubicBezTo>
                <a:cubicBezTo>
                  <a:pt x="118284" y="0"/>
                  <a:pt x="152400" y="34116"/>
                  <a:pt x="152400" y="76200"/>
                </a:cubicBezTo>
                <a:close/>
              </a:path>
            </a:pathLst>
          </a:custGeom>
          <a:solidFill>
            <a:srgbClr val="E5D9C5"/>
          </a:solidFill>
          <a:ln>
            <a:noFill/>
          </a:ln>
        </p:spPr>
      </p:sp>
      <p:sp>
        <p:nvSpPr>
          <p:cNvPr id="28" name="Freeform 28"/>
          <p:cNvSpPr/>
          <p:nvPr/>
        </p:nvSpPr>
        <p:spPr>
          <a:xfrm>
            <a:off x="14401800" y="391160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152400" y="76200"/>
                </a:moveTo>
                <a:cubicBezTo>
                  <a:pt x="152400" y="118284"/>
                  <a:pt x="118284" y="152400"/>
                  <a:pt x="76200" y="152400"/>
                </a:cubicBezTo>
                <a:cubicBezTo>
                  <a:pt x="34116" y="152400"/>
                  <a:pt x="0" y="118284"/>
                  <a:pt x="0" y="76200"/>
                </a:cubicBezTo>
                <a:cubicBezTo>
                  <a:pt x="0" y="34116"/>
                  <a:pt x="34116" y="0"/>
                  <a:pt x="76200" y="0"/>
                </a:cubicBezTo>
                <a:cubicBezTo>
                  <a:pt x="118284" y="0"/>
                  <a:pt x="152400" y="34116"/>
                  <a:pt x="152400" y="76200"/>
                </a:cubicBezTo>
                <a:close/>
              </a:path>
            </a:pathLst>
          </a:custGeom>
          <a:solidFill>
            <a:srgbClr val="E5D9C5"/>
          </a:solidFill>
          <a:ln>
            <a:noFill/>
          </a:ln>
        </p:spPr>
      </p:sp>
      <p:sp>
        <p:nvSpPr>
          <p:cNvPr id="29" name="Freeform 29"/>
          <p:cNvSpPr/>
          <p:nvPr/>
        </p:nvSpPr>
        <p:spPr>
          <a:xfrm>
            <a:off x="14401800" y="3302000"/>
            <a:ext cx="152400" cy="152400"/>
          </a:xfrm>
          <a:custGeom>
            <a:avLst/>
            <a:gdLst/>
            <a:ahLst/>
            <a:cxnLst/>
            <a:rect l="l" t="t" r="r" b="b"/>
            <a:pathLst>
              <a:path w="152400" h="152400">
                <a:moveTo>
                  <a:pt x="152400" y="76200"/>
                </a:moveTo>
                <a:cubicBezTo>
                  <a:pt x="152400" y="118284"/>
                  <a:pt x="118284" y="152400"/>
                  <a:pt x="76200" y="152400"/>
                </a:cubicBezTo>
                <a:cubicBezTo>
                  <a:pt x="34116" y="152400"/>
                  <a:pt x="0" y="118284"/>
                  <a:pt x="0" y="76200"/>
                </a:cubicBezTo>
                <a:cubicBezTo>
                  <a:pt x="0" y="34116"/>
                  <a:pt x="34116" y="0"/>
                  <a:pt x="76200" y="0"/>
                </a:cubicBezTo>
                <a:cubicBezTo>
                  <a:pt x="118284" y="0"/>
                  <a:pt x="152400" y="34116"/>
                  <a:pt x="152400" y="76200"/>
                </a:cubicBezTo>
                <a:close/>
              </a:path>
            </a:pathLst>
          </a:custGeom>
          <a:solidFill>
            <a:srgbClr val="2E5C55"/>
          </a:solidFill>
          <a:ln>
            <a:noFill/>
          </a:ln>
        </p:spPr>
      </p:sp>
      <p:sp>
        <p:nvSpPr>
          <p:cNvPr id="30" name="Freeform 30"/>
          <p:cNvSpPr/>
          <p:nvPr/>
        </p:nvSpPr>
        <p:spPr>
          <a:xfrm>
            <a:off x="8959850" y="4933950"/>
            <a:ext cx="114300" cy="114300"/>
          </a:xfrm>
          <a:custGeom>
            <a:avLst/>
            <a:gdLst/>
            <a:ahLst/>
            <a:cxnLst/>
            <a:rect l="l" t="t" r="r" b="b"/>
            <a:pathLst>
              <a:path w="114300" h="114300">
                <a:moveTo>
                  <a:pt x="114300" y="57150"/>
                </a:moveTo>
                <a:cubicBezTo>
                  <a:pt x="114300" y="88713"/>
                  <a:pt x="88713" y="114300"/>
                  <a:pt x="57150" y="114300"/>
                </a:cubicBezTo>
                <a:cubicBezTo>
                  <a:pt x="25587" y="114300"/>
                  <a:pt x="0" y="88713"/>
                  <a:pt x="0" y="57150"/>
                </a:cubicBezTo>
                <a:cubicBezTo>
                  <a:pt x="0" y="25587"/>
                  <a:pt x="25587" y="0"/>
                  <a:pt x="57150" y="0"/>
                </a:cubicBezTo>
                <a:cubicBezTo>
                  <a:pt x="88713" y="0"/>
                  <a:pt x="114300" y="25587"/>
                  <a:pt x="114300" y="57150"/>
                </a:cubicBezTo>
                <a:close/>
              </a:path>
            </a:pathLst>
          </a:custGeom>
          <a:solidFill>
            <a:srgbClr val="2E5C55"/>
          </a:solidFill>
          <a:ln>
            <a:noFill/>
          </a:ln>
        </p:spPr>
      </p:sp>
      <p:sp>
        <p:nvSpPr>
          <p:cNvPr id="31" name="Freeform 31"/>
          <p:cNvSpPr/>
          <p:nvPr/>
        </p:nvSpPr>
        <p:spPr>
          <a:xfrm>
            <a:off x="8959850" y="5441950"/>
            <a:ext cx="114300" cy="114300"/>
          </a:xfrm>
          <a:custGeom>
            <a:avLst/>
            <a:gdLst/>
            <a:ahLst/>
            <a:cxnLst/>
            <a:rect l="l" t="t" r="r" b="b"/>
            <a:pathLst>
              <a:path w="114300" h="114300">
                <a:moveTo>
                  <a:pt x="114300" y="57150"/>
                </a:moveTo>
                <a:cubicBezTo>
                  <a:pt x="114300" y="88713"/>
                  <a:pt x="88713" y="114300"/>
                  <a:pt x="57150" y="114300"/>
                </a:cubicBezTo>
                <a:cubicBezTo>
                  <a:pt x="25587" y="114300"/>
                  <a:pt x="0" y="88713"/>
                  <a:pt x="0" y="57150"/>
                </a:cubicBezTo>
                <a:cubicBezTo>
                  <a:pt x="0" y="25587"/>
                  <a:pt x="25587" y="0"/>
                  <a:pt x="57150" y="0"/>
                </a:cubicBezTo>
                <a:cubicBezTo>
                  <a:pt x="88713" y="0"/>
                  <a:pt x="114300" y="25587"/>
                  <a:pt x="114300" y="57150"/>
                </a:cubicBezTo>
                <a:close/>
              </a:path>
            </a:pathLst>
          </a:custGeom>
          <a:solidFill>
            <a:srgbClr val="2E5C55"/>
          </a:solidFill>
          <a:ln>
            <a:noFill/>
          </a:ln>
        </p:spPr>
      </p:sp>
      <p:sp>
        <p:nvSpPr>
          <p:cNvPr id="32" name="Freeform 32"/>
          <p:cNvSpPr/>
          <p:nvPr/>
        </p:nvSpPr>
        <p:spPr>
          <a:xfrm>
            <a:off x="8959850" y="5949950"/>
            <a:ext cx="114300" cy="114300"/>
          </a:xfrm>
          <a:custGeom>
            <a:avLst/>
            <a:gdLst/>
            <a:ahLst/>
            <a:cxnLst/>
            <a:rect l="l" t="t" r="r" b="b"/>
            <a:pathLst>
              <a:path w="114300" h="114300">
                <a:moveTo>
                  <a:pt x="114300" y="57150"/>
                </a:moveTo>
                <a:cubicBezTo>
                  <a:pt x="114300" y="88713"/>
                  <a:pt x="88713" y="114300"/>
                  <a:pt x="57150" y="114300"/>
                </a:cubicBezTo>
                <a:cubicBezTo>
                  <a:pt x="25587" y="114300"/>
                  <a:pt x="0" y="88713"/>
                  <a:pt x="0" y="57150"/>
                </a:cubicBezTo>
                <a:cubicBezTo>
                  <a:pt x="0" y="25587"/>
                  <a:pt x="25587" y="0"/>
                  <a:pt x="57150" y="0"/>
                </a:cubicBezTo>
                <a:cubicBezTo>
                  <a:pt x="88713" y="0"/>
                  <a:pt x="114300" y="25587"/>
                  <a:pt x="114300" y="57150"/>
                </a:cubicBezTo>
                <a:close/>
              </a:path>
            </a:pathLst>
          </a:custGeom>
          <a:solidFill>
            <a:srgbClr val="2E5C55"/>
          </a:solidFill>
          <a:ln>
            <a:noFill/>
          </a:ln>
        </p:spPr>
      </p:sp>
      <p:sp>
        <p:nvSpPr>
          <p:cNvPr id="33" name="Freeform 33"/>
          <p:cNvSpPr/>
          <p:nvPr/>
        </p:nvSpPr>
        <p:spPr>
          <a:xfrm>
            <a:off x="1016000" y="6604000"/>
            <a:ext cx="14224000" cy="1524000"/>
          </a:xfrm>
          <a:custGeom>
            <a:avLst/>
            <a:gdLst/>
            <a:ahLst/>
            <a:cxnLst/>
            <a:rect l="l" t="t" r="r" b="b"/>
            <a:pathLst>
              <a:path w="14224000" h="1524000">
                <a:moveTo>
                  <a:pt x="0" y="101600"/>
                </a:moveTo>
                <a:lnTo>
                  <a:pt x="0" y="1422400"/>
                </a:lnTo>
                <a:cubicBezTo>
                  <a:pt x="0" y="1478512"/>
                  <a:pt x="45488" y="1524000"/>
                  <a:pt x="101600" y="1524000"/>
                </a:cubicBezTo>
                <a:lnTo>
                  <a:pt x="14122400" y="1524000"/>
                </a:lnTo>
                <a:cubicBezTo>
                  <a:pt x="14178512" y="1524000"/>
                  <a:pt x="14224000" y="1478512"/>
                  <a:pt x="14224000" y="1422400"/>
                </a:cubicBezTo>
                <a:lnTo>
                  <a:pt x="14224000" y="101600"/>
                </a:lnTo>
                <a:cubicBezTo>
                  <a:pt x="14224000" y="45488"/>
                  <a:pt x="14178512" y="0"/>
                  <a:pt x="14122400" y="0"/>
                </a:cubicBezTo>
                <a:lnTo>
                  <a:pt x="101600" y="0"/>
                </a:lnTo>
                <a:cubicBezTo>
                  <a:pt x="45488" y="0"/>
                  <a:pt x="0" y="45488"/>
                  <a:pt x="0" y="101600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  <a:effectLst>
            <a:outerShdw blurRad="406400" dist="101600" dir="5400000" rotWithShape="0">
              <a:srgbClr val="000000">
                <a:alpha val="3922"/>
              </a:srgbClr>
            </a:outerShdw>
          </a:effectLst>
        </p:spPr>
      </p:sp>
      <p:sp>
        <p:nvSpPr>
          <p:cNvPr id="34" name="Freeform 34"/>
          <p:cNvSpPr/>
          <p:nvPr/>
        </p:nvSpPr>
        <p:spPr>
          <a:xfrm>
            <a:off x="7366000" y="6985000"/>
            <a:ext cx="0" cy="762000"/>
          </a:xfrm>
          <a:custGeom>
            <a:avLst/>
            <a:gdLst/>
            <a:ahLst/>
            <a:cxnLst/>
            <a:rect l="l" t="t" r="r" b="b"/>
            <a:pathLst>
              <a:path h="762000">
                <a:moveTo>
                  <a:pt x="0" y="0"/>
                </a:moveTo>
                <a:lnTo>
                  <a:pt x="0" y="762000"/>
                </a:lnTo>
              </a:path>
            </a:pathLst>
          </a:custGeom>
          <a:noFill/>
          <a:ln w="25400">
            <a:solidFill>
              <a:srgbClr val="F4F5F7"/>
            </a:solidFill>
          </a:ln>
        </p:spPr>
      </p:sp>
      <p:sp>
        <p:nvSpPr>
          <p:cNvPr id="35" name="Freeform 35"/>
          <p:cNvSpPr/>
          <p:nvPr/>
        </p:nvSpPr>
        <p:spPr>
          <a:xfrm>
            <a:off x="8153400" y="7035800"/>
            <a:ext cx="304800" cy="203200"/>
          </a:xfrm>
          <a:custGeom>
            <a:avLst/>
            <a:gdLst/>
            <a:ahLst/>
            <a:cxnLst/>
            <a:rect l="l" t="t" r="r" b="b"/>
            <a:pathLst>
              <a:path w="304800" h="203200">
                <a:moveTo>
                  <a:pt x="0" y="50800"/>
                </a:moveTo>
                <a:lnTo>
                  <a:pt x="0" y="152400"/>
                </a:lnTo>
                <a:cubicBezTo>
                  <a:pt x="0" y="180456"/>
                  <a:pt x="22744" y="203200"/>
                  <a:pt x="50800" y="203200"/>
                </a:cubicBezTo>
                <a:lnTo>
                  <a:pt x="254000" y="203200"/>
                </a:lnTo>
                <a:cubicBezTo>
                  <a:pt x="282056" y="203200"/>
                  <a:pt x="304800" y="180456"/>
                  <a:pt x="304800" y="152400"/>
                </a:cubicBezTo>
                <a:lnTo>
                  <a:pt x="304800" y="50800"/>
                </a:lnTo>
                <a:cubicBezTo>
                  <a:pt x="304800" y="22744"/>
                  <a:pt x="282056" y="0"/>
                  <a:pt x="254000" y="0"/>
                </a:cubicBezTo>
                <a:lnTo>
                  <a:pt x="50800" y="0"/>
                </a:lnTo>
                <a:cubicBezTo>
                  <a:pt x="22744" y="0"/>
                  <a:pt x="0" y="22744"/>
                  <a:pt x="0" y="50800"/>
                </a:cubicBezTo>
                <a:close/>
              </a:path>
            </a:pathLst>
          </a:custGeom>
          <a:noFill/>
          <a:ln w="25400">
            <a:solidFill>
              <a:srgbClr val="2E5C55"/>
            </a:solidFill>
          </a:ln>
        </p:spPr>
      </p:sp>
      <p:sp>
        <p:nvSpPr>
          <p:cNvPr id="36" name="Freeform 36"/>
          <p:cNvSpPr/>
          <p:nvPr/>
        </p:nvSpPr>
        <p:spPr>
          <a:xfrm>
            <a:off x="8305800" y="6985000"/>
            <a:ext cx="0" cy="50800"/>
          </a:xfrm>
          <a:custGeom>
            <a:avLst/>
            <a:gdLst/>
            <a:ahLst/>
            <a:cxnLst/>
            <a:rect l="l" t="t" r="r" b="b"/>
            <a:pathLst>
              <a:path h="50800">
                <a:moveTo>
                  <a:pt x="0" y="0"/>
                </a:moveTo>
                <a:lnTo>
                  <a:pt x="0" y="50800"/>
                </a:lnTo>
              </a:path>
            </a:pathLst>
          </a:custGeom>
          <a:noFill/>
          <a:ln w="25400">
            <a:solidFill>
              <a:srgbClr val="2E5C55"/>
            </a:solidFill>
          </a:ln>
        </p:spPr>
      </p:sp>
      <p:sp>
        <p:nvSpPr>
          <p:cNvPr id="37" name="Freeform 37"/>
          <p:cNvSpPr/>
          <p:nvPr/>
        </p:nvSpPr>
        <p:spPr>
          <a:xfrm>
            <a:off x="8280400" y="6934200"/>
            <a:ext cx="50800" cy="50800"/>
          </a:xfrm>
          <a:custGeom>
            <a:avLst/>
            <a:gdLst/>
            <a:ahLst/>
            <a:cxnLst/>
            <a:rect l="l" t="t" r="r" b="b"/>
            <a:pathLst>
              <a:path w="50800" h="50800">
                <a:moveTo>
                  <a:pt x="50800" y="25400"/>
                </a:moveTo>
                <a:cubicBezTo>
                  <a:pt x="50800" y="39428"/>
                  <a:pt x="39428" y="50800"/>
                  <a:pt x="25400" y="50800"/>
                </a:cubicBezTo>
                <a:cubicBezTo>
                  <a:pt x="11372" y="50800"/>
                  <a:pt x="0" y="39428"/>
                  <a:pt x="0" y="25400"/>
                </a:cubicBezTo>
                <a:cubicBezTo>
                  <a:pt x="0" y="11372"/>
                  <a:pt x="11372" y="0"/>
                  <a:pt x="25400" y="0"/>
                </a:cubicBezTo>
                <a:cubicBezTo>
                  <a:pt x="39428" y="0"/>
                  <a:pt x="50800" y="11372"/>
                  <a:pt x="50800" y="25400"/>
                </a:cubicBezTo>
                <a:close/>
              </a:path>
            </a:pathLst>
          </a:custGeom>
          <a:solidFill>
            <a:srgbClr val="2E5C55"/>
          </a:solidFill>
          <a:ln>
            <a:noFill/>
          </a:ln>
        </p:spPr>
      </p:sp>
      <p:sp>
        <p:nvSpPr>
          <p:cNvPr id="38" name="Freeform 38"/>
          <p:cNvSpPr/>
          <p:nvPr/>
        </p:nvSpPr>
        <p:spPr>
          <a:xfrm>
            <a:off x="8210550" y="711835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8100" h="38100">
                <a:moveTo>
                  <a:pt x="38100" y="19050"/>
                </a:moveTo>
                <a:cubicBezTo>
                  <a:pt x="38100" y="29571"/>
                  <a:pt x="29571" y="38100"/>
                  <a:pt x="19050" y="38100"/>
                </a:cubicBezTo>
                <a:cubicBezTo>
                  <a:pt x="8529" y="38100"/>
                  <a:pt x="0" y="29571"/>
                  <a:pt x="0" y="19050"/>
                </a:cubicBezTo>
                <a:cubicBezTo>
                  <a:pt x="0" y="8529"/>
                  <a:pt x="8529" y="0"/>
                  <a:pt x="19050" y="0"/>
                </a:cubicBezTo>
                <a:cubicBezTo>
                  <a:pt x="29571" y="0"/>
                  <a:pt x="38100" y="8529"/>
                  <a:pt x="38100" y="19050"/>
                </a:cubicBezTo>
                <a:close/>
              </a:path>
            </a:pathLst>
          </a:custGeom>
          <a:solidFill>
            <a:srgbClr val="2E5C55"/>
          </a:solidFill>
          <a:ln>
            <a:noFill/>
          </a:ln>
        </p:spPr>
      </p:sp>
      <p:sp>
        <p:nvSpPr>
          <p:cNvPr id="39" name="Freeform 39"/>
          <p:cNvSpPr/>
          <p:nvPr/>
        </p:nvSpPr>
        <p:spPr>
          <a:xfrm>
            <a:off x="8362950" y="7118350"/>
            <a:ext cx="38100" cy="38100"/>
          </a:xfrm>
          <a:custGeom>
            <a:avLst/>
            <a:gdLst/>
            <a:ahLst/>
            <a:cxnLst/>
            <a:rect l="l" t="t" r="r" b="b"/>
            <a:pathLst>
              <a:path w="38100" h="38100">
                <a:moveTo>
                  <a:pt x="38100" y="19050"/>
                </a:moveTo>
                <a:cubicBezTo>
                  <a:pt x="38100" y="29571"/>
                  <a:pt x="29571" y="38100"/>
                  <a:pt x="19050" y="38100"/>
                </a:cubicBezTo>
                <a:cubicBezTo>
                  <a:pt x="8529" y="38100"/>
                  <a:pt x="0" y="29571"/>
                  <a:pt x="0" y="19050"/>
                </a:cubicBezTo>
                <a:cubicBezTo>
                  <a:pt x="0" y="8529"/>
                  <a:pt x="8529" y="0"/>
                  <a:pt x="19050" y="0"/>
                </a:cubicBezTo>
                <a:cubicBezTo>
                  <a:pt x="29571" y="0"/>
                  <a:pt x="38100" y="8529"/>
                  <a:pt x="38100" y="19050"/>
                </a:cubicBezTo>
                <a:close/>
              </a:path>
            </a:pathLst>
          </a:custGeom>
          <a:solidFill>
            <a:srgbClr val="2E5C55"/>
          </a:solidFill>
          <a:ln>
            <a:noFill/>
          </a:ln>
        </p:spPr>
      </p:sp>
      <p:sp>
        <p:nvSpPr>
          <p:cNvPr id="40" name="Freeform 40"/>
          <p:cNvSpPr/>
          <p:nvPr/>
        </p:nvSpPr>
        <p:spPr>
          <a:xfrm>
            <a:off x="8280400" y="7188200"/>
            <a:ext cx="50800" cy="0"/>
          </a:xfrm>
          <a:custGeom>
            <a:avLst/>
            <a:gdLst/>
            <a:ahLst/>
            <a:cxnLst/>
            <a:rect l="l" t="t" r="r" b="b"/>
            <a:pathLst>
              <a:path w="50800">
                <a:moveTo>
                  <a:pt x="0" y="0"/>
                </a:moveTo>
                <a:lnTo>
                  <a:pt x="50800" y="0"/>
                </a:lnTo>
              </a:path>
            </a:pathLst>
          </a:custGeom>
          <a:noFill/>
          <a:ln w="19050">
            <a:solidFill>
              <a:srgbClr val="2E5C55"/>
            </a:solidFill>
          </a:ln>
        </p:spPr>
      </p:sp>
      <p:sp>
        <p:nvSpPr>
          <p:cNvPr id="41" name="Freeform 41"/>
          <p:cNvSpPr/>
          <p:nvPr/>
        </p:nvSpPr>
        <p:spPr>
          <a:xfrm>
            <a:off x="8153400" y="7543800"/>
            <a:ext cx="304800" cy="203200"/>
          </a:xfrm>
          <a:custGeom>
            <a:avLst/>
            <a:gdLst/>
            <a:ahLst/>
            <a:cxnLst/>
            <a:rect l="l" t="t" r="r" b="b"/>
            <a:pathLst>
              <a:path w="304800" h="203200">
                <a:moveTo>
                  <a:pt x="76200" y="0"/>
                </a:moveTo>
                <a:lnTo>
                  <a:pt x="0" y="101600"/>
                </a:lnTo>
                <a:lnTo>
                  <a:pt x="76200" y="203200"/>
                </a:lnTo>
                <a:moveTo>
                  <a:pt x="228600" y="0"/>
                </a:moveTo>
                <a:lnTo>
                  <a:pt x="304800" y="101600"/>
                </a:lnTo>
                <a:lnTo>
                  <a:pt x="228600" y="203200"/>
                </a:lnTo>
              </a:path>
            </a:pathLst>
          </a:custGeom>
          <a:noFill/>
          <a:ln w="25400">
            <a:solidFill>
              <a:srgbClr val="2E5C55"/>
            </a:solidFill>
          </a:ln>
        </p:spPr>
      </p:sp>
      <p:sp>
        <p:nvSpPr>
          <p:cNvPr id="42" name="Freeform 42"/>
          <p:cNvSpPr/>
          <p:nvPr/>
        </p:nvSpPr>
        <p:spPr>
          <a:xfrm>
            <a:off x="8280400" y="7518400"/>
            <a:ext cx="50800" cy="254000"/>
          </a:xfrm>
          <a:custGeom>
            <a:avLst/>
            <a:gdLst/>
            <a:ahLst/>
            <a:cxnLst/>
            <a:rect l="l" t="t" r="r" b="b"/>
            <a:pathLst>
              <a:path w="50800" h="254000">
                <a:moveTo>
                  <a:pt x="50800" y="0"/>
                </a:moveTo>
                <a:lnTo>
                  <a:pt x="0" y="254000"/>
                </a:lnTo>
              </a:path>
            </a:pathLst>
          </a:custGeom>
          <a:noFill/>
          <a:ln w="25400">
            <a:solidFill>
              <a:srgbClr val="2E5C55"/>
            </a:solidFill>
          </a:ln>
        </p:spPr>
      </p:sp>
      <p:sp>
        <p:nvSpPr>
          <p:cNvPr id="43" name="TextBox 43"/>
          <p:cNvSpPr txBox="1"/>
          <p:nvPr/>
        </p:nvSpPr>
        <p:spPr>
          <a:xfrm>
            <a:off x="1016000" y="876300"/>
            <a:ext cx="6395720" cy="74422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4400" b="1" i="0">
                <a:solidFill>
                  <a:srgbClr val="2E5C55"/>
                </a:solidFill>
                <a:latin typeface="SansSerif"/>
              </a:rPr>
              <a:t>Summary &amp; Outlook</a:t>
            </a:r>
            <a:endParaRPr lang="en-US" sz="4400" b="1" i="0">
              <a:solidFill>
                <a:srgbClr val="2E5C55"/>
              </a:solidFill>
              <a:latin typeface="SansSerif"/>
            </a:endParaRPr>
          </a:p>
        </p:txBody>
      </p:sp>
      <p:sp>
        <p:nvSpPr>
          <p:cNvPr id="44" name="TextBox 44"/>
          <p:cNvSpPr txBox="1"/>
          <p:nvPr/>
        </p:nvSpPr>
        <p:spPr>
          <a:xfrm>
            <a:off x="1016000" y="1625600"/>
            <a:ext cx="5177790" cy="31369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1800" b="1" i="0">
                <a:solidFill>
                  <a:srgbClr val="88929A"/>
                </a:solidFill>
                <a:latin typeface="SansSerif"/>
              </a:rPr>
              <a:t>PROJECT CLOSURE &amp; FUTURE ROADMAP</a:t>
            </a:r>
            <a:endParaRPr lang="en-US" sz="1800" b="1" i="0">
              <a:solidFill>
                <a:srgbClr val="88929A"/>
              </a:solidFill>
              <a:latin typeface="SansSerif"/>
            </a:endParaRPr>
          </a:p>
        </p:txBody>
      </p:sp>
      <p:sp>
        <p:nvSpPr>
          <p:cNvPr id="45" name="TextBox 45"/>
          <p:cNvSpPr txBox="1"/>
          <p:nvPr/>
        </p:nvSpPr>
        <p:spPr>
          <a:xfrm>
            <a:off x="14452600" y="1181100"/>
            <a:ext cx="821690" cy="31369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1800" b="0" i="0">
                <a:solidFill>
                  <a:srgbClr val="88929A"/>
                </a:solidFill>
                <a:latin typeface="SansSerif"/>
              </a:rPr>
              <a:t>20 / 20</a:t>
            </a:r>
            <a:endParaRPr lang="en-US" sz="1800" b="0" i="0">
              <a:solidFill>
                <a:srgbClr val="88929A"/>
              </a:solidFill>
              <a:latin typeface="SansSerif"/>
            </a:endParaRPr>
          </a:p>
        </p:txBody>
      </p:sp>
      <p:sp>
        <p:nvSpPr>
          <p:cNvPr id="46" name="TextBox 46"/>
          <p:cNvSpPr txBox="1"/>
          <p:nvPr/>
        </p:nvSpPr>
        <p:spPr>
          <a:xfrm>
            <a:off x="6546850" y="3670300"/>
            <a:ext cx="652780" cy="27178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1600" b="1" i="0">
                <a:solidFill>
                  <a:srgbClr val="2E5C55"/>
                </a:solidFill>
                <a:latin typeface="SansSerif"/>
              </a:rPr>
              <a:t>100%</a:t>
            </a:r>
            <a:endParaRPr lang="en-US" sz="1600" b="1" i="0">
              <a:solidFill>
                <a:srgbClr val="2E5C55"/>
              </a:solidFill>
              <a:latin typeface="SansSerif"/>
            </a:endParaRPr>
          </a:p>
        </p:txBody>
      </p:sp>
      <p:sp>
        <p:nvSpPr>
          <p:cNvPr id="47" name="TextBox 47"/>
          <p:cNvSpPr txBox="1"/>
          <p:nvPr/>
        </p:nvSpPr>
        <p:spPr>
          <a:xfrm>
            <a:off x="6502400" y="3987800"/>
            <a:ext cx="730250" cy="18415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1000" b="1" i="0">
                <a:solidFill>
                  <a:srgbClr val="88929A"/>
                </a:solidFill>
                <a:latin typeface="SansSerif"/>
              </a:rPr>
              <a:t>ACHIEVED</a:t>
            </a:r>
            <a:endParaRPr lang="en-US" sz="1000" b="1" i="0">
              <a:solidFill>
                <a:srgbClr val="88929A"/>
              </a:solidFill>
              <a:latin typeface="SansSerif"/>
            </a:endParaRPr>
          </a:p>
        </p:txBody>
      </p:sp>
      <p:sp>
        <p:nvSpPr>
          <p:cNvPr id="48" name="TextBox 48"/>
          <p:cNvSpPr txBox="1"/>
          <p:nvPr/>
        </p:nvSpPr>
        <p:spPr>
          <a:xfrm>
            <a:off x="1524000" y="4114800"/>
            <a:ext cx="4447540" cy="47244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2800" b="1" i="0">
                <a:solidFill>
                  <a:srgbClr val="2E5C55"/>
                </a:solidFill>
                <a:latin typeface="SansSerif"/>
              </a:rPr>
              <a:t>Project Achievements</a:t>
            </a:r>
            <a:endParaRPr lang="en-US" sz="2800" b="1" i="0">
              <a:solidFill>
                <a:srgbClr val="2E5C55"/>
              </a:solidFill>
              <a:latin typeface="SansSerif"/>
            </a:endParaRPr>
          </a:p>
        </p:txBody>
      </p:sp>
      <p:sp>
        <p:nvSpPr>
          <p:cNvPr id="49" name="TextBox 49"/>
          <p:cNvSpPr txBox="1"/>
          <p:nvPr/>
        </p:nvSpPr>
        <p:spPr>
          <a:xfrm>
            <a:off x="1524000" y="4851400"/>
            <a:ext cx="4824095" cy="1141095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pPr>
              <a:spcAft>
                <a:spcPct val="0"/>
              </a:spcAft>
            </a:pPr>
            <a:r>
              <a:rPr lang="en-US" sz="1900" b="0" i="0">
                <a:solidFill>
                  <a:srgbClr val="4A5568"/>
                </a:solidFill>
                <a:latin typeface="SansSerif"/>
              </a:rPr>
              <a:t>Successfully completed full-stack targets:</a:t>
            </a:r>
            <a:endParaRPr lang="en-US" sz="1900" b="0" i="0">
              <a:solidFill>
                <a:srgbClr val="4A5568"/>
              </a:solidFill>
              <a:latin typeface="SansSerif"/>
            </a:endParaRPr>
          </a:p>
          <a:p>
            <a:pPr>
              <a:spcBef>
                <a:spcPts val="900"/>
              </a:spcBef>
              <a:spcAft>
                <a:spcPct val="0"/>
              </a:spcAft>
            </a:pPr>
            <a:r>
              <a:rPr lang="en-US" sz="1900" b="0" i="0">
                <a:solidFill>
                  <a:srgbClr val="4A5568"/>
                </a:solidFill>
                <a:latin typeface="SansSerif"/>
              </a:rPr>
              <a:t>deployment, containerization, database</a:t>
            </a:r>
            <a:endParaRPr lang="en-US" sz="1900" b="0" i="0">
              <a:solidFill>
                <a:srgbClr val="4A5568"/>
              </a:solidFill>
              <a:latin typeface="SansSerif"/>
            </a:endParaRPr>
          </a:p>
          <a:p>
            <a:pPr>
              <a:spcBef>
                <a:spcPts val="900"/>
              </a:spcBef>
              <a:spcAft>
                <a:spcPct val="0"/>
              </a:spcAft>
            </a:pPr>
            <a:r>
              <a:rPr lang="en-US" sz="1900" b="0" i="0">
                <a:solidFill>
                  <a:srgbClr val="4A5568"/>
                </a:solidFill>
                <a:latin typeface="SansSerif"/>
              </a:rPr>
              <a:t>integration, monitoring, and CI/CD.</a:t>
            </a:r>
            <a:endParaRPr lang="en-US" sz="1900" b="0" i="0">
              <a:solidFill>
                <a:srgbClr val="4A5568"/>
              </a:solidFill>
              <a:latin typeface="SansSerif"/>
            </a:endParaRPr>
          </a:p>
        </p:txBody>
      </p:sp>
      <p:sp>
        <p:nvSpPr>
          <p:cNvPr id="50" name="TextBox 50"/>
          <p:cNvSpPr txBox="1"/>
          <p:nvPr/>
        </p:nvSpPr>
        <p:spPr>
          <a:xfrm>
            <a:off x="8890000" y="4114800"/>
            <a:ext cx="3393440" cy="47244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2800" b="1" i="0">
                <a:solidFill>
                  <a:srgbClr val="2E5C55"/>
                </a:solidFill>
                <a:latin typeface="SansSerif"/>
              </a:rPr>
              <a:t>Future Roadmap</a:t>
            </a:r>
            <a:endParaRPr lang="en-US" sz="2800" b="1" i="0">
              <a:solidFill>
                <a:srgbClr val="2E5C55"/>
              </a:solidFill>
              <a:latin typeface="SansSerif"/>
            </a:endParaRPr>
          </a:p>
        </p:txBody>
      </p:sp>
      <p:sp>
        <p:nvSpPr>
          <p:cNvPr id="51" name="TextBox 51"/>
          <p:cNvSpPr txBox="1"/>
          <p:nvPr/>
        </p:nvSpPr>
        <p:spPr>
          <a:xfrm>
            <a:off x="9271000" y="4851400"/>
            <a:ext cx="4747895" cy="1344295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pPr>
              <a:spcAft>
                <a:spcPct val="0"/>
              </a:spcAft>
            </a:pPr>
            <a:r>
              <a:rPr lang="en-US" sz="1900" b="0" i="0">
                <a:solidFill>
                  <a:srgbClr val="4A5568"/>
                </a:solidFill>
                <a:latin typeface="SansSerif"/>
              </a:rPr>
              <a:t>Integrate diverse campus data sources.</a:t>
            </a:r>
            <a:endParaRPr lang="en-US" sz="1900" b="0" i="0">
              <a:solidFill>
                <a:srgbClr val="4A5568"/>
              </a:solidFill>
              <a:latin typeface="SansSerif"/>
            </a:endParaRPr>
          </a:p>
          <a:p>
            <a:pPr>
              <a:spcBef>
                <a:spcPts val="1700"/>
              </a:spcBef>
              <a:spcAft>
                <a:spcPct val="0"/>
              </a:spcAft>
            </a:pPr>
            <a:r>
              <a:rPr lang="en-US" sz="1900" b="0" i="0">
                <a:solidFill>
                  <a:srgbClr val="4A5568"/>
                </a:solidFill>
                <a:latin typeface="SansSerif"/>
              </a:rPr>
              <a:t>Refine LLM prompts for higher accuracy.</a:t>
            </a:r>
            <a:endParaRPr lang="en-US" sz="1900" b="0" i="0">
              <a:solidFill>
                <a:srgbClr val="4A5568"/>
              </a:solidFill>
              <a:latin typeface="SansSerif"/>
            </a:endParaRPr>
          </a:p>
          <a:p>
            <a:pPr>
              <a:spcBef>
                <a:spcPts val="1700"/>
              </a:spcBef>
              <a:spcAft>
                <a:spcPct val="0"/>
              </a:spcAft>
            </a:pPr>
            <a:r>
              <a:rPr lang="en-US" sz="1900" b="0" i="0">
                <a:solidFill>
                  <a:srgbClr val="4A5568"/>
                </a:solidFill>
                <a:latin typeface="SansSerif"/>
              </a:rPr>
              <a:t>Explore multi-tenancy for wider groups.</a:t>
            </a:r>
            <a:endParaRPr lang="en-US" sz="1900" b="0" i="0">
              <a:solidFill>
                <a:srgbClr val="4A5568"/>
              </a:solidFill>
              <a:latin typeface="SansSerif"/>
            </a:endParaRPr>
          </a:p>
        </p:txBody>
      </p:sp>
      <p:sp>
        <p:nvSpPr>
          <p:cNvPr id="52" name="TextBox 52"/>
          <p:cNvSpPr txBox="1"/>
          <p:nvPr/>
        </p:nvSpPr>
        <p:spPr>
          <a:xfrm>
            <a:off x="1651000" y="6921500"/>
            <a:ext cx="4963160" cy="54356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3200" b="1" i="0">
                <a:solidFill>
                  <a:srgbClr val="2E5C55"/>
                </a:solidFill>
                <a:latin typeface="SansSerif"/>
              </a:rPr>
              <a:t>Thanks for Listening!</a:t>
            </a:r>
            <a:endParaRPr lang="en-US" sz="3200" b="1" i="0">
              <a:solidFill>
                <a:srgbClr val="2E5C55"/>
              </a:solidFill>
              <a:latin typeface="SansSerif"/>
            </a:endParaRPr>
          </a:p>
        </p:txBody>
      </p:sp>
      <p:sp>
        <p:nvSpPr>
          <p:cNvPr id="53" name="TextBox 53"/>
          <p:cNvSpPr txBox="1"/>
          <p:nvPr/>
        </p:nvSpPr>
        <p:spPr>
          <a:xfrm>
            <a:off x="1651000" y="7493000"/>
            <a:ext cx="4488180" cy="27178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1600" b="1" i="0">
                <a:solidFill>
                  <a:srgbClr val="88929A"/>
                </a:solidFill>
                <a:latin typeface="SansSerif"/>
              </a:rPr>
              <a:t>QUESTIONS &amp; ANSWERS ARE WELCOME</a:t>
            </a:r>
            <a:endParaRPr lang="en-US" sz="1600" b="1" i="0">
              <a:solidFill>
                <a:srgbClr val="88929A"/>
              </a:solidFill>
              <a:latin typeface="SansSerif"/>
            </a:endParaRPr>
          </a:p>
        </p:txBody>
      </p:sp>
      <p:sp>
        <p:nvSpPr>
          <p:cNvPr id="54" name="TextBox 54"/>
          <p:cNvSpPr txBox="1"/>
          <p:nvPr/>
        </p:nvSpPr>
        <p:spPr>
          <a:xfrm>
            <a:off x="8686800" y="6972300"/>
            <a:ext cx="635000" cy="34290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2000" b="1" i="0">
                <a:solidFill>
                  <a:srgbClr val="2E5C55"/>
                </a:solidFill>
                <a:latin typeface="SansSerif"/>
              </a:rPr>
              <a:t>Bot:</a:t>
            </a:r>
            <a:endParaRPr lang="en-US" sz="2000" b="1" i="0">
              <a:solidFill>
                <a:srgbClr val="2E5C55"/>
              </a:solidFill>
              <a:latin typeface="SansSerif"/>
            </a:endParaRPr>
          </a:p>
        </p:txBody>
      </p:sp>
      <p:sp>
        <p:nvSpPr>
          <p:cNvPr id="55" name="TextBox 55"/>
          <p:cNvSpPr txBox="1"/>
          <p:nvPr/>
        </p:nvSpPr>
        <p:spPr>
          <a:xfrm>
            <a:off x="9271000" y="6972300"/>
            <a:ext cx="3340100" cy="34290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2000" b="0" i="0">
                <a:solidFill>
                  <a:srgbClr val="4A5568"/>
                </a:solidFill>
                <a:latin typeface="SansSerif"/>
              </a:rPr>
              <a:t>@comp7940_campus_bot</a:t>
            </a:r>
            <a:endParaRPr lang="en-US" sz="2000" b="0" i="0">
              <a:solidFill>
                <a:srgbClr val="4A5568"/>
              </a:solidFill>
              <a:latin typeface="SansSerif"/>
            </a:endParaRPr>
          </a:p>
        </p:txBody>
      </p:sp>
      <p:sp>
        <p:nvSpPr>
          <p:cNvPr id="56" name="TextBox 56"/>
          <p:cNvSpPr txBox="1"/>
          <p:nvPr/>
        </p:nvSpPr>
        <p:spPr>
          <a:xfrm>
            <a:off x="8686800" y="7480300"/>
            <a:ext cx="1130300" cy="34290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2000" b="1" i="0">
                <a:solidFill>
                  <a:srgbClr val="2E5C55"/>
                </a:solidFill>
                <a:latin typeface="SansSerif"/>
              </a:rPr>
              <a:t>GitHub:</a:t>
            </a:r>
            <a:endParaRPr lang="en-US" sz="2000" b="1" i="0">
              <a:solidFill>
                <a:srgbClr val="2E5C55"/>
              </a:solidFill>
              <a:latin typeface="SansSerif"/>
            </a:endParaRPr>
          </a:p>
        </p:txBody>
      </p:sp>
      <p:sp>
        <p:nvSpPr>
          <p:cNvPr id="57" name="TextBox 57"/>
          <p:cNvSpPr txBox="1"/>
          <p:nvPr/>
        </p:nvSpPr>
        <p:spPr>
          <a:xfrm>
            <a:off x="9728200" y="7480300"/>
            <a:ext cx="3886200" cy="342900"/>
          </a:xfrm>
          <a:prstGeom prst="rect">
            <a:avLst/>
          </a:prstGeom>
        </p:spPr>
        <p:txBody>
          <a:bodyPr wrap="none" lIns="0" tIns="0" rIns="0" bIns="0" rtlCol="0" anchor="t">
            <a:noAutofit/>
          </a:bodyPr>
          <a:lstStyle/>
          <a:p>
            <a:r>
              <a:rPr lang="en-US" sz="2000" b="0" i="0">
                <a:solidFill>
                  <a:srgbClr val="4A5568"/>
                </a:solidFill>
                <a:latin typeface="SansSerif"/>
              </a:rPr>
              <a:t>Aaron2540/comp7940-project</a:t>
            </a:r>
            <a:endParaRPr lang="en-US" sz="2000" b="0" i="0">
              <a:solidFill>
                <a:srgbClr val="4A5568"/>
              </a:solidFill>
              <a:latin typeface="SansSerif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6626</Words>
  <Application>WPS 演示</Application>
  <PresentationFormat>On-screen Show (4:3)</PresentationFormat>
  <Paragraphs>431</Paragraphs>
  <Slides>20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20</vt:i4>
      </vt:variant>
    </vt:vector>
  </HeadingPairs>
  <TitlesOfParts>
    <vt:vector size="30" baseType="lpstr">
      <vt:lpstr>Arial</vt:lpstr>
      <vt:lpstr>宋体</vt:lpstr>
      <vt:lpstr>Wingdings</vt:lpstr>
      <vt:lpstr>Arial</vt:lpstr>
      <vt:lpstr>SansSerif</vt:lpstr>
      <vt:lpstr>Segoe Print</vt:lpstr>
      <vt:lpstr>微软雅黑</vt:lpstr>
      <vt:lpstr>Arial Unicode MS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qzc11</cp:lastModifiedBy>
  <cp:revision>2</cp:revision>
  <dcterms:created xsi:type="dcterms:W3CDTF">2006-08-16T00:00:00Z</dcterms:created>
  <dcterms:modified xsi:type="dcterms:W3CDTF">2026-04-13T15:02:58Z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6F19E89209124234BCE717FACC7E6496_12</vt:lpwstr>
  </property>
  <property fmtid="{D5CDD505-2E9C-101B-9397-08002B2CF9AE}" pid="3" name="KSOProductBuildVer">
    <vt:lpwstr>2052-12.1.0.25225</vt:lpwstr>
  </property>
</Properties>
</file>